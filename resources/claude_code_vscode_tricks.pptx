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76" r:id="rId4"/>
    <p:sldId id="275" r:id="rId5"/>
    <p:sldId id="258" r:id="rId6"/>
    <p:sldId id="259" r:id="rId7"/>
    <p:sldId id="260" r:id="rId8"/>
    <p:sldId id="277" r:id="rId9"/>
    <p:sldId id="261" r:id="rId10"/>
    <p:sldId id="262" r:id="rId11"/>
    <p:sldId id="263" r:id="rId12"/>
    <p:sldId id="264" r:id="rId13"/>
    <p:sldId id="265" r:id="rId14"/>
    <p:sldId id="266" r:id="rId15"/>
    <p:sldId id="280" r:id="rId16"/>
    <p:sldId id="281" r:id="rId17"/>
    <p:sldId id="282" r:id="rId18"/>
    <p:sldId id="283" r:id="rId19"/>
    <p:sldId id="290" r:id="rId20"/>
    <p:sldId id="284" r:id="rId21"/>
    <p:sldId id="285" r:id="rId22"/>
    <p:sldId id="286" r:id="rId23"/>
    <p:sldId id="287" r:id="rId24"/>
    <p:sldId id="288" r:id="rId25"/>
    <p:sldId id="289" r:id="rId26"/>
    <p:sldId id="279" r:id="rId27"/>
    <p:sldId id="269" r:id="rId28"/>
    <p:sldId id="270" r:id="rId29"/>
    <p:sldId id="271" r:id="rId30"/>
    <p:sldId id="272" r:id="rId31"/>
    <p:sldId id="273" r:id="rId32"/>
    <p:sldId id="274"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7" d="100"/>
          <a:sy n="107" d="100"/>
        </p:scale>
        <p:origin x="225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2541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This is a hands-on tour of how I actually work with Claude Code inside VS Code. No theory: every slide is something you can try today. The focus is coding, but almost every trick also works for reports, research, spreadsheets and other non-coding work, and I will point that out along the way.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talk has four parts. First how to start. Then the files that configure Claude. Then orchestrate: the process I follow in every session, a Ralph-loop-like cycle driven by a plan and a progress file. This is the most important part. Finally amplify: the commands, flags and connections that extend what Claude can do. The focus is code, but each block also works for non-coding work.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 1: how to start. First the tools Claude uses, then the two ways to run it, and how to open your first project.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Everything Claude does goes through tools. Read, Grep and Glob look at your project. Edit and Write change files. Bash runs commands such as tests and git. AskUserQuestion is how it asks you to pick between options. Agent delegates to a sub-agent. You see each tool call in the chat, and permission settings control which ones ask first.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extension gives you a chat panel inside VS Code with diffs you can click through. The CLI is the same engine in a terminal, with more flags and automation. Slash commands work in both. My split: extension for everyday chat, CLI for flags, agents, worktrees and scripting.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works inside the folder you open, so always start with File, Open Folder. Then open the Claude Code panel from the side menu and describe a task. Edits show up as diffs you approve.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use the terminal built into VS Code (Ctrl+backtick) or any external terminal. cd into the project, type claude. That's it. Everything else in this talk works the same.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 2: configuration. The files and folders that make Claude work your way.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that customizes Claude lives in a .claude folder. The project one is shared through git. The one in your home directory applies to all your projects. You rarely write these files by hand: ask Claude to create or edit them.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CLAUDE.md is read at the start of every session, so Claude never starts from zero. I don't write mine by hand: I ask Claude to draft it (the /init command does this), then I refine it. Keep it short and concrete. It works for non-coding folders too: describe the audience, the tone, the templates and the terms to use or avoid.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mental model. Skills are playbooks for things you repeat. Rules are small isolated instructions. Hooks are mandatory: they run automatically, Claude cannot forget them. Agents are separate workers with their own context.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skills I use across projects. Every one was produced by asking Claude, and I often ask it to tweak them when I notice something I'd change. Skills live in ~/.claude/skills/.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is a markdown file: frontmatter with name, description, tools and model, then instructions. Claude can delegate to it automatically, or you call it with @agent-name. Built-in agents like Explore and Plan already exist. You can also run an entire session as an agent with claude --agent.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Hooks are configured in settings.json and run a command on an event, for example when Claude stops and waits for you. I use one to get a push notification so I can leave a long task running. You can ask Claude to set it up for you.</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 3, the most important one: orchestrate. This is the process I follow in every session, and it is a Ralph-loop-like cycle. Ralph loop is a popular idea: keep running the AI in a loop until the job is really done. Mine has six steps: add docs and data, talk the problem through, write a detailed numbered plan, keep a progress.md, iterate, then either say next phase or let it run several phases at once.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Ralph loop is a simple idea: instead of one big prompt, run the AI in a loop until the work is done. Every pass starts clean and re-reads its instructions and state from files, so nothing depends on the chat memory. Mine adds structure: a written plan, exit gates that must pass, and a progress.md that records the state. There is even a /ralph-loop plugin that automates it, but I mostly run the same cycle by hand, phase by phase. It works for any job with a checkable result, not only code.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Why does the loop run almost by itself? Because my global CLAUDE.md already contains the rules. It is loaded in every session, so Claude knows that big work needs a plan in the plans folder, numbered and never rewritten, split in phases with a test plan and exit gates, and that progress.md must be kept current with status, evidence, decisions and known issues. The working-style rules close the loop: test on a small sample, report honestly, ask only when blocked, never commit unless asked, and send a push notification when done. That is why I only have to say next phase. A project CLAUDE.md can override these rules where needed.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Every job starts the same way, in two moves. First I put the material in folders: documents in docs/, data files in data/. It can be a client brief and a spreadsheet, not only code. Then I talk: I describe the problem, we brainstorm, and I ask Claude to question me until every doubt is solved. Only then does a plan get written. The decisions end up on paper instead of in my head.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Step three: a detailed plan, written to the plans folder. Files are numbered and named in creation order, so 001, 002, 003. One file per effort, and I never rewrite an old plan for new work. Each plan is split in phases, and every phase has a test plan and an exit gate. On the right is a small example. Notice that phase two is not code at all: it is a Word report, with a checkable gate.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heart of the process. progress.md is a plain file Claude keeps up to date after every phase: the status, what is done, what is in progress, what is next, the result of each exit gate as evidence, the decisions taken and the known issues. Because it lives on disk, I can clear the chat, close the laptop or start a new session, and Claude simply re-reads it and continues. I read it in thirty seconds to decide what comes next. Known issues and failed gates become the to-do list of the next pass, which is what makes the loop self-correcting.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Here is one pass of the loop. Claude reads the plan and progress.md, does only the next step, and runs the exit gate. If the gate fails, it reads the error, fixes it, writes the issue down and runs the gate again. That is the self-healing: Claude finds and fixes its own mistakes inside the loop, before I ever look. When the gate passes, it writes the evidence in progress.md and moves to the next phase.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loop is only as good as its checks. An exit gate is a short test that is either pass or fail. For code that is pytest, ruff, mypy and a debug-mode run on a small sample. For everything else, it is anything you can check: a Word document has the Client field and the date filled in, every slide has notes, spreadsheet totals match the source, no placeholder text is left. You can even ask Claude to write the check script itself. The payoff: mistakes are caught early, fixed in the loop, and the proof sits in progress.md.</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Two ways to run the loop. Careful mode: Claude does one phase, I read the evidence in progress.md and type next phase. I use it for new or risky work. Autopilot: I ask for all the phases at once and tell it when to stop, for example if a gate fails twice or it needs a decision. You can use /goal, the /ralph-loop plugin, or claude -p inside a script. I add the notify hook so my phone pings when it is done. Start careful, and move to autopilot once the plan and gates earn your trust.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These are the habits that make the loop work for me. Numbered plans that I never rewrite, a progress.md updated every phase, and Claude asking me only when it is truly blocked. I test on a small sample before big or paid runs, clear the chat between phases because progress.md holds the memory, and get a push notification when a long run ends. A skill scaffolds the plans folder for me, and nothing is committed unless I ask.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 4: amplify. The daily toolbox: chat commands, CLI flags, MCP connections (including non-coding ones like Google Drive and Gmail) and built-in review commands.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Claude's context window fills up, and quality drops when it is cluttered. These chat commands keep it tidy. /context shows what is using space. /clear starts fresh between tasks. /rewind undoes a wrong turn. /btw asks a side question without polluting the context.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CLI flags I use most. -c continues the last conversation. --resume lets you pick one. --fork-session branches off instead of continuing. -p runs one prompt non-interactively, great for scripts. --agent runs as a specific agent. --worktree gives Claude an isolated copy of the repo for parallel work.</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MCP servers give Claude new tools. For code that is GitHub, docs or databases. But it also works for everyday work: Google Drive, Gmail, Calendar, Slack, Notion. You don't have to learn the commands: just ask Claude to install the MCP and then use it in the same chat. Only add servers you trust, because they can act on your behalf. The two commands at the bottom are what Claude runs for you.</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built-in commands cover the quality loop. /run launches the app to prove a change works. /code-review looks for bugs. ultra is a deeper cloud review that you trigger yourself and is billed. /security-review checks the branch for vulnerabilities. /simplify cleans up code. /install-github-app lets Claude work on your GitHub PRs.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/remote-control lets you continue a running session from another device, like your phone, so you can leave a long task and check on it. /powerup is built-in interactive lessons that teach you features you haven't tried yet.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only remember eight things: start from a folder and a CLAUDE.md, run the Ralph loop with a plan and progress.md, verify with exit gates, keep the context clean, let Claude write its own config, review with the built-in commands, and extend and parallelize with MCP and worktrees. Thanks, and happy to demo any of it.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B1F3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rtlCol="0"/>
          <a:lstStyle>
            <a:lvl1pPr marL="0" indent="0" algn="l">
              <a:buNone/>
              <a:defRPr lang="en-US" sz="3000" b="1" dirty="0">
                <a:solidFill>
                  <a:srgbClr val="F2F6FC"/>
                </a:solidFill>
                <a:latin typeface="Calibri" pitchFamily="34" charset="0"/>
                <a:ea typeface="Calibri" pitchFamily="34" charset="-122"/>
                <a:cs typeface="Calibri"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0B1F3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920240"/>
            <a:ext cx="10515600" cy="1005840"/>
          </a:xfrm>
          <a:prstGeom prst="rect">
            <a:avLst/>
          </a:prstGeom>
          <a:noFill/>
          <a:ln/>
        </p:spPr>
        <p:txBody>
          <a:bodyPr wrap="square" lIns="0" tIns="0" rIns="0" bIns="0" rtlCol="0" anchor="ctr"/>
          <a:lstStyle/>
          <a:p>
            <a:pPr marL="0" indent="0">
              <a:buNone/>
            </a:pPr>
            <a:r>
              <a:rPr lang="en-US" sz="5400" b="1" dirty="0">
                <a:solidFill>
                  <a:srgbClr val="F2F6FC"/>
                </a:solidFill>
                <a:latin typeface="Calibri" pitchFamily="34" charset="0"/>
                <a:ea typeface="Calibri" pitchFamily="34" charset="-122"/>
                <a:cs typeface="Calibri" pitchFamily="34" charset="-120"/>
              </a:rPr>
              <a:t>Claude Code in VS Code</a:t>
            </a:r>
            <a:endParaRPr lang="en-US" sz="5400" dirty="0"/>
          </a:p>
        </p:txBody>
      </p:sp>
      <p:sp>
        <p:nvSpPr>
          <p:cNvPr id="3" name="Text 1"/>
          <p:cNvSpPr txBox="1"/>
          <p:nvPr/>
        </p:nvSpPr>
        <p:spPr>
          <a:xfrm>
            <a:off x="822960" y="2926080"/>
            <a:ext cx="10515600" cy="731520"/>
          </a:xfrm>
          <a:prstGeom prst="rect">
            <a:avLst/>
          </a:prstGeom>
          <a:noFill/>
          <a:ln/>
        </p:spPr>
        <p:txBody>
          <a:bodyPr wrap="square" lIns="0" tIns="0" rIns="0" bIns="0" rtlCol="0" anchor="ctr"/>
          <a:lstStyle/>
          <a:p>
            <a:pPr marL="0" indent="0">
              <a:buNone/>
            </a:pPr>
            <a:r>
              <a:rPr lang="en-US" sz="3600" dirty="0">
                <a:solidFill>
                  <a:srgbClr val="38BDF8"/>
                </a:solidFill>
                <a:latin typeface="Calibri" pitchFamily="34" charset="0"/>
                <a:ea typeface="Calibri" pitchFamily="34" charset="-122"/>
                <a:cs typeface="Calibri" pitchFamily="34" charset="-120"/>
              </a:rPr>
              <a:t>The tricks I use every day</a:t>
            </a:r>
            <a:endParaRPr lang="en-US" sz="3600" dirty="0"/>
          </a:p>
        </p:txBody>
      </p:sp>
      <p:sp>
        <p:nvSpPr>
          <p:cNvPr id="4" name="Text 2"/>
          <p:cNvSpPr txBox="1"/>
          <p:nvPr/>
        </p:nvSpPr>
        <p:spPr>
          <a:xfrm>
            <a:off x="822960" y="3931920"/>
            <a:ext cx="10515600" cy="457200"/>
          </a:xfrm>
          <a:prstGeom prst="rect">
            <a:avLst/>
          </a:prstGeom>
          <a:noFill/>
          <a:ln/>
        </p:spPr>
        <p:txBody>
          <a:bodyPr wrap="square" lIns="0" tIns="0" rIns="0" bIns="0" rtlCol="0" anchor="ctr"/>
          <a:lstStyle/>
          <a:p>
            <a:pPr marL="0" indent="0">
              <a:buNone/>
            </a:pPr>
            <a:r>
              <a:rPr lang="en-US" sz="2000" dirty="0">
                <a:solidFill>
                  <a:srgbClr val="A9BCD6"/>
                </a:solidFill>
                <a:latin typeface="Calibri" pitchFamily="34" charset="0"/>
                <a:ea typeface="Calibri" pitchFamily="34" charset="-122"/>
                <a:cs typeface="Calibri" pitchFamily="34" charset="-120"/>
              </a:rPr>
              <a:t>A practical tour for friends: start, configure, orchestrate, amplify. Code first, with non-coding examples too</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Four blocks: </a:t>
            </a:r>
            <a:r>
              <a:rPr lang="en-US" sz="3000" b="1" dirty="0">
                <a:solidFill>
                  <a:srgbClr val="FF8A2B"/>
                </a:solidFill>
                <a:latin typeface="Calibri" pitchFamily="34" charset="0"/>
                <a:ea typeface="Calibri" pitchFamily="34" charset="-122"/>
                <a:cs typeface="Calibri" pitchFamily="34" charset="-120"/>
              </a:rPr>
              <a:t>start, configure, orchestrate, then amplify</a:t>
            </a:r>
            <a:endParaRPr lang="en-US" sz="3000" dirty="0">
              <a:solidFill>
                <a:schemeClr val="accent2"/>
              </a:solidFill>
            </a:endParaRPr>
          </a:p>
        </p:txBody>
      </p:sp>
      <p:sp>
        <p:nvSpPr>
          <p:cNvPr id="3" name="Shape 1"/>
          <p:cNvSpPr/>
          <p:nvPr/>
        </p:nvSpPr>
        <p:spPr>
          <a:xfrm>
            <a:off x="548640" y="1828800"/>
            <a:ext cx="2567178" cy="301752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777240" y="2395728"/>
            <a:ext cx="210997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Start</a:t>
            </a:r>
            <a:endParaRPr lang="en-US" sz="2600" dirty="0"/>
          </a:p>
        </p:txBody>
      </p:sp>
      <p:sp>
        <p:nvSpPr>
          <p:cNvPr id="6" name="Text 4"/>
          <p:cNvSpPr txBox="1"/>
          <p:nvPr/>
        </p:nvSpPr>
        <p:spPr>
          <a:xfrm>
            <a:off x="777240" y="2898648"/>
            <a:ext cx="2109978" cy="1737360"/>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Claude's tools, extension vs CLI, opening a project</a:t>
            </a:r>
            <a:endParaRPr lang="en-US" sz="1800" dirty="0"/>
          </a:p>
        </p:txBody>
      </p:sp>
      <p:sp>
        <p:nvSpPr>
          <p:cNvPr id="7" name="Shape 5"/>
          <p:cNvSpPr/>
          <p:nvPr/>
        </p:nvSpPr>
        <p:spPr>
          <a:xfrm>
            <a:off x="3390138" y="1828800"/>
            <a:ext cx="2567178" cy="301752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8" name="Text 6"/>
          <p:cNvSpPr txBox="1"/>
          <p:nvPr/>
        </p:nvSpPr>
        <p:spPr>
          <a:xfrm>
            <a:off x="3618738"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3618738" y="2395728"/>
            <a:ext cx="210997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Configure</a:t>
            </a:r>
            <a:endParaRPr lang="en-US" sz="2600" dirty="0"/>
          </a:p>
        </p:txBody>
      </p:sp>
      <p:sp>
        <p:nvSpPr>
          <p:cNvPr id="10" name="Text 8"/>
          <p:cNvSpPr txBox="1"/>
          <p:nvPr/>
        </p:nvSpPr>
        <p:spPr>
          <a:xfrm>
            <a:off x="3618738" y="2898648"/>
            <a:ext cx="2109978" cy="1737360"/>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.claude/ folder, CLAUDE.md, skills, agents, hooks</a:t>
            </a:r>
            <a:endParaRPr lang="en-US" sz="1800" dirty="0"/>
          </a:p>
        </p:txBody>
      </p:sp>
      <p:sp>
        <p:nvSpPr>
          <p:cNvPr id="11" name="Shape 9"/>
          <p:cNvSpPr/>
          <p:nvPr/>
        </p:nvSpPr>
        <p:spPr>
          <a:xfrm>
            <a:off x="6231636" y="1828800"/>
            <a:ext cx="2567178" cy="301752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2" name="Text 10"/>
          <p:cNvSpPr txBox="1"/>
          <p:nvPr/>
        </p:nvSpPr>
        <p:spPr>
          <a:xfrm>
            <a:off x="6460236"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6460236" y="2395728"/>
            <a:ext cx="210997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Orchestrate</a:t>
            </a:r>
            <a:endParaRPr lang="en-US" sz="2600" dirty="0"/>
          </a:p>
        </p:txBody>
      </p:sp>
      <p:sp>
        <p:nvSpPr>
          <p:cNvPr id="14" name="Text 12"/>
          <p:cNvSpPr txBox="1"/>
          <p:nvPr/>
        </p:nvSpPr>
        <p:spPr>
          <a:xfrm>
            <a:off x="6460236" y="2898648"/>
            <a:ext cx="2109978" cy="1737360"/>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The Ralph loop: docs, initialize, plans, progress.md, verify</a:t>
            </a:r>
            <a:endParaRPr lang="en-US" sz="1800" dirty="0"/>
          </a:p>
        </p:txBody>
      </p:sp>
      <p:sp>
        <p:nvSpPr>
          <p:cNvPr id="15" name="Shape 13"/>
          <p:cNvSpPr/>
          <p:nvPr/>
        </p:nvSpPr>
        <p:spPr>
          <a:xfrm>
            <a:off x="9073134" y="1828800"/>
            <a:ext cx="2567178" cy="301752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6" name="Text 14"/>
          <p:cNvSpPr txBox="1"/>
          <p:nvPr/>
        </p:nvSpPr>
        <p:spPr>
          <a:xfrm>
            <a:off x="9301734"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9301734" y="2395728"/>
            <a:ext cx="210997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Amplify</a:t>
            </a:r>
            <a:endParaRPr lang="en-US" sz="2600" dirty="0"/>
          </a:p>
        </p:txBody>
      </p:sp>
      <p:sp>
        <p:nvSpPr>
          <p:cNvPr id="18" name="Text 16"/>
          <p:cNvSpPr txBox="1"/>
          <p:nvPr/>
        </p:nvSpPr>
        <p:spPr>
          <a:xfrm>
            <a:off x="9301734" y="2898648"/>
            <a:ext cx="2109978" cy="1737360"/>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Context, flags, MCP (Drive, Gmail), review, remote</a:t>
            </a:r>
            <a:endParaRPr lang="en-US" sz="1800" dirty="0"/>
          </a:p>
        </p:txBody>
      </p:sp>
      <p:sp>
        <p:nvSpPr>
          <p:cNvPr id="19" name="Text 17"/>
          <p:cNvSpPr txBox="1"/>
          <p:nvPr/>
        </p:nvSpPr>
        <p:spPr>
          <a:xfrm>
            <a:off x="548640" y="493776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3-7</a:t>
            </a:r>
            <a:endParaRPr lang="en-US" sz="1400" dirty="0"/>
          </a:p>
        </p:txBody>
      </p:sp>
      <p:sp>
        <p:nvSpPr>
          <p:cNvPr id="20" name="Text 18"/>
          <p:cNvSpPr txBox="1"/>
          <p:nvPr/>
        </p:nvSpPr>
        <p:spPr>
          <a:xfrm>
            <a:off x="3390138" y="493776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8-14</a:t>
            </a:r>
            <a:endParaRPr lang="en-US" sz="1400" dirty="0"/>
          </a:p>
        </p:txBody>
      </p:sp>
      <p:sp>
        <p:nvSpPr>
          <p:cNvPr id="21" name="Text 19"/>
          <p:cNvSpPr txBox="1"/>
          <p:nvPr/>
        </p:nvSpPr>
        <p:spPr>
          <a:xfrm>
            <a:off x="6231636" y="493776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15-25</a:t>
            </a:r>
            <a:endParaRPr lang="en-US" sz="1400" dirty="0"/>
          </a:p>
        </p:txBody>
      </p:sp>
      <p:sp>
        <p:nvSpPr>
          <p:cNvPr id="22" name="Text 20"/>
          <p:cNvSpPr txBox="1"/>
          <p:nvPr/>
        </p:nvSpPr>
        <p:spPr>
          <a:xfrm>
            <a:off x="9073134" y="493776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26-32</a:t>
            </a:r>
            <a:endParaRPr lang="en-US" sz="1400" dirty="0"/>
          </a:p>
        </p:txBody>
      </p:sp>
      <p:sp>
        <p:nvSpPr>
          <p:cNvPr id="2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a:t>
            </a:fld>
            <a:endParaRPr lang="en-US"/>
          </a:p>
        </p:txBody>
      </p:sp>
      <p:sp>
        <p:nvSpPr>
          <p:cNvPr id="24" name="Rounded Rectangle 25"/>
          <p:cNvSpPr/>
          <p:nvPr/>
        </p:nvSpPr>
        <p:spPr>
          <a:xfrm>
            <a:off x="548640" y="5486400"/>
            <a:ext cx="11091672" cy="731520"/>
          </a:xfrm>
          <a:prstGeom prst="roundRect">
            <a:avLst>
              <a:gd name="adj" fmla="val 18749"/>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6"/>
          <p:cNvSpPr txBox="1"/>
          <p:nvPr/>
        </p:nvSpPr>
        <p:spPr>
          <a:xfrm>
            <a:off x="822960" y="5486400"/>
            <a:ext cx="10607040" cy="731520"/>
          </a:xfrm>
          <a:prstGeom prst="rect">
            <a:avLst/>
          </a:prstGeom>
          <a:noFill/>
        </p:spPr>
        <p:txBody>
          <a:bodyPr wrap="square" lIns="0" tIns="0" rIns="0" bIns="0" anchor="ctr">
            <a:spAutoFit/>
          </a:bodyPr>
          <a:lstStyle/>
          <a:p>
            <a:pPr marL="0" indent="0">
              <a:buNone/>
            </a:pPr>
            <a:r>
              <a:rPr sz="1800" b="1" i="0">
                <a:solidFill>
                  <a:srgbClr val="38BDF8"/>
                </a:solidFill>
                <a:latin typeface="Calibri"/>
              </a:rPr>
              <a:t>Code first, but every block also works beyond code: </a:t>
            </a:r>
            <a:r>
              <a:rPr sz="1800" b="0" i="0">
                <a:solidFill>
                  <a:srgbClr val="F2F6FC"/>
                </a:solidFill>
                <a:latin typeface="Calibri"/>
              </a:rPr>
              <a:t>reports, research, spreadsheets, Word files, email,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822960" y="2697480"/>
            <a:ext cx="1371600" cy="137160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97480"/>
            <a:ext cx="1371600" cy="1371600"/>
          </a:xfrm>
          <a:prstGeom prst="rect">
            <a:avLst/>
          </a:prstGeom>
          <a:noFill/>
        </p:spPr>
        <p:txBody>
          <a:bodyPr wrap="square" lIns="0" tIns="0" rIns="0" bIns="0" anchor="ctr">
            <a:spAutoFit/>
          </a:bodyPr>
          <a:lstStyle/>
          <a:p>
            <a:pPr algn="ctr"/>
            <a:r>
              <a:rPr sz="6000" b="1">
                <a:solidFill>
                  <a:srgbClr val="0B1F3A"/>
                </a:solidFill>
                <a:latin typeface="Calibri"/>
              </a:rPr>
              <a:t>1</a:t>
            </a:r>
          </a:p>
        </p:txBody>
      </p:sp>
      <p:sp>
        <p:nvSpPr>
          <p:cNvPr id="4" name="TextBox 3"/>
          <p:cNvSpPr txBox="1"/>
          <p:nvPr/>
        </p:nvSpPr>
        <p:spPr>
          <a:xfrm>
            <a:off x="2651760" y="2606040"/>
            <a:ext cx="5486400" cy="914400"/>
          </a:xfrm>
          <a:prstGeom prst="rect">
            <a:avLst/>
          </a:prstGeom>
          <a:noFill/>
        </p:spPr>
        <p:txBody>
          <a:bodyPr wrap="square" lIns="0" tIns="0" rIns="0" bIns="0" anchor="ctr">
            <a:spAutoFit/>
          </a:bodyPr>
          <a:lstStyle/>
          <a:p>
            <a:pPr algn="l"/>
            <a:r>
              <a:rPr sz="5400" b="1">
                <a:solidFill>
                  <a:srgbClr val="F2F6FC"/>
                </a:solidFill>
                <a:latin typeface="Calibri"/>
              </a:rPr>
              <a:t>Start</a:t>
            </a:r>
          </a:p>
        </p:txBody>
      </p:sp>
      <p:sp>
        <p:nvSpPr>
          <p:cNvPr id="5" name="TextBox 4"/>
          <p:cNvSpPr txBox="1"/>
          <p:nvPr/>
        </p:nvSpPr>
        <p:spPr>
          <a:xfrm>
            <a:off x="2651760" y="3611880"/>
            <a:ext cx="5486400" cy="822960"/>
          </a:xfrm>
          <a:prstGeom prst="rect">
            <a:avLst/>
          </a:prstGeom>
          <a:noFill/>
        </p:spPr>
        <p:txBody>
          <a:bodyPr wrap="square" lIns="0" tIns="0" rIns="0" bIns="0" anchor="t">
            <a:spAutoFit/>
          </a:bodyPr>
          <a:lstStyle/>
          <a:p>
            <a:pPr algn="l"/>
            <a:r>
              <a:rPr sz="2200" b="0">
                <a:solidFill>
                  <a:srgbClr val="A9BCD6"/>
                </a:solidFill>
                <a:latin typeface="Calibri"/>
              </a:rPr>
              <a:t>Tools, VS Code vs CLI, first run</a:t>
            </a:r>
          </a:p>
        </p:txBody>
      </p:sp>
      <p:sp>
        <p:nvSpPr>
          <p:cNvPr id="6" name="Rounded Rectangle 5"/>
          <p:cNvSpPr/>
          <p:nvPr/>
        </p:nvSpPr>
        <p:spPr>
          <a:xfrm>
            <a:off x="8412480" y="1737360"/>
            <a:ext cx="3246120" cy="3383280"/>
          </a:xfrm>
          <a:prstGeom prst="roundRect">
            <a:avLst>
              <a:gd name="adj" fmla="val 6000"/>
            </a:avLst>
          </a:prstGeom>
          <a:solidFill>
            <a:srgbClr val="1230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0" y="1965960"/>
            <a:ext cx="2743200" cy="365760"/>
          </a:xfrm>
          <a:prstGeom prst="rect">
            <a:avLst/>
          </a:prstGeom>
          <a:noFill/>
        </p:spPr>
        <p:txBody>
          <a:bodyPr wrap="square" lIns="0" tIns="0" rIns="0" bIns="0" anchor="t">
            <a:spAutoFit/>
          </a:bodyPr>
          <a:lstStyle/>
          <a:p>
            <a:pPr algn="l"/>
            <a:r>
              <a:rPr sz="1600" b="1">
                <a:solidFill>
                  <a:srgbClr val="38BDF8"/>
                </a:solidFill>
                <a:latin typeface="Calibri"/>
              </a:rPr>
              <a:t>In this section</a:t>
            </a:r>
          </a:p>
        </p:txBody>
      </p:sp>
      <p:sp>
        <p:nvSpPr>
          <p:cNvPr id="8" name="TextBox 7"/>
          <p:cNvSpPr txBox="1"/>
          <p:nvPr/>
        </p:nvSpPr>
        <p:spPr>
          <a:xfrm>
            <a:off x="8686800" y="2423160"/>
            <a:ext cx="2743200" cy="2560320"/>
          </a:xfrm>
          <a:prstGeom prst="rect">
            <a:avLst/>
          </a:prstGeom>
          <a:noFill/>
        </p:spPr>
        <p:txBody>
          <a:bodyPr wrap="square" lIns="0" tIns="0" rIns="0" bIns="0" anchor="t">
            <a:spAutoFit/>
          </a:bodyPr>
          <a:lstStyle/>
          <a:p>
            <a:pPr algn="l"/>
            <a:r>
              <a:rPr sz="1800" b="0">
                <a:solidFill>
                  <a:srgbClr val="F2F6FC"/>
                </a:solidFill>
                <a:latin typeface="Calibri"/>
              </a:rPr>
              <a:t>What Claude can do</a:t>
            </a:r>
          </a:p>
          <a:p>
            <a:pPr>
              <a:spcBef>
                <a:spcPts val="800"/>
              </a:spcBef>
            </a:pPr>
            <a:r>
              <a:rPr sz="1800">
                <a:solidFill>
                  <a:srgbClr val="F2F6FC"/>
                </a:solidFill>
                <a:latin typeface="Calibri"/>
              </a:rPr>
              <a:t>Extension vs CLI</a:t>
            </a:r>
          </a:p>
          <a:p>
            <a:pPr>
              <a:spcBef>
                <a:spcPts val="800"/>
              </a:spcBef>
            </a:pPr>
            <a:r>
              <a:rPr sz="1800">
                <a:solidFill>
                  <a:srgbClr val="F2F6FC"/>
                </a:solidFill>
                <a:latin typeface="Calibri"/>
              </a:rPr>
              <a:t>Open a folder</a:t>
            </a:r>
          </a:p>
          <a:p>
            <a:pPr>
              <a:spcBef>
                <a:spcPts val="800"/>
              </a:spcBef>
            </a:pPr>
            <a:r>
              <a:rPr sz="1800">
                <a:solidFill>
                  <a:srgbClr val="F2F6FC"/>
                </a:solidFill>
                <a:latin typeface="Calibri"/>
              </a:rPr>
              <a:t>Start the CLI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p:txBody>
          <a:bodyPr/>
          <a:lstStyle/>
          <a:p>
            <a:r>
              <a:rPr>
                <a:solidFill>
                  <a:schemeClr val="accent2"/>
                </a:solidFill>
              </a:rPr>
              <a:t>Claude works through tools</a:t>
            </a:r>
            <a:r>
              <a:t>: read, search, edit, run</a:t>
            </a:r>
          </a:p>
        </p:txBody>
      </p:sp>
      <p:sp>
        <p:nvSpPr>
          <p:cNvPr id="3" name="Shape 1"/>
          <p:cNvSpPr/>
          <p:nvPr/>
        </p:nvSpPr>
        <p:spPr>
          <a:xfrm>
            <a:off x="548640"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Read</a:t>
            </a:r>
            <a:endParaRPr lang="en-US" sz="2400" dirty="0"/>
          </a:p>
        </p:txBody>
      </p:sp>
      <p:sp>
        <p:nvSpPr>
          <p:cNvPr id="5" name="Text 3"/>
          <p:cNvSpPr txBox="1"/>
          <p:nvPr/>
        </p:nvSpPr>
        <p:spPr>
          <a:xfrm>
            <a:off x="777240"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Opens files: code, images, PDFs, Word, Excel</a:t>
            </a:r>
            <a:endParaRPr lang="en-US" sz="1600" dirty="0"/>
          </a:p>
        </p:txBody>
      </p:sp>
      <p:sp>
        <p:nvSpPr>
          <p:cNvPr id="6" name="Shape 1"/>
          <p:cNvSpPr/>
          <p:nvPr/>
        </p:nvSpPr>
        <p:spPr>
          <a:xfrm>
            <a:off x="3392424"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7" name="Text 2"/>
          <p:cNvSpPr txBox="1"/>
          <p:nvPr/>
        </p:nvSpPr>
        <p:spPr>
          <a:xfrm>
            <a:off x="3621024"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Grep</a:t>
            </a:r>
            <a:endParaRPr lang="en-US" sz="2400" dirty="0"/>
          </a:p>
        </p:txBody>
      </p:sp>
      <p:sp>
        <p:nvSpPr>
          <p:cNvPr id="8" name="Text 3"/>
          <p:cNvSpPr txBox="1"/>
          <p:nvPr/>
        </p:nvSpPr>
        <p:spPr>
          <a:xfrm>
            <a:off x="3621024"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Searches inside files for text or patterns</a:t>
            </a:r>
            <a:endParaRPr lang="en-US" sz="1600" dirty="0"/>
          </a:p>
        </p:txBody>
      </p:sp>
      <p:sp>
        <p:nvSpPr>
          <p:cNvPr id="9" name="Shape 1"/>
          <p:cNvSpPr/>
          <p:nvPr/>
        </p:nvSpPr>
        <p:spPr>
          <a:xfrm>
            <a:off x="6236207"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0" name="Text 2"/>
          <p:cNvSpPr txBox="1"/>
          <p:nvPr/>
        </p:nvSpPr>
        <p:spPr>
          <a:xfrm>
            <a:off x="6464807"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Glob</a:t>
            </a:r>
            <a:endParaRPr lang="en-US" sz="2400" dirty="0"/>
          </a:p>
        </p:txBody>
      </p:sp>
      <p:sp>
        <p:nvSpPr>
          <p:cNvPr id="11" name="Text 3"/>
          <p:cNvSpPr txBox="1"/>
          <p:nvPr/>
        </p:nvSpPr>
        <p:spPr>
          <a:xfrm>
            <a:off x="6464807"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Finds files by name pattern</a:t>
            </a:r>
            <a:endParaRPr lang="en-US" sz="1600" dirty="0"/>
          </a:p>
        </p:txBody>
      </p:sp>
      <p:sp>
        <p:nvSpPr>
          <p:cNvPr id="12" name="Shape 1"/>
          <p:cNvSpPr/>
          <p:nvPr/>
        </p:nvSpPr>
        <p:spPr>
          <a:xfrm>
            <a:off x="9079992"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3" name="Text 2"/>
          <p:cNvSpPr txBox="1"/>
          <p:nvPr/>
        </p:nvSpPr>
        <p:spPr>
          <a:xfrm>
            <a:off x="9308592"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Edit</a:t>
            </a:r>
            <a:endParaRPr lang="en-US" sz="2400" dirty="0"/>
          </a:p>
        </p:txBody>
      </p:sp>
      <p:sp>
        <p:nvSpPr>
          <p:cNvPr id="14" name="Text 3"/>
          <p:cNvSpPr txBox="1"/>
          <p:nvPr/>
        </p:nvSpPr>
        <p:spPr>
          <a:xfrm>
            <a:off x="9308592"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Changes an exact piece of an existing file</a:t>
            </a:r>
            <a:endParaRPr lang="en-US" sz="1600" dirty="0"/>
          </a:p>
        </p:txBody>
      </p:sp>
      <p:sp>
        <p:nvSpPr>
          <p:cNvPr id="15" name="Shape 1"/>
          <p:cNvSpPr/>
          <p:nvPr/>
        </p:nvSpPr>
        <p:spPr>
          <a:xfrm>
            <a:off x="548640"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6" name="Text 2"/>
          <p:cNvSpPr txBox="1"/>
          <p:nvPr/>
        </p:nvSpPr>
        <p:spPr>
          <a:xfrm>
            <a:off x="777240"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Write</a:t>
            </a:r>
            <a:endParaRPr lang="en-US" sz="2400" dirty="0"/>
          </a:p>
        </p:txBody>
      </p:sp>
      <p:sp>
        <p:nvSpPr>
          <p:cNvPr id="17" name="Text 3"/>
          <p:cNvSpPr txBox="1"/>
          <p:nvPr/>
        </p:nvSpPr>
        <p:spPr>
          <a:xfrm>
            <a:off x="777240"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Creates or fully replaces a file: code, report, doc</a:t>
            </a:r>
            <a:endParaRPr lang="en-US" sz="1600" dirty="0"/>
          </a:p>
        </p:txBody>
      </p:sp>
      <p:sp>
        <p:nvSpPr>
          <p:cNvPr id="18" name="Shape 1"/>
          <p:cNvSpPr/>
          <p:nvPr/>
        </p:nvSpPr>
        <p:spPr>
          <a:xfrm>
            <a:off x="3392424"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9" name="Text 2"/>
          <p:cNvSpPr txBox="1"/>
          <p:nvPr/>
        </p:nvSpPr>
        <p:spPr>
          <a:xfrm>
            <a:off x="3621024"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Bash</a:t>
            </a:r>
            <a:endParaRPr lang="en-US" sz="2400" dirty="0"/>
          </a:p>
        </p:txBody>
      </p:sp>
      <p:sp>
        <p:nvSpPr>
          <p:cNvPr id="20" name="Text 3"/>
          <p:cNvSpPr txBox="1"/>
          <p:nvPr/>
        </p:nvSpPr>
        <p:spPr>
          <a:xfrm>
            <a:off x="3621024"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Runs terminal commands: tests, git, uv, scripts</a:t>
            </a:r>
            <a:endParaRPr lang="en-US" sz="1600" dirty="0"/>
          </a:p>
        </p:txBody>
      </p:sp>
      <p:sp>
        <p:nvSpPr>
          <p:cNvPr id="21" name="Shape 1"/>
          <p:cNvSpPr/>
          <p:nvPr/>
        </p:nvSpPr>
        <p:spPr>
          <a:xfrm>
            <a:off x="6236207"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2" name="Text 2"/>
          <p:cNvSpPr txBox="1"/>
          <p:nvPr/>
        </p:nvSpPr>
        <p:spPr>
          <a:xfrm>
            <a:off x="6464807"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AskUserQuestion</a:t>
            </a:r>
            <a:endParaRPr lang="en-US" sz="2400" dirty="0"/>
          </a:p>
        </p:txBody>
      </p:sp>
      <p:sp>
        <p:nvSpPr>
          <p:cNvPr id="23" name="Text 3"/>
          <p:cNvSpPr txBox="1"/>
          <p:nvPr/>
        </p:nvSpPr>
        <p:spPr>
          <a:xfrm>
            <a:off x="6464807"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Asks you to choose between options</a:t>
            </a:r>
            <a:endParaRPr lang="en-US" sz="1600" dirty="0"/>
          </a:p>
        </p:txBody>
      </p:sp>
      <p:sp>
        <p:nvSpPr>
          <p:cNvPr id="24" name="Shape 1"/>
          <p:cNvSpPr/>
          <p:nvPr/>
        </p:nvSpPr>
        <p:spPr>
          <a:xfrm>
            <a:off x="9079992"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5" name="Text 2"/>
          <p:cNvSpPr txBox="1"/>
          <p:nvPr/>
        </p:nvSpPr>
        <p:spPr>
          <a:xfrm>
            <a:off x="9308592"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Agent</a:t>
            </a:r>
            <a:endParaRPr lang="en-US" sz="2400" dirty="0"/>
          </a:p>
        </p:txBody>
      </p:sp>
      <p:sp>
        <p:nvSpPr>
          <p:cNvPr id="26" name="Text 3"/>
          <p:cNvSpPr txBox="1"/>
          <p:nvPr/>
        </p:nvSpPr>
        <p:spPr>
          <a:xfrm>
            <a:off x="9308592"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Hands a task to a sub-agent</a:t>
            </a:r>
            <a:endParaRPr lang="en-US" sz="1600" dirty="0"/>
          </a:p>
        </p:txBody>
      </p:sp>
      <p:sp>
        <p:nvSpPr>
          <p:cNvPr id="27" name="Text 22"/>
          <p:cNvSpPr txBox="1"/>
          <p:nvPr/>
        </p:nvSpPr>
        <p:spPr>
          <a:xfrm>
            <a:off x="548640" y="5989320"/>
            <a:ext cx="10515600" cy="411480"/>
          </a:xfrm>
          <a:prstGeom prst="rect">
            <a:avLst/>
          </a:prstGeom>
          <a:noFill/>
          <a:ln/>
        </p:spPr>
        <p:txBody>
          <a:bodyPr wrap="square" lIns="1270" tIns="1270" rIns="1270" bIns="127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Also: WebSearch, WebFetch, Skill... You decide which tools may run without asking (permissions).</a:t>
            </a:r>
            <a:endParaRPr lang="en-US" sz="1800" dirty="0"/>
          </a:p>
        </p:txBody>
      </p:sp>
      <p:sp>
        <p:nvSpPr>
          <p:cNvPr id="2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Two front doors, same Claude: </a:t>
            </a:r>
            <a:r>
              <a:rPr lang="en-US" sz="3000" b="1" dirty="0">
                <a:solidFill>
                  <a:schemeClr val="accent2"/>
                </a:solidFill>
                <a:latin typeface="Calibri" pitchFamily="34" charset="0"/>
                <a:ea typeface="Calibri" pitchFamily="34" charset="-122"/>
                <a:cs typeface="Calibri" pitchFamily="34" charset="-120"/>
              </a:rPr>
              <a:t>extension and CLI</a:t>
            </a:r>
            <a:endParaRPr lang="en-US" sz="3000" dirty="0">
              <a:solidFill>
                <a:schemeClr val="accent2"/>
              </a:solidFill>
            </a:endParaRPr>
          </a:p>
        </p:txBody>
      </p:sp>
      <p:sp>
        <p:nvSpPr>
          <p:cNvPr id="3" name="Text 1"/>
          <p:cNvSpPr txBox="1"/>
          <p:nvPr/>
        </p:nvSpPr>
        <p:spPr>
          <a:xfrm>
            <a:off x="548640" y="1600200"/>
            <a:ext cx="5362956" cy="411480"/>
          </a:xfrm>
          <a:prstGeom prst="rect">
            <a:avLst/>
          </a:prstGeom>
          <a:noFill/>
          <a:ln/>
        </p:spPr>
        <p:txBody>
          <a:bodyPr wrap="square" lIns="0" tIns="0" rIns="0" bIns="0" rtlCol="0" anchor="ctr"/>
          <a:lstStyle/>
          <a:p>
            <a:pPr marL="0" indent="0">
              <a:buNone/>
            </a:pPr>
            <a:r>
              <a:rPr lang="en-US" sz="2400" b="1" dirty="0">
                <a:solidFill>
                  <a:schemeClr val="accent2"/>
                </a:solidFill>
                <a:latin typeface="Calibri" pitchFamily="34" charset="0"/>
                <a:ea typeface="Calibri" pitchFamily="34" charset="-122"/>
                <a:cs typeface="Calibri" pitchFamily="34" charset="-120"/>
              </a:rPr>
              <a:t>VS Code extension</a:t>
            </a:r>
            <a:endParaRPr lang="en-US" sz="2400" dirty="0">
              <a:solidFill>
                <a:schemeClr val="accent2"/>
              </a:solidFill>
            </a:endParaRPr>
          </a:p>
        </p:txBody>
      </p:sp>
      <p:sp>
        <p:nvSpPr>
          <p:cNvPr id="4" name="Text 2"/>
          <p:cNvSpPr txBox="1"/>
          <p:nvPr/>
        </p:nvSpPr>
        <p:spPr>
          <a:xfrm>
            <a:off x="548640" y="2057400"/>
            <a:ext cx="5362956" cy="6400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Chat panel on the right side, inline diffs, @-mention files</a:t>
            </a:r>
            <a:endParaRPr lang="en-US" sz="1600" dirty="0"/>
          </a:p>
        </p:txBody>
      </p:sp>
      <p:sp>
        <p:nvSpPr>
          <p:cNvPr id="5" name="Shape 3"/>
          <p:cNvSpPr/>
          <p:nvPr/>
        </p:nvSpPr>
        <p:spPr>
          <a:xfrm>
            <a:off x="548640" y="2788920"/>
            <a:ext cx="5362956" cy="2743200"/>
          </a:xfrm>
          <a:prstGeom prst="roundRect">
            <a:avLst>
              <a:gd name="adj" fmla="val 3333"/>
            </a:avLst>
          </a:prstGeom>
          <a:solidFill>
            <a:srgbClr val="081628"/>
          </a:solidFill>
          <a:ln w="19050">
            <a:solidFill>
              <a:srgbClr val="38BDF8"/>
            </a:solidFill>
            <a:prstDash val="dash"/>
          </a:ln>
        </p:spPr>
        <p:txBody>
          <a:bodyPr/>
          <a:lstStyle/>
          <a:p>
            <a:endParaRPr lang="en-US"/>
          </a:p>
        </p:txBody>
      </p:sp>
      <p:sp>
        <p:nvSpPr>
          <p:cNvPr id="6" name="Text 4"/>
          <p:cNvSpPr txBox="1"/>
          <p:nvPr/>
        </p:nvSpPr>
        <p:spPr>
          <a:xfrm>
            <a:off x="731520" y="2788920"/>
            <a:ext cx="4997196" cy="274320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Screenshot: Claude Code panel in VS Code (right side)</a:t>
            </a:r>
            <a:endParaRPr lang="en-US" sz="1400" dirty="0"/>
          </a:p>
        </p:txBody>
      </p:sp>
      <p:sp>
        <p:nvSpPr>
          <p:cNvPr id="7" name="Text 5"/>
          <p:cNvSpPr txBox="1"/>
          <p:nvPr/>
        </p:nvSpPr>
        <p:spPr>
          <a:xfrm>
            <a:off x="6277356" y="1600200"/>
            <a:ext cx="5362956" cy="411480"/>
          </a:xfrm>
          <a:prstGeom prst="rect">
            <a:avLst/>
          </a:prstGeom>
          <a:noFill/>
          <a:ln/>
        </p:spPr>
        <p:txBody>
          <a:bodyPr wrap="square" lIns="0" tIns="0" rIns="0" bIns="0" rtlCol="0" anchor="ctr"/>
          <a:lstStyle/>
          <a:p>
            <a:pPr marL="0" indent="0">
              <a:buNone/>
            </a:pPr>
            <a:r>
              <a:rPr lang="en-US" sz="2400" b="1" dirty="0">
                <a:solidFill>
                  <a:schemeClr val="accent2"/>
                </a:solidFill>
                <a:latin typeface="Calibri" pitchFamily="34" charset="0"/>
                <a:ea typeface="Calibri" pitchFamily="34" charset="-122"/>
                <a:cs typeface="Calibri" pitchFamily="34" charset="-120"/>
              </a:rPr>
              <a:t>CLI in a terminal</a:t>
            </a:r>
            <a:endParaRPr lang="en-US" sz="2400" dirty="0">
              <a:solidFill>
                <a:schemeClr val="accent2"/>
              </a:solidFill>
            </a:endParaRPr>
          </a:p>
        </p:txBody>
      </p:sp>
      <p:sp>
        <p:nvSpPr>
          <p:cNvPr id="8" name="Text 6"/>
          <p:cNvSpPr txBox="1"/>
          <p:nvPr/>
        </p:nvSpPr>
        <p:spPr>
          <a:xfrm>
            <a:off x="6277356" y="2057400"/>
            <a:ext cx="5362956" cy="6400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Run `claude` in any terminal, including the one inside VS Code</a:t>
            </a:r>
            <a:endParaRPr lang="en-US" sz="1600" dirty="0"/>
          </a:p>
        </p:txBody>
      </p:sp>
      <p:sp>
        <p:nvSpPr>
          <p:cNvPr id="9" name="Shape 7"/>
          <p:cNvSpPr/>
          <p:nvPr/>
        </p:nvSpPr>
        <p:spPr>
          <a:xfrm>
            <a:off x="6277356" y="2788920"/>
            <a:ext cx="5362956" cy="2743200"/>
          </a:xfrm>
          <a:prstGeom prst="roundRect">
            <a:avLst>
              <a:gd name="adj" fmla="val 3333"/>
            </a:avLst>
          </a:prstGeom>
          <a:solidFill>
            <a:srgbClr val="081628"/>
          </a:solidFill>
          <a:ln w="19050">
            <a:solidFill>
              <a:srgbClr val="38BDF8"/>
            </a:solidFill>
            <a:prstDash val="dash"/>
          </a:ln>
        </p:spPr>
        <p:txBody>
          <a:bodyPr/>
          <a:lstStyle/>
          <a:p>
            <a:endParaRPr lang="en-US"/>
          </a:p>
        </p:txBody>
      </p:sp>
      <p:sp>
        <p:nvSpPr>
          <p:cNvPr id="10" name="Text 8"/>
          <p:cNvSpPr txBox="1"/>
          <p:nvPr/>
        </p:nvSpPr>
        <p:spPr>
          <a:xfrm>
            <a:off x="6460236" y="2788920"/>
            <a:ext cx="4997196" cy="274320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Screenshot: terminal with `claude` running</a:t>
            </a:r>
            <a:endParaRPr lang="en-US" sz="1400" dirty="0"/>
          </a:p>
        </p:txBody>
      </p:sp>
      <p:sp>
        <p:nvSpPr>
          <p:cNvPr id="11" name="Text 9"/>
          <p:cNvSpPr txBox="1"/>
          <p:nvPr/>
        </p:nvSpPr>
        <p:spPr>
          <a:xfrm>
            <a:off x="548640" y="5760720"/>
            <a:ext cx="11091672" cy="411480"/>
          </a:xfrm>
          <a:prstGeom prst="rect">
            <a:avLst/>
          </a:prstGeom>
          <a:noFill/>
          <a:ln/>
        </p:spPr>
        <p:txBody>
          <a:bodyPr wrap="square" lIns="0" tIns="0" rIns="0" bIns="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My split: extension for chat day-to-day, CLI for flags, agents and automation</a:t>
            </a:r>
            <a:endParaRPr lang="en-US" sz="1800" dirty="0"/>
          </a:p>
        </p:txBody>
      </p:sp>
      <p:sp>
        <p:nvSpPr>
          <p:cNvPr id="1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5</a:t>
            </a:fld>
            <a:endParaRPr lang="en-US"/>
          </a:p>
        </p:txBody>
      </p:sp>
      <p:pic>
        <p:nvPicPr>
          <p:cNvPr id="13" name="Imagem 12">
            <a:extLst>
              <a:ext uri="{FF2B5EF4-FFF2-40B4-BE49-F238E27FC236}">
                <a16:creationId xmlns:a16="http://schemas.microsoft.com/office/drawing/2014/main" id="{168F36E1-442C-CC17-65CD-69B3D6F23B24}"/>
              </a:ext>
            </a:extLst>
          </p:cNvPr>
          <p:cNvPicPr>
            <a:picLocks noChangeAspect="1"/>
          </p:cNvPicPr>
          <p:nvPr/>
        </p:nvPicPr>
        <p:blipFill>
          <a:blip r:embed="rId3"/>
          <a:stretch>
            <a:fillRect/>
          </a:stretch>
        </p:blipFill>
        <p:spPr>
          <a:xfrm>
            <a:off x="583649" y="3157369"/>
            <a:ext cx="5292938" cy="1917551"/>
          </a:xfrm>
          <a:prstGeom prst="rect">
            <a:avLst/>
          </a:prstGeom>
        </p:spPr>
      </p:pic>
      <p:pic>
        <p:nvPicPr>
          <p:cNvPr id="14" name="Imagem 14">
            <a:extLst>
              <a:ext uri="{FF2B5EF4-FFF2-40B4-BE49-F238E27FC236}">
                <a16:creationId xmlns:a16="http://schemas.microsoft.com/office/drawing/2014/main" id="{8DF59D52-2EB2-484B-1B3F-EB974FD10E1C}"/>
              </a:ext>
            </a:extLst>
          </p:cNvPr>
          <p:cNvPicPr>
            <a:picLocks noChangeAspect="1"/>
          </p:cNvPicPr>
          <p:nvPr/>
        </p:nvPicPr>
        <p:blipFill>
          <a:blip r:embed="rId4"/>
          <a:stretch>
            <a:fillRect/>
          </a:stretch>
        </p:blipFill>
        <p:spPr>
          <a:xfrm>
            <a:off x="6313485" y="3157369"/>
            <a:ext cx="5299395" cy="203679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Start in VS Code</a:t>
            </a:r>
            <a:r>
              <a:rPr lang="en-US" sz="3000" b="1" dirty="0">
                <a:solidFill>
                  <a:srgbClr val="F2F6FC"/>
                </a:solidFill>
                <a:latin typeface="Calibri" pitchFamily="34" charset="0"/>
                <a:ea typeface="Calibri" pitchFamily="34" charset="-122"/>
                <a:cs typeface="Calibri" pitchFamily="34" charset="-120"/>
              </a:rPr>
              <a:t>: open a folder, open the Claude panel</a:t>
            </a:r>
            <a:endParaRPr lang="en-US" sz="3000" dirty="0"/>
          </a:p>
        </p:txBody>
      </p:sp>
      <p:sp>
        <p:nvSpPr>
          <p:cNvPr id="3" name="Shape 1"/>
          <p:cNvSpPr/>
          <p:nvPr/>
        </p:nvSpPr>
        <p:spPr>
          <a:xfrm>
            <a:off x="548640" y="1600200"/>
            <a:ext cx="4937760" cy="1463040"/>
          </a:xfrm>
          <a:prstGeom prst="roundRect">
            <a:avLst>
              <a:gd name="adj" fmla="val 7500"/>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783080"/>
            <a:ext cx="44805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Step 1</a:t>
            </a:r>
            <a:endParaRPr lang="en-US" sz="1600" dirty="0"/>
          </a:p>
        </p:txBody>
      </p:sp>
      <p:sp>
        <p:nvSpPr>
          <p:cNvPr id="5" name="Text 3"/>
          <p:cNvSpPr txBox="1"/>
          <p:nvPr/>
        </p:nvSpPr>
        <p:spPr>
          <a:xfrm>
            <a:off x="777240" y="2167128"/>
            <a:ext cx="44805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File &gt; Open Folder...</a:t>
            </a:r>
            <a:endParaRPr lang="en-US" sz="2000" dirty="0"/>
          </a:p>
        </p:txBody>
      </p:sp>
      <p:sp>
        <p:nvSpPr>
          <p:cNvPr id="6" name="Text 4"/>
          <p:cNvSpPr txBox="1"/>
          <p:nvPr/>
        </p:nvSpPr>
        <p:spPr>
          <a:xfrm>
            <a:off x="777240" y="2670048"/>
            <a:ext cx="4480560" cy="25603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Any folder works: code, reports, research notes.</a:t>
            </a:r>
            <a:endParaRPr lang="en-US" sz="1600" dirty="0"/>
          </a:p>
        </p:txBody>
      </p:sp>
      <p:sp>
        <p:nvSpPr>
          <p:cNvPr id="7" name="Shape 5"/>
          <p:cNvSpPr/>
          <p:nvPr/>
        </p:nvSpPr>
        <p:spPr>
          <a:xfrm>
            <a:off x="548640" y="3154680"/>
            <a:ext cx="4937760" cy="1463040"/>
          </a:xfrm>
          <a:prstGeom prst="roundRect">
            <a:avLst>
              <a:gd name="adj" fmla="val 7500"/>
            </a:avLst>
          </a:prstGeom>
          <a:solidFill>
            <a:srgbClr val="12305A"/>
          </a:solidFill>
          <a:ln w="12700">
            <a:solidFill>
              <a:srgbClr val="12305A"/>
            </a:solidFill>
            <a:prstDash val="solid"/>
          </a:ln>
        </p:spPr>
        <p:txBody>
          <a:bodyPr/>
          <a:lstStyle/>
          <a:p>
            <a:endParaRPr lang="en-US"/>
          </a:p>
        </p:txBody>
      </p:sp>
      <p:sp>
        <p:nvSpPr>
          <p:cNvPr id="8" name="Text 6"/>
          <p:cNvSpPr txBox="1"/>
          <p:nvPr/>
        </p:nvSpPr>
        <p:spPr>
          <a:xfrm>
            <a:off x="777240" y="3337560"/>
            <a:ext cx="44805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Step 2</a:t>
            </a:r>
            <a:endParaRPr lang="en-US" sz="1600" dirty="0"/>
          </a:p>
        </p:txBody>
      </p:sp>
      <p:sp>
        <p:nvSpPr>
          <p:cNvPr id="9" name="Text 7"/>
          <p:cNvSpPr txBox="1"/>
          <p:nvPr/>
        </p:nvSpPr>
        <p:spPr>
          <a:xfrm>
            <a:off x="777240" y="3721608"/>
            <a:ext cx="44805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Open the Claude panel</a:t>
            </a:r>
            <a:endParaRPr lang="en-US" sz="2000" dirty="0"/>
          </a:p>
        </p:txBody>
      </p:sp>
      <p:sp>
        <p:nvSpPr>
          <p:cNvPr id="10" name="Text 8"/>
          <p:cNvSpPr txBox="1"/>
          <p:nvPr/>
        </p:nvSpPr>
        <p:spPr>
          <a:xfrm>
            <a:off x="777240" y="4224528"/>
            <a:ext cx="4480560" cy="25603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Claude icon in the side menu (right side).</a:t>
            </a:r>
            <a:endParaRPr lang="en-US" sz="1600" dirty="0"/>
          </a:p>
        </p:txBody>
      </p:sp>
      <p:sp>
        <p:nvSpPr>
          <p:cNvPr id="11" name="Shape 9"/>
          <p:cNvSpPr/>
          <p:nvPr/>
        </p:nvSpPr>
        <p:spPr>
          <a:xfrm>
            <a:off x="548640" y="4709160"/>
            <a:ext cx="4937760" cy="1463040"/>
          </a:xfrm>
          <a:prstGeom prst="roundRect">
            <a:avLst>
              <a:gd name="adj" fmla="val 7500"/>
            </a:avLst>
          </a:prstGeom>
          <a:solidFill>
            <a:srgbClr val="12305A"/>
          </a:solidFill>
          <a:ln w="12700">
            <a:solidFill>
              <a:srgbClr val="12305A"/>
            </a:solidFill>
            <a:prstDash val="solid"/>
          </a:ln>
        </p:spPr>
        <p:txBody>
          <a:bodyPr/>
          <a:lstStyle/>
          <a:p>
            <a:endParaRPr lang="en-US"/>
          </a:p>
        </p:txBody>
      </p:sp>
      <p:sp>
        <p:nvSpPr>
          <p:cNvPr id="12" name="Text 10"/>
          <p:cNvSpPr txBox="1"/>
          <p:nvPr/>
        </p:nvSpPr>
        <p:spPr>
          <a:xfrm>
            <a:off x="777240" y="4892040"/>
            <a:ext cx="44805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Step 3</a:t>
            </a:r>
            <a:endParaRPr lang="en-US" sz="1600" dirty="0"/>
          </a:p>
        </p:txBody>
      </p:sp>
      <p:sp>
        <p:nvSpPr>
          <p:cNvPr id="13" name="Text 11"/>
          <p:cNvSpPr txBox="1"/>
          <p:nvPr/>
        </p:nvSpPr>
        <p:spPr>
          <a:xfrm>
            <a:off x="777240" y="5276088"/>
            <a:ext cx="44805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Describe a task</a:t>
            </a:r>
            <a:endParaRPr lang="en-US" sz="2000" dirty="0"/>
          </a:p>
        </p:txBody>
      </p:sp>
      <p:sp>
        <p:nvSpPr>
          <p:cNvPr id="14" name="Text 12"/>
          <p:cNvSpPr txBox="1"/>
          <p:nvPr/>
        </p:nvSpPr>
        <p:spPr>
          <a:xfrm>
            <a:off x="777240" y="5779008"/>
            <a:ext cx="4480560" cy="25603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Review diffs, then accept or push back.</a:t>
            </a:r>
            <a:endParaRPr lang="en-US" sz="1600" dirty="0"/>
          </a:p>
        </p:txBody>
      </p:sp>
      <p:sp>
        <p:nvSpPr>
          <p:cNvPr id="15" name="Shape 13"/>
          <p:cNvSpPr/>
          <p:nvPr/>
        </p:nvSpPr>
        <p:spPr>
          <a:xfrm>
            <a:off x="5852160" y="1645920"/>
            <a:ext cx="5788152" cy="2194560"/>
          </a:xfrm>
          <a:prstGeom prst="roundRect">
            <a:avLst>
              <a:gd name="adj" fmla="val 4167"/>
            </a:avLst>
          </a:prstGeom>
          <a:solidFill>
            <a:srgbClr val="081628"/>
          </a:solidFill>
          <a:ln w="19050">
            <a:solidFill>
              <a:srgbClr val="38BDF8"/>
            </a:solidFill>
            <a:prstDash val="dash"/>
          </a:ln>
        </p:spPr>
        <p:txBody>
          <a:bodyPr/>
          <a:lstStyle/>
          <a:p>
            <a:endParaRPr lang="en-US"/>
          </a:p>
        </p:txBody>
      </p:sp>
      <p:sp>
        <p:nvSpPr>
          <p:cNvPr id="16" name="Text 14"/>
          <p:cNvSpPr txBox="1"/>
          <p:nvPr/>
        </p:nvSpPr>
        <p:spPr>
          <a:xfrm>
            <a:off x="6035040" y="1645920"/>
            <a:ext cx="5422392" cy="219456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VS Code: File &gt; Open Folder...</a:t>
            </a:r>
            <a:endParaRPr lang="en-US" sz="1400" dirty="0"/>
          </a:p>
        </p:txBody>
      </p:sp>
      <p:sp>
        <p:nvSpPr>
          <p:cNvPr id="17" name="Shape 15"/>
          <p:cNvSpPr/>
          <p:nvPr/>
        </p:nvSpPr>
        <p:spPr>
          <a:xfrm>
            <a:off x="5852160" y="4023360"/>
            <a:ext cx="5788152" cy="2194560"/>
          </a:xfrm>
          <a:prstGeom prst="roundRect">
            <a:avLst>
              <a:gd name="adj" fmla="val 4167"/>
            </a:avLst>
          </a:prstGeom>
          <a:solidFill>
            <a:srgbClr val="081628"/>
          </a:solidFill>
          <a:ln w="19050">
            <a:solidFill>
              <a:srgbClr val="38BDF8"/>
            </a:solidFill>
            <a:prstDash val="dash"/>
          </a:ln>
        </p:spPr>
        <p:txBody>
          <a:bodyPr/>
          <a:lstStyle/>
          <a:p>
            <a:endParaRPr lang="en-US"/>
          </a:p>
        </p:txBody>
      </p:sp>
      <p:sp>
        <p:nvSpPr>
          <p:cNvPr id="18" name="Text 16"/>
          <p:cNvSpPr txBox="1"/>
          <p:nvPr/>
        </p:nvSpPr>
        <p:spPr>
          <a:xfrm>
            <a:off x="6035040" y="4023360"/>
            <a:ext cx="5422392" cy="219456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Claude Code panel, side menu</a:t>
            </a:r>
            <a:endParaRPr lang="en-US" sz="1400" dirty="0"/>
          </a:p>
        </p:txBody>
      </p:sp>
      <p:sp>
        <p:nvSpPr>
          <p:cNvPr id="1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6</a:t>
            </a:fld>
            <a:endParaRPr lang="en-US"/>
          </a:p>
        </p:txBody>
      </p:sp>
      <p:pic>
        <p:nvPicPr>
          <p:cNvPr id="20" name="Imagem 21">
            <a:extLst>
              <a:ext uri="{FF2B5EF4-FFF2-40B4-BE49-F238E27FC236}">
                <a16:creationId xmlns:a16="http://schemas.microsoft.com/office/drawing/2014/main" id="{B438BE29-EA2F-2546-DD7B-1E3C9C4B7E5A}"/>
              </a:ext>
            </a:extLst>
          </p:cNvPr>
          <p:cNvPicPr>
            <a:picLocks noChangeAspect="1"/>
          </p:cNvPicPr>
          <p:nvPr/>
        </p:nvPicPr>
        <p:blipFill>
          <a:blip r:embed="rId3"/>
          <a:stretch>
            <a:fillRect/>
          </a:stretch>
        </p:blipFill>
        <p:spPr>
          <a:xfrm>
            <a:off x="7249397" y="1645920"/>
            <a:ext cx="2993678" cy="2181943"/>
          </a:xfrm>
          <a:prstGeom prst="rect">
            <a:avLst/>
          </a:prstGeom>
        </p:spPr>
      </p:pic>
      <p:pic>
        <p:nvPicPr>
          <p:cNvPr id="21" name="Imagem 23">
            <a:extLst>
              <a:ext uri="{FF2B5EF4-FFF2-40B4-BE49-F238E27FC236}">
                <a16:creationId xmlns:a16="http://schemas.microsoft.com/office/drawing/2014/main" id="{077BAA99-7EC3-DB2F-655E-879A96207FBB}"/>
              </a:ext>
            </a:extLst>
          </p:cNvPr>
          <p:cNvPicPr>
            <a:picLocks noChangeAspect="1"/>
          </p:cNvPicPr>
          <p:nvPr/>
        </p:nvPicPr>
        <p:blipFill>
          <a:blip r:embed="rId4"/>
          <a:stretch>
            <a:fillRect/>
          </a:stretch>
        </p:blipFill>
        <p:spPr>
          <a:xfrm>
            <a:off x="7468228" y="4042723"/>
            <a:ext cx="2556015" cy="21814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Start the CLI</a:t>
            </a:r>
            <a:r>
              <a:rPr lang="en-US" sz="3000" b="1" dirty="0">
                <a:solidFill>
                  <a:srgbClr val="F2F6FC"/>
                </a:solidFill>
                <a:latin typeface="Calibri" pitchFamily="34" charset="0"/>
                <a:ea typeface="Calibri" pitchFamily="34" charset="-122"/>
                <a:cs typeface="Calibri" pitchFamily="34" charset="-120"/>
              </a:rPr>
              <a:t>: one word in any terminal</a:t>
            </a:r>
            <a:endParaRPr lang="en-US" sz="3000" dirty="0"/>
          </a:p>
        </p:txBody>
      </p:sp>
      <p:sp>
        <p:nvSpPr>
          <p:cNvPr id="3" name="Shape 1"/>
          <p:cNvSpPr/>
          <p:nvPr/>
        </p:nvSpPr>
        <p:spPr>
          <a:xfrm>
            <a:off x="548640" y="1645920"/>
            <a:ext cx="4937760" cy="4480560"/>
          </a:xfrm>
          <a:prstGeom prst="roundRect">
            <a:avLst>
              <a:gd name="adj" fmla="val 2449"/>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828800"/>
            <a:ext cx="4480560"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Three moves</a:t>
            </a:r>
            <a:endParaRPr lang="en-US" sz="2400" dirty="0"/>
          </a:p>
        </p:txBody>
      </p:sp>
      <p:sp>
        <p:nvSpPr>
          <p:cNvPr id="5" name="Text 3"/>
          <p:cNvSpPr txBox="1"/>
          <p:nvPr/>
        </p:nvSpPr>
        <p:spPr>
          <a:xfrm>
            <a:off x="777240" y="2331720"/>
            <a:ext cx="4480560" cy="365760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Open a terminal (VS Code: </a:t>
            </a:r>
            <a:r>
              <a:rPr lang="en-US" sz="1800">
                <a:solidFill>
                  <a:srgbClr val="A9BCD6"/>
                </a:solidFill>
                <a:latin typeface="Calibri" pitchFamily="34" charset="0"/>
                <a:ea typeface="Calibri" pitchFamily="34" charset="-122"/>
                <a:cs typeface="Calibri" pitchFamily="34" charset="-120"/>
              </a:rPr>
              <a:t>Ctrl+`)</a:t>
            </a:r>
          </a:p>
          <a:p>
            <a:pPr marL="800100" lvl="1" indent="-342900">
              <a:spcAft>
                <a:spcPts val="600"/>
              </a:spcAft>
              <a:buSzPct val="100000"/>
              <a:buChar char="•"/>
            </a:pPr>
            <a:r>
              <a:rPr lang="en-US">
                <a:solidFill>
                  <a:srgbClr val="A9BCD6"/>
                </a:solidFill>
                <a:latin typeface="Calibri" pitchFamily="34" charset="0"/>
                <a:ea typeface="Calibri" pitchFamily="34" charset="-122"/>
                <a:cs typeface="Calibri" pitchFamily="34" charset="-120"/>
              </a:rPr>
              <a:t>Or go to ‘Terminal’→ ‘New Terminal’</a:t>
            </a:r>
            <a:endParaRPr lang="en-US" dirty="0"/>
          </a:p>
          <a:p>
            <a:pPr marL="342900" indent="-342900">
              <a:spcAft>
                <a:spcPts val="600"/>
              </a:spcAft>
              <a:buSzPct val="100000"/>
              <a:buChar char="•"/>
            </a:pPr>
            <a:r>
              <a:rPr lang="en-US" sz="1800">
                <a:solidFill>
                  <a:srgbClr val="A9BCD6"/>
                </a:solidFill>
                <a:latin typeface="Calibri" pitchFamily="34" charset="0"/>
                <a:ea typeface="Calibri" pitchFamily="34" charset="-122"/>
                <a:cs typeface="Calibri" pitchFamily="34" charset="-120"/>
              </a:rPr>
              <a:t>Open folder </a:t>
            </a:r>
          </a:p>
          <a:p>
            <a:pPr marL="800100" lvl="1" indent="-342900">
              <a:spcAft>
                <a:spcPts val="600"/>
              </a:spcAft>
              <a:buSzPct val="100000"/>
              <a:buChar char="•"/>
            </a:pPr>
            <a:r>
              <a:rPr lang="en-US">
                <a:solidFill>
                  <a:srgbClr val="A9BCD6"/>
                </a:solidFill>
                <a:latin typeface="Calibri" pitchFamily="34" charset="0"/>
                <a:ea typeface="Calibri" pitchFamily="34" charset="-122"/>
                <a:cs typeface="Calibri" pitchFamily="34" charset="-120"/>
              </a:rPr>
              <a:t>Or cd </a:t>
            </a:r>
            <a:r>
              <a:rPr lang="en-US" dirty="0">
                <a:solidFill>
                  <a:srgbClr val="A9BCD6"/>
                </a:solidFill>
                <a:latin typeface="Calibri" pitchFamily="34" charset="0"/>
                <a:ea typeface="Calibri" pitchFamily="34" charset="-122"/>
                <a:cs typeface="Calibri" pitchFamily="34" charset="-120"/>
              </a:rPr>
              <a:t>into your project folder</a:t>
            </a:r>
            <a:endParaRPr lang="en-US" dirty="0"/>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Type claude and press Enter</a:t>
            </a:r>
            <a:endParaRPr lang="en-US" sz="1800" dirty="0"/>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Type / to see every slash command</a:t>
            </a:r>
            <a:endParaRPr lang="en-US" sz="1800" dirty="0"/>
          </a:p>
        </p:txBody>
      </p:sp>
      <p:sp>
        <p:nvSpPr>
          <p:cNvPr id="6" name="Shape 4"/>
          <p:cNvSpPr/>
          <p:nvPr/>
        </p:nvSpPr>
        <p:spPr>
          <a:xfrm>
            <a:off x="5852160" y="1645920"/>
            <a:ext cx="5788152" cy="4480560"/>
          </a:xfrm>
          <a:prstGeom prst="roundRect">
            <a:avLst>
              <a:gd name="adj" fmla="val 2041"/>
            </a:avLst>
          </a:prstGeom>
          <a:solidFill>
            <a:srgbClr val="081628"/>
          </a:solidFill>
          <a:ln w="19050">
            <a:solidFill>
              <a:srgbClr val="38BDF8"/>
            </a:solidFill>
            <a:prstDash val="dash"/>
          </a:ln>
        </p:spPr>
        <p:txBody>
          <a:bodyPr/>
          <a:lstStyle/>
          <a:p>
            <a:endParaRPr lang="en-US"/>
          </a:p>
        </p:txBody>
      </p:sp>
      <p:sp>
        <p:nvSpPr>
          <p:cNvPr id="7" name="Text 5"/>
          <p:cNvSpPr txBox="1"/>
          <p:nvPr/>
        </p:nvSpPr>
        <p:spPr>
          <a:xfrm>
            <a:off x="6035040" y="1645920"/>
            <a:ext cx="5422392" cy="448056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Terminal with `claude` started in a project folder</a:t>
            </a:r>
            <a:endParaRPr lang="en-US" sz="1400" dirty="0"/>
          </a:p>
        </p:txBody>
      </p:sp>
      <p:sp>
        <p:nvSpPr>
          <p:cNvPr id="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7</a:t>
            </a:fld>
            <a:endParaRPr lang="en-US"/>
          </a:p>
        </p:txBody>
      </p:sp>
      <p:pic>
        <p:nvPicPr>
          <p:cNvPr id="9" name="Imagem 10">
            <a:extLst>
              <a:ext uri="{FF2B5EF4-FFF2-40B4-BE49-F238E27FC236}">
                <a16:creationId xmlns:a16="http://schemas.microsoft.com/office/drawing/2014/main" id="{5870528D-2CEF-FC30-F783-5224CCF810F1}"/>
              </a:ext>
            </a:extLst>
          </p:cNvPr>
          <p:cNvPicPr>
            <a:picLocks noChangeAspect="1"/>
          </p:cNvPicPr>
          <p:nvPr/>
        </p:nvPicPr>
        <p:blipFill>
          <a:blip r:embed="rId3"/>
          <a:stretch>
            <a:fillRect/>
          </a:stretch>
        </p:blipFill>
        <p:spPr>
          <a:xfrm>
            <a:off x="5852160" y="1645920"/>
            <a:ext cx="5788152" cy="1469774"/>
          </a:xfrm>
          <a:prstGeom prst="rect">
            <a:avLst/>
          </a:prstGeom>
        </p:spPr>
      </p:pic>
      <p:pic>
        <p:nvPicPr>
          <p:cNvPr id="10" name="Imagem 12">
            <a:extLst>
              <a:ext uri="{FF2B5EF4-FFF2-40B4-BE49-F238E27FC236}">
                <a16:creationId xmlns:a16="http://schemas.microsoft.com/office/drawing/2014/main" id="{39B24E7D-4E42-1533-A65D-34069562AD03}"/>
              </a:ext>
            </a:extLst>
          </p:cNvPr>
          <p:cNvPicPr>
            <a:picLocks noChangeAspect="1"/>
          </p:cNvPicPr>
          <p:nvPr/>
        </p:nvPicPr>
        <p:blipFill>
          <a:blip r:embed="rId4"/>
          <a:stretch>
            <a:fillRect/>
          </a:stretch>
        </p:blipFill>
        <p:spPr>
          <a:xfrm>
            <a:off x="5852160" y="3655176"/>
            <a:ext cx="5788151" cy="247130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822960" y="2697480"/>
            <a:ext cx="1371600" cy="137160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97480"/>
            <a:ext cx="1371600" cy="1371600"/>
          </a:xfrm>
          <a:prstGeom prst="rect">
            <a:avLst/>
          </a:prstGeom>
          <a:noFill/>
        </p:spPr>
        <p:txBody>
          <a:bodyPr wrap="square" lIns="0" tIns="0" rIns="0" bIns="0" anchor="ctr">
            <a:spAutoFit/>
          </a:bodyPr>
          <a:lstStyle/>
          <a:p>
            <a:pPr algn="ctr"/>
            <a:r>
              <a:rPr sz="6000" b="1">
                <a:solidFill>
                  <a:srgbClr val="0B1F3A"/>
                </a:solidFill>
                <a:latin typeface="Calibri"/>
              </a:rPr>
              <a:t>2</a:t>
            </a:r>
          </a:p>
        </p:txBody>
      </p:sp>
      <p:sp>
        <p:nvSpPr>
          <p:cNvPr id="4" name="TextBox 3"/>
          <p:cNvSpPr txBox="1"/>
          <p:nvPr/>
        </p:nvSpPr>
        <p:spPr>
          <a:xfrm>
            <a:off x="2651760" y="2606040"/>
            <a:ext cx="5486400" cy="914400"/>
          </a:xfrm>
          <a:prstGeom prst="rect">
            <a:avLst/>
          </a:prstGeom>
          <a:noFill/>
        </p:spPr>
        <p:txBody>
          <a:bodyPr wrap="square" lIns="0" tIns="0" rIns="0" bIns="0" anchor="ctr">
            <a:spAutoFit/>
          </a:bodyPr>
          <a:lstStyle/>
          <a:p>
            <a:pPr algn="l"/>
            <a:r>
              <a:rPr sz="5400" b="1">
                <a:solidFill>
                  <a:srgbClr val="F2F6FC"/>
                </a:solidFill>
                <a:latin typeface="Calibri"/>
              </a:rPr>
              <a:t>Configure</a:t>
            </a:r>
          </a:p>
        </p:txBody>
      </p:sp>
      <p:sp>
        <p:nvSpPr>
          <p:cNvPr id="5" name="TextBox 4"/>
          <p:cNvSpPr txBox="1"/>
          <p:nvPr/>
        </p:nvSpPr>
        <p:spPr>
          <a:xfrm>
            <a:off x="2651760" y="3611880"/>
            <a:ext cx="5486400" cy="822960"/>
          </a:xfrm>
          <a:prstGeom prst="rect">
            <a:avLst/>
          </a:prstGeom>
          <a:noFill/>
        </p:spPr>
        <p:txBody>
          <a:bodyPr wrap="square" lIns="0" tIns="0" rIns="0" bIns="0" anchor="t">
            <a:spAutoFit/>
          </a:bodyPr>
          <a:lstStyle/>
          <a:p>
            <a:pPr algn="l"/>
            <a:r>
              <a:rPr sz="2200" b="0">
                <a:solidFill>
                  <a:srgbClr val="A9BCD6"/>
                </a:solidFill>
                <a:latin typeface="Calibri"/>
              </a:rPr>
              <a:t>Shape how Claude behaves in your project</a:t>
            </a:r>
          </a:p>
        </p:txBody>
      </p:sp>
      <p:sp>
        <p:nvSpPr>
          <p:cNvPr id="6" name="Rounded Rectangle 5"/>
          <p:cNvSpPr/>
          <p:nvPr/>
        </p:nvSpPr>
        <p:spPr>
          <a:xfrm>
            <a:off x="8412480" y="1737360"/>
            <a:ext cx="3246120" cy="3383280"/>
          </a:xfrm>
          <a:prstGeom prst="roundRect">
            <a:avLst>
              <a:gd name="adj" fmla="val 6000"/>
            </a:avLst>
          </a:prstGeom>
          <a:solidFill>
            <a:srgbClr val="1230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0" y="1965960"/>
            <a:ext cx="2743200" cy="365760"/>
          </a:xfrm>
          <a:prstGeom prst="rect">
            <a:avLst/>
          </a:prstGeom>
          <a:noFill/>
        </p:spPr>
        <p:txBody>
          <a:bodyPr wrap="square" lIns="0" tIns="0" rIns="0" bIns="0" anchor="t">
            <a:spAutoFit/>
          </a:bodyPr>
          <a:lstStyle/>
          <a:p>
            <a:pPr algn="l"/>
            <a:r>
              <a:rPr sz="1600" b="1">
                <a:solidFill>
                  <a:srgbClr val="38BDF8"/>
                </a:solidFill>
                <a:latin typeface="Calibri"/>
              </a:rPr>
              <a:t>In this section</a:t>
            </a:r>
          </a:p>
        </p:txBody>
      </p:sp>
      <p:sp>
        <p:nvSpPr>
          <p:cNvPr id="8" name="TextBox 7"/>
          <p:cNvSpPr txBox="1"/>
          <p:nvPr/>
        </p:nvSpPr>
        <p:spPr>
          <a:xfrm>
            <a:off x="8686800" y="2423160"/>
            <a:ext cx="2743200" cy="2560320"/>
          </a:xfrm>
          <a:prstGeom prst="rect">
            <a:avLst/>
          </a:prstGeom>
          <a:noFill/>
        </p:spPr>
        <p:txBody>
          <a:bodyPr wrap="square" lIns="0" tIns="0" rIns="0" bIns="0" anchor="t">
            <a:spAutoFit/>
          </a:bodyPr>
          <a:lstStyle/>
          <a:p>
            <a:pPr algn="l"/>
            <a:r>
              <a:rPr sz="1800" b="0">
                <a:solidFill>
                  <a:srgbClr val="F2F6FC"/>
                </a:solidFill>
                <a:latin typeface="Calibri"/>
              </a:rPr>
              <a:t>.claude/ folder</a:t>
            </a:r>
          </a:p>
          <a:p>
            <a:pPr>
              <a:spcBef>
                <a:spcPts val="800"/>
              </a:spcBef>
            </a:pPr>
            <a:r>
              <a:rPr sz="1800">
                <a:solidFill>
                  <a:srgbClr val="F2F6FC"/>
                </a:solidFill>
                <a:latin typeface="Calibri"/>
              </a:rPr>
              <a:t>CLAUDE.md</a:t>
            </a:r>
          </a:p>
          <a:p>
            <a:pPr>
              <a:spcBef>
                <a:spcPts val="800"/>
              </a:spcBef>
            </a:pPr>
            <a:r>
              <a:rPr sz="1800">
                <a:solidFill>
                  <a:srgbClr val="F2F6FC"/>
                </a:solidFill>
                <a:latin typeface="Calibri"/>
              </a:rPr>
              <a:t>Skills, rules, hooks</a:t>
            </a:r>
          </a:p>
          <a:p>
            <a:pPr>
              <a:spcBef>
                <a:spcPts val="800"/>
              </a:spcBef>
            </a:pPr>
            <a:r>
              <a:rPr sz="1800">
                <a:solidFill>
                  <a:srgbClr val="F2F6FC"/>
                </a:solidFill>
                <a:latin typeface="Calibri"/>
              </a:rPr>
              <a:t>My skills</a:t>
            </a:r>
          </a:p>
          <a:p>
            <a:pPr>
              <a:spcBef>
                <a:spcPts val="800"/>
              </a:spcBef>
            </a:pPr>
            <a:r>
              <a:rPr sz="1800">
                <a:solidFill>
                  <a:srgbClr val="F2F6FC"/>
                </a:solidFill>
                <a:latin typeface="Calibri"/>
              </a:rPr>
              <a:t>Agents</a:t>
            </a:r>
          </a:p>
          <a:p>
            <a:pPr>
              <a:spcBef>
                <a:spcPts val="800"/>
              </a:spcBef>
            </a:pPr>
            <a:r>
              <a:rPr sz="1800">
                <a:solidFill>
                  <a:srgbClr val="F2F6FC"/>
                </a:solidFill>
                <a:latin typeface="Calibri"/>
              </a:rPr>
              <a:t>Hooks and settings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The </a:t>
            </a:r>
            <a:r>
              <a:rPr lang="en-US" sz="3000" b="1" dirty="0">
                <a:solidFill>
                  <a:schemeClr val="accent2"/>
                </a:solidFill>
                <a:latin typeface="Calibri" pitchFamily="34" charset="0"/>
                <a:ea typeface="Calibri" pitchFamily="34" charset="-122"/>
                <a:cs typeface="Calibri" pitchFamily="34" charset="-120"/>
              </a:rPr>
              <a:t>.claude/ folder </a:t>
            </a:r>
            <a:r>
              <a:rPr lang="en-US" sz="3000" b="1" dirty="0">
                <a:solidFill>
                  <a:srgbClr val="F2F6FC"/>
                </a:solidFill>
                <a:latin typeface="Calibri" pitchFamily="34" charset="0"/>
                <a:ea typeface="Calibri" pitchFamily="34" charset="-122"/>
                <a:cs typeface="Calibri" pitchFamily="34" charset="-120"/>
              </a:rPr>
              <a:t>is where you shape Claude's behavior</a:t>
            </a:r>
            <a:endParaRPr lang="en-US" sz="3000" dirty="0"/>
          </a:p>
        </p:txBody>
      </p:sp>
      <p:sp>
        <p:nvSpPr>
          <p:cNvPr id="3" name="Shape 1"/>
          <p:cNvSpPr/>
          <p:nvPr/>
        </p:nvSpPr>
        <p:spPr>
          <a:xfrm>
            <a:off x="548640" y="1645920"/>
            <a:ext cx="5120640" cy="4480560"/>
          </a:xfrm>
          <a:prstGeom prst="roundRect">
            <a:avLst>
              <a:gd name="adj" fmla="val 2041"/>
            </a:avLst>
          </a:prstGeom>
          <a:solidFill>
            <a:srgbClr val="081628"/>
          </a:solidFill>
          <a:ln w="12700">
            <a:solidFill>
              <a:srgbClr val="1E3F6F"/>
            </a:solidFill>
            <a:prstDash val="solid"/>
          </a:ln>
        </p:spPr>
        <p:txBody>
          <a:bodyPr/>
          <a:lstStyle/>
          <a:p>
            <a:endParaRPr lang="en-US"/>
          </a:p>
        </p:txBody>
      </p:sp>
      <p:sp>
        <p:nvSpPr>
          <p:cNvPr id="4" name="Text 2"/>
          <p:cNvSpPr txBox="1"/>
          <p:nvPr/>
        </p:nvSpPr>
        <p:spPr>
          <a:xfrm>
            <a:off x="777240" y="1783080"/>
            <a:ext cx="4663440" cy="420624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.claude/</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settings.json</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settings.local.json</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agents/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summarizer.md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skills/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my-skill/SKILL.md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rules/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style.md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commands/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CLAUDE.md  (project root)</a:t>
            </a:r>
            <a:endParaRPr lang="en-US" sz="1600" dirty="0"/>
          </a:p>
        </p:txBody>
      </p:sp>
      <p:sp>
        <p:nvSpPr>
          <p:cNvPr id="5" name="Text 3"/>
          <p:cNvSpPr txBox="1"/>
          <p:nvPr/>
        </p:nvSpPr>
        <p:spPr>
          <a:xfrm>
            <a:off x="5943600" y="164592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settings.json</a:t>
            </a:r>
            <a:endParaRPr lang="en-US" sz="1400" dirty="0"/>
          </a:p>
        </p:txBody>
      </p:sp>
      <p:sp>
        <p:nvSpPr>
          <p:cNvPr id="6" name="Text 4"/>
          <p:cNvSpPr txBox="1"/>
          <p:nvPr/>
        </p:nvSpPr>
        <p:spPr>
          <a:xfrm>
            <a:off x="8183880" y="164592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Permissions, hooks, env. Shared via git</a:t>
            </a:r>
            <a:endParaRPr lang="en-US" sz="1600" dirty="0"/>
          </a:p>
        </p:txBody>
      </p:sp>
      <p:sp>
        <p:nvSpPr>
          <p:cNvPr id="7" name="Text 5"/>
          <p:cNvSpPr txBox="1"/>
          <p:nvPr/>
        </p:nvSpPr>
        <p:spPr>
          <a:xfrm>
            <a:off x="5943600" y="228600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settings.local.json</a:t>
            </a:r>
            <a:endParaRPr lang="en-US" sz="1400" dirty="0"/>
          </a:p>
        </p:txBody>
      </p:sp>
      <p:sp>
        <p:nvSpPr>
          <p:cNvPr id="8" name="Text 6"/>
          <p:cNvSpPr txBox="1"/>
          <p:nvPr/>
        </p:nvSpPr>
        <p:spPr>
          <a:xfrm>
            <a:off x="8183880" y="228600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Your personal overrides, not committed</a:t>
            </a:r>
            <a:endParaRPr lang="en-US" sz="1600" dirty="0"/>
          </a:p>
        </p:txBody>
      </p:sp>
      <p:sp>
        <p:nvSpPr>
          <p:cNvPr id="9" name="Text 7"/>
          <p:cNvSpPr txBox="1"/>
          <p:nvPr/>
        </p:nvSpPr>
        <p:spPr>
          <a:xfrm>
            <a:off x="5943600" y="292608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agents/</a:t>
            </a:r>
            <a:endParaRPr lang="en-US" sz="1400" dirty="0"/>
          </a:p>
        </p:txBody>
      </p:sp>
      <p:sp>
        <p:nvSpPr>
          <p:cNvPr id="10" name="Text 8"/>
          <p:cNvSpPr txBox="1"/>
          <p:nvPr/>
        </p:nvSpPr>
        <p:spPr>
          <a:xfrm>
            <a:off x="8183880" y="292608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Sub-agents, one markdown file each</a:t>
            </a:r>
            <a:endParaRPr lang="en-US" sz="1600" dirty="0"/>
          </a:p>
        </p:txBody>
      </p:sp>
      <p:sp>
        <p:nvSpPr>
          <p:cNvPr id="11" name="Text 9"/>
          <p:cNvSpPr txBox="1"/>
          <p:nvPr/>
        </p:nvSpPr>
        <p:spPr>
          <a:xfrm>
            <a:off x="5943600" y="356616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skills/</a:t>
            </a:r>
            <a:endParaRPr lang="en-US" sz="1400" dirty="0"/>
          </a:p>
        </p:txBody>
      </p:sp>
      <p:sp>
        <p:nvSpPr>
          <p:cNvPr id="12" name="Text 10"/>
          <p:cNvSpPr txBox="1"/>
          <p:nvPr/>
        </p:nvSpPr>
        <p:spPr>
          <a:xfrm>
            <a:off x="8183880" y="356616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Repeatable playbooks, one folder each</a:t>
            </a:r>
            <a:endParaRPr lang="en-US" sz="1600" dirty="0"/>
          </a:p>
        </p:txBody>
      </p:sp>
      <p:sp>
        <p:nvSpPr>
          <p:cNvPr id="13" name="Text 11"/>
          <p:cNvSpPr txBox="1"/>
          <p:nvPr/>
        </p:nvSpPr>
        <p:spPr>
          <a:xfrm>
            <a:off x="5943600" y="420624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rules/</a:t>
            </a:r>
            <a:endParaRPr lang="en-US" sz="1400" dirty="0"/>
          </a:p>
        </p:txBody>
      </p:sp>
      <p:sp>
        <p:nvSpPr>
          <p:cNvPr id="14" name="Text 12"/>
          <p:cNvSpPr txBox="1"/>
          <p:nvPr/>
        </p:nvSpPr>
        <p:spPr>
          <a:xfrm>
            <a:off x="8183880" y="420624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Small focused instruction files</a:t>
            </a:r>
            <a:endParaRPr lang="en-US" sz="1600" dirty="0"/>
          </a:p>
        </p:txBody>
      </p:sp>
      <p:sp>
        <p:nvSpPr>
          <p:cNvPr id="15" name="Text 13"/>
          <p:cNvSpPr txBox="1"/>
          <p:nvPr/>
        </p:nvSpPr>
        <p:spPr>
          <a:xfrm>
            <a:off x="5943600" y="484632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commands/</a:t>
            </a:r>
            <a:endParaRPr lang="en-US" sz="1400" dirty="0"/>
          </a:p>
        </p:txBody>
      </p:sp>
      <p:sp>
        <p:nvSpPr>
          <p:cNvPr id="16" name="Text 14"/>
          <p:cNvSpPr txBox="1"/>
          <p:nvPr/>
        </p:nvSpPr>
        <p:spPr>
          <a:xfrm>
            <a:off x="8183880" y="484632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Your own slash commands</a:t>
            </a:r>
            <a:endParaRPr lang="en-US" sz="1600" dirty="0"/>
          </a:p>
        </p:txBody>
      </p:sp>
      <p:sp>
        <p:nvSpPr>
          <p:cNvPr id="17" name="Text 15"/>
          <p:cNvSpPr txBox="1"/>
          <p:nvPr/>
        </p:nvSpPr>
        <p:spPr>
          <a:xfrm>
            <a:off x="5943600" y="5577840"/>
            <a:ext cx="5669280" cy="548640"/>
          </a:xfrm>
          <a:prstGeom prst="rect">
            <a:avLst/>
          </a:prstGeom>
          <a:noFill/>
          <a:ln/>
        </p:spPr>
        <p:txBody>
          <a:bodyPr wrap="square" lIns="0" tIns="0" rIns="0" bIns="0" rtlCol="0" anchor="ctr"/>
          <a:lstStyle/>
          <a:p>
            <a:pPr marL="0" indent="0">
              <a:buNone/>
            </a:pPr>
            <a:r>
              <a:rPr lang="en-US" sz="1600" dirty="0">
                <a:solidFill>
                  <a:srgbClr val="5EEAD4"/>
                </a:solidFill>
                <a:latin typeface="Calibri" pitchFamily="34" charset="0"/>
                <a:ea typeface="Calibri" pitchFamily="34" charset="-122"/>
                <a:cs typeface="Calibri" pitchFamily="34" charset="-120"/>
              </a:rPr>
              <a:t>Same layout in ~/.claude/ applies to all your projects</a:t>
            </a:r>
            <a:endParaRPr lang="en-US" sz="1600" dirty="0"/>
          </a:p>
        </p:txBody>
      </p:sp>
      <p:sp>
        <p:nvSpPr>
          <p:cNvPr id="1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F8A2B"/>
                </a:solidFill>
                <a:latin typeface="Calibri" pitchFamily="34" charset="0"/>
                <a:ea typeface="Calibri" pitchFamily="34" charset="-122"/>
                <a:cs typeface="Calibri" pitchFamily="34" charset="-120"/>
              </a:rPr>
              <a:t>CLAUDE.md</a:t>
            </a:r>
            <a:r>
              <a:rPr lang="en-US" sz="3000" b="1" dirty="0">
                <a:solidFill>
                  <a:srgbClr val="F2F6FC"/>
                </a:solidFill>
                <a:latin typeface="Calibri" pitchFamily="34" charset="0"/>
                <a:ea typeface="Calibri" pitchFamily="34" charset="-122"/>
                <a:cs typeface="Calibri" pitchFamily="34" charset="-120"/>
              </a:rPr>
              <a:t>: Claude's briefing note for your project</a:t>
            </a:r>
            <a:endParaRPr lang="en-US" sz="3000" dirty="0"/>
          </a:p>
        </p:txBody>
      </p:sp>
      <p:sp>
        <p:nvSpPr>
          <p:cNvPr id="3" name="Shape 1"/>
          <p:cNvSpPr/>
          <p:nvPr/>
        </p:nvSpPr>
        <p:spPr>
          <a:xfrm>
            <a:off x="548640" y="1645920"/>
            <a:ext cx="5408676" cy="3017520"/>
          </a:xfrm>
          <a:prstGeom prst="roundRect">
            <a:avLst>
              <a:gd name="adj" fmla="val 3636"/>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828800"/>
            <a:ext cx="4951476"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What goes in it</a:t>
            </a:r>
            <a:endParaRPr lang="en-US" sz="2200" dirty="0"/>
          </a:p>
        </p:txBody>
      </p:sp>
      <p:sp>
        <p:nvSpPr>
          <p:cNvPr id="5" name="Text 3"/>
          <p:cNvSpPr txBox="1"/>
          <p:nvPr/>
        </p:nvSpPr>
        <p:spPr>
          <a:xfrm>
            <a:off x="777240" y="2331720"/>
            <a:ext cx="4951476" cy="21945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What the project is and its layout</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Commands: how to run, test, lint</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Conventions and style preferences</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Where the plans and decisions live</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Do's and don'ts (e.g. never commit unasked)</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Non-code work: audience, tone, templates, terms</a:t>
            </a:r>
            <a:endParaRPr lang="en-US" sz="1700" dirty="0"/>
          </a:p>
        </p:txBody>
      </p:sp>
      <p:sp>
        <p:nvSpPr>
          <p:cNvPr id="6" name="Shape 4"/>
          <p:cNvSpPr/>
          <p:nvPr/>
        </p:nvSpPr>
        <p:spPr>
          <a:xfrm>
            <a:off x="6231636" y="1645920"/>
            <a:ext cx="5408676" cy="3017520"/>
          </a:xfrm>
          <a:prstGeom prst="roundRect">
            <a:avLst>
              <a:gd name="adj" fmla="val 3636"/>
            </a:avLst>
          </a:prstGeom>
          <a:solidFill>
            <a:srgbClr val="12305A"/>
          </a:solidFill>
          <a:ln w="12700">
            <a:solidFill>
              <a:srgbClr val="12305A"/>
            </a:solidFill>
            <a:prstDash val="solid"/>
          </a:ln>
        </p:spPr>
        <p:txBody>
          <a:bodyPr/>
          <a:lstStyle/>
          <a:p>
            <a:endParaRPr lang="en-US"/>
          </a:p>
        </p:txBody>
      </p:sp>
      <p:sp>
        <p:nvSpPr>
          <p:cNvPr id="7" name="Text 5"/>
          <p:cNvSpPr txBox="1"/>
          <p:nvPr/>
        </p:nvSpPr>
        <p:spPr>
          <a:xfrm>
            <a:off x="6460236" y="1828800"/>
            <a:ext cx="4951476"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Why it's worth having</a:t>
            </a:r>
            <a:endParaRPr lang="en-US" sz="2200" dirty="0"/>
          </a:p>
        </p:txBody>
      </p:sp>
      <p:sp>
        <p:nvSpPr>
          <p:cNvPr id="8" name="Text 6"/>
          <p:cNvSpPr txBox="1"/>
          <p:nvPr/>
        </p:nvSpPr>
        <p:spPr>
          <a:xfrm>
            <a:off x="6460236" y="2331720"/>
            <a:ext cx="4951476" cy="21945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Loaded every session: no re-explaining</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Shared with the team through git</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Fewer wrong guesses, fewer corrections</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A global one in ~/.claude/ holds personal habits</a:t>
            </a:r>
            <a:endParaRPr lang="en-US" sz="1700" dirty="0"/>
          </a:p>
        </p:txBody>
      </p:sp>
      <p:sp>
        <p:nvSpPr>
          <p:cNvPr id="9" name="Shape 7"/>
          <p:cNvSpPr/>
          <p:nvPr/>
        </p:nvSpPr>
        <p:spPr>
          <a:xfrm>
            <a:off x="548640" y="4937760"/>
            <a:ext cx="11091672" cy="1188720"/>
          </a:xfrm>
          <a:prstGeom prst="roundRect">
            <a:avLst>
              <a:gd name="adj" fmla="val 7692"/>
            </a:avLst>
          </a:prstGeom>
          <a:solidFill>
            <a:srgbClr val="081628"/>
          </a:solidFill>
          <a:ln w="12700">
            <a:solidFill>
              <a:srgbClr val="1E3F6F"/>
            </a:solidFill>
            <a:prstDash val="solid"/>
          </a:ln>
        </p:spPr>
        <p:txBody>
          <a:bodyPr/>
          <a:lstStyle/>
          <a:p>
            <a:endParaRPr lang="en-US"/>
          </a:p>
        </p:txBody>
      </p:sp>
      <p:sp>
        <p:nvSpPr>
          <p:cNvPr id="10" name="Text 8"/>
          <p:cNvSpPr txBox="1"/>
          <p:nvPr/>
        </p:nvSpPr>
        <p:spPr>
          <a:xfrm>
            <a:off x="777240" y="5074920"/>
            <a:ext cx="10634472" cy="91440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&gt; Create a CLAUDE.md for this project: what it is, how to run and test it,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and the conventions you see in the code. (or just type /init)</a:t>
            </a:r>
            <a:endParaRPr lang="en-US" sz="1600" dirty="0"/>
          </a:p>
        </p:txBody>
      </p:sp>
      <p:sp>
        <p:nvSpPr>
          <p:cNvPr id="11"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Skills, rules, hooks, agents</a:t>
            </a:r>
            <a:r>
              <a:rPr lang="en-US" sz="3000" b="1" dirty="0">
                <a:solidFill>
                  <a:srgbClr val="F2F6FC"/>
                </a:solidFill>
                <a:latin typeface="Calibri" pitchFamily="34" charset="0"/>
                <a:ea typeface="Calibri" pitchFamily="34" charset="-122"/>
                <a:cs typeface="Calibri" pitchFamily="34" charset="-120"/>
              </a:rPr>
              <a:t>: pick the right block</a:t>
            </a:r>
            <a:endParaRPr lang="en-US" sz="3000" dirty="0"/>
          </a:p>
        </p:txBody>
      </p:sp>
      <p:sp>
        <p:nvSpPr>
          <p:cNvPr id="3" name="Shape 1"/>
          <p:cNvSpPr/>
          <p:nvPr/>
        </p:nvSpPr>
        <p:spPr>
          <a:xfrm>
            <a:off x="548640"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Repeatable behavior</a:t>
            </a:r>
            <a:endParaRPr lang="en-US" sz="1600" dirty="0"/>
          </a:p>
        </p:txBody>
      </p:sp>
      <p:sp>
        <p:nvSpPr>
          <p:cNvPr id="5" name="Text 3"/>
          <p:cNvSpPr txBox="1"/>
          <p:nvPr/>
        </p:nvSpPr>
        <p:spPr>
          <a:xfrm>
            <a:off x="777240"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Skills</a:t>
            </a:r>
            <a:endParaRPr lang="en-US" sz="2800" dirty="0"/>
          </a:p>
        </p:txBody>
      </p:sp>
      <p:sp>
        <p:nvSpPr>
          <p:cNvPr id="6" name="Text 4"/>
          <p:cNvSpPr txBox="1"/>
          <p:nvPr/>
        </p:nvSpPr>
        <p:spPr>
          <a:xfrm>
            <a:off x="777240"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A playbook Claude loads when the task matches, or when you type /name.</a:t>
            </a:r>
            <a:endParaRPr lang="en-US" sz="1700" dirty="0"/>
          </a:p>
        </p:txBody>
      </p:sp>
      <p:sp>
        <p:nvSpPr>
          <p:cNvPr id="7" name="Shape 5"/>
          <p:cNvSpPr/>
          <p:nvPr/>
        </p:nvSpPr>
        <p:spPr>
          <a:xfrm>
            <a:off x="3390138"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8" name="Text 6"/>
          <p:cNvSpPr txBox="1"/>
          <p:nvPr/>
        </p:nvSpPr>
        <p:spPr>
          <a:xfrm>
            <a:off x="3618738"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Isolated behavior</a:t>
            </a:r>
            <a:endParaRPr lang="en-US" sz="1600" dirty="0"/>
          </a:p>
        </p:txBody>
      </p:sp>
      <p:sp>
        <p:nvSpPr>
          <p:cNvPr id="9" name="Text 7"/>
          <p:cNvSpPr txBox="1"/>
          <p:nvPr/>
        </p:nvSpPr>
        <p:spPr>
          <a:xfrm>
            <a:off x="3618738"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Rules</a:t>
            </a:r>
            <a:endParaRPr lang="en-US" sz="2800" dirty="0"/>
          </a:p>
        </p:txBody>
      </p:sp>
      <p:sp>
        <p:nvSpPr>
          <p:cNvPr id="10" name="Text 8"/>
          <p:cNvSpPr txBox="1"/>
          <p:nvPr/>
        </p:nvSpPr>
        <p:spPr>
          <a:xfrm>
            <a:off x="3618738"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Small focused instruction files, optionally scoped to certain files.</a:t>
            </a:r>
            <a:endParaRPr lang="en-US" sz="1700" dirty="0"/>
          </a:p>
        </p:txBody>
      </p:sp>
      <p:sp>
        <p:nvSpPr>
          <p:cNvPr id="11" name="Shape 9"/>
          <p:cNvSpPr/>
          <p:nvPr/>
        </p:nvSpPr>
        <p:spPr>
          <a:xfrm>
            <a:off x="6231636"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2" name="Text 10"/>
          <p:cNvSpPr txBox="1"/>
          <p:nvPr/>
        </p:nvSpPr>
        <p:spPr>
          <a:xfrm>
            <a:off x="6460236"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Mandatory behavior</a:t>
            </a:r>
            <a:endParaRPr lang="en-US" sz="1600" dirty="0"/>
          </a:p>
        </p:txBody>
      </p:sp>
      <p:sp>
        <p:nvSpPr>
          <p:cNvPr id="13" name="Text 11"/>
          <p:cNvSpPr txBox="1"/>
          <p:nvPr/>
        </p:nvSpPr>
        <p:spPr>
          <a:xfrm>
            <a:off x="6460236"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Hooks</a:t>
            </a:r>
            <a:endParaRPr lang="en-US" sz="2800" dirty="0"/>
          </a:p>
        </p:txBody>
      </p:sp>
      <p:sp>
        <p:nvSpPr>
          <p:cNvPr id="14" name="Text 12"/>
          <p:cNvSpPr txBox="1"/>
          <p:nvPr/>
        </p:nvSpPr>
        <p:spPr>
          <a:xfrm>
            <a:off x="6460236"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Commands that run automatically on events. Guaranteed, not suggested.</a:t>
            </a:r>
            <a:endParaRPr lang="en-US" sz="1700" dirty="0"/>
          </a:p>
        </p:txBody>
      </p:sp>
      <p:sp>
        <p:nvSpPr>
          <p:cNvPr id="15" name="Shape 13"/>
          <p:cNvSpPr/>
          <p:nvPr/>
        </p:nvSpPr>
        <p:spPr>
          <a:xfrm>
            <a:off x="9073134"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6" name="Text 14"/>
          <p:cNvSpPr txBox="1"/>
          <p:nvPr/>
        </p:nvSpPr>
        <p:spPr>
          <a:xfrm>
            <a:off x="9301734"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Delegated work</a:t>
            </a:r>
            <a:endParaRPr lang="en-US" sz="1600" dirty="0"/>
          </a:p>
        </p:txBody>
      </p:sp>
      <p:sp>
        <p:nvSpPr>
          <p:cNvPr id="17" name="Text 15"/>
          <p:cNvSpPr txBox="1"/>
          <p:nvPr/>
        </p:nvSpPr>
        <p:spPr>
          <a:xfrm>
            <a:off x="9301734"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Agents</a:t>
            </a:r>
            <a:endParaRPr lang="en-US" sz="2800" dirty="0"/>
          </a:p>
        </p:txBody>
      </p:sp>
      <p:sp>
        <p:nvSpPr>
          <p:cNvPr id="18" name="Text 16"/>
          <p:cNvSpPr txBox="1"/>
          <p:nvPr/>
        </p:nvSpPr>
        <p:spPr>
          <a:xfrm>
            <a:off x="9301734"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Specialist helpers with their own context, tools and model.</a:t>
            </a:r>
            <a:endParaRPr lang="en-US" sz="1700" dirty="0"/>
          </a:p>
        </p:txBody>
      </p:sp>
      <p:sp>
        <p:nvSpPr>
          <p:cNvPr id="19" name="Text 17"/>
          <p:cNvSpPr txBox="1"/>
          <p:nvPr/>
        </p:nvSpPr>
        <p:spPr>
          <a:xfrm>
            <a:off x="548640" y="5760720"/>
            <a:ext cx="11091672" cy="411480"/>
          </a:xfrm>
          <a:prstGeom prst="rect">
            <a:avLst/>
          </a:prstGeom>
          <a:noFill/>
          <a:ln/>
        </p:spPr>
        <p:txBody>
          <a:bodyPr wrap="square" lIns="0" tIns="0" rIns="0" bIns="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CLAUDE.md = always-on context. These four = on-demand or automatic behavior.</a:t>
            </a:r>
            <a:endParaRPr lang="en-US" sz="1800" dirty="0"/>
          </a:p>
        </p:txBody>
      </p:sp>
      <p:sp>
        <p:nvSpPr>
          <p:cNvPr id="20"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a:solidFill>
                  <a:srgbClr val="F2F6FC"/>
                </a:solidFill>
                <a:latin typeface="Calibri" pitchFamily="34" charset="0"/>
                <a:ea typeface="Calibri" pitchFamily="34" charset="-122"/>
                <a:cs typeface="Calibri" pitchFamily="34" charset="-120"/>
              </a:rPr>
              <a:t>Example of my </a:t>
            </a:r>
            <a:r>
              <a:rPr lang="en-US" sz="3000" b="1" dirty="0">
                <a:solidFill>
                  <a:srgbClr val="F2F6FC"/>
                </a:solidFill>
                <a:latin typeface="Calibri" pitchFamily="34" charset="0"/>
                <a:ea typeface="Calibri" pitchFamily="34" charset="-122"/>
                <a:cs typeface="Calibri" pitchFamily="34" charset="-120"/>
              </a:rPr>
              <a:t>skills: Claude wrote them, and I keep asking it to edit them</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3538728"/>
        </p:xfrm>
        <a:graphic>
          <a:graphicData uri="http://schemas.openxmlformats.org/drawingml/2006/table">
            <a:tbl>
              <a:tblPr/>
              <a:tblGrid>
                <a:gridCol w="3474720">
                  <a:extLst>
                    <a:ext uri="{9D8B030D-6E8A-4147-A177-3AD203B41FA5}">
                      <a16:colId xmlns:a16="http://schemas.microsoft.com/office/drawing/2014/main" val="20000"/>
                    </a:ext>
                  </a:extLst>
                </a:gridCol>
                <a:gridCol w="7616952">
                  <a:extLst>
                    <a:ext uri="{9D8B030D-6E8A-4147-A177-3AD203B41FA5}">
                      <a16:colId xmlns:a16="http://schemas.microsoft.com/office/drawing/2014/main" val="20001"/>
                    </a:ext>
                  </a:extLst>
                </a:gridCol>
              </a:tblGrid>
              <a:tr h="393192">
                <a:tc>
                  <a:txBody>
                    <a:bodyPr/>
                    <a:lstStyle/>
                    <a:p>
                      <a:pPr marL="0" indent="0">
                        <a:buNone/>
                      </a:pPr>
                      <a:r>
                        <a:rPr lang="en-US" sz="1600" b="1" dirty="0">
                          <a:solidFill>
                            <a:srgbClr val="0B1F3A"/>
                          </a:solidFill>
                          <a:latin typeface="Calibri" pitchFamily="34" charset="0"/>
                          <a:ea typeface="Calibri" pitchFamily="34" charset="-122"/>
                          <a:cs typeface="Calibri" pitchFamily="34" charset="-120"/>
                        </a:rPr>
                        <a:t>Skill</a:t>
                      </a:r>
                      <a:endParaRPr lang="en-US" sz="16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38BDF8"/>
                    </a:solidFill>
                  </a:tcPr>
                </a:tc>
                <a:tc>
                  <a:txBody>
                    <a:bodyPr/>
                    <a:lstStyle/>
                    <a:p>
                      <a:pPr marL="0" indent="0">
                        <a:buNone/>
                      </a:pPr>
                      <a:r>
                        <a:rPr lang="en-US" sz="1600" b="1" dirty="0">
                          <a:solidFill>
                            <a:srgbClr val="0B1F3A"/>
                          </a:solidFill>
                          <a:latin typeface="Calibri" pitchFamily="34" charset="0"/>
                          <a:ea typeface="Calibri" pitchFamily="34" charset="-122"/>
                          <a:cs typeface="Calibri" pitchFamily="34" charset="-120"/>
                        </a:rPr>
                        <a:t>What it does</a:t>
                      </a:r>
                      <a:endParaRPr lang="en-US" sz="16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38BDF8"/>
                    </a:solidFill>
                  </a:tcPr>
                </a:tc>
                <a:extLst>
                  <a:ext uri="{0D108BD9-81ED-4DB2-BD59-A6C34878D82A}">
                    <a16:rowId xmlns:a16="http://schemas.microsoft.com/office/drawing/2014/main" val="10000"/>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initialize-project</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After the talk: README, diagrams, decisions, plans/, progress.md and folders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1"/>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create-notebook</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Builds local or Kaggle Jupyter notebooks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2"/>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create-tests / run-tests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Writes tests; runs pytest + ruff + mypy like CI</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3"/>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create-cli</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Adds a small CLI plus a CLI.md on how to run it</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4"/>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create-ppt-presentation</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Plans and builds a .pptx deck (like this one)</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5"/>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create-video</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Narrated explainer video from a script (MP4)</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6"/>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git-flows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Checks GitHub identity, branch and commit conventions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7"/>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Non-code ideas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weekly-report, meeting-notes, email-in-my-voice: raw notes in, clean document out</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598301111"/>
                  </a:ext>
                </a:extLst>
              </a:tr>
            </a:tbl>
          </a:graphicData>
        </a:graphic>
      </p:graphicFrame>
      <p:sp>
        <p:nvSpPr>
          <p:cNvPr id="4" name="Text 1"/>
          <p:cNvSpPr txBox="1"/>
          <p:nvPr/>
        </p:nvSpPr>
        <p:spPr>
          <a:xfrm>
            <a:off x="548640" y="5897880"/>
            <a:ext cx="11091672" cy="365760"/>
          </a:xfrm>
          <a:prstGeom prst="rect">
            <a:avLst/>
          </a:prstGeom>
          <a:noFill/>
          <a:ln/>
        </p:spPr>
        <p:txBody>
          <a:bodyPr wrap="square" lIns="0" tIns="0" rIns="0" bIns="0" rtlCol="0" anchor="ctr"/>
          <a:lstStyle/>
          <a:p>
            <a:pPr marL="0" indent="0">
              <a:buNone/>
            </a:pPr>
            <a:r>
              <a:rPr lang="en-US" sz="1600" dirty="0">
                <a:solidFill>
                  <a:srgbClr val="5EEAD4"/>
                </a:solidFill>
                <a:latin typeface="Calibri" pitchFamily="34" charset="0"/>
                <a:ea typeface="Calibri" pitchFamily="34" charset="-122"/>
                <a:cs typeface="Calibri" pitchFamily="34" charset="-120"/>
              </a:rPr>
              <a:t>Ask: "Create a skill that does X every time I ask for Y". Later: "Edit that skill so it also Z".</a:t>
            </a:r>
            <a:endParaRPr lang="en-US" sz="1600" dirty="0"/>
          </a:p>
        </p:txBody>
      </p:sp>
      <p:sp>
        <p:nvSpPr>
          <p:cNvPr id="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Agents</a:t>
            </a:r>
            <a:r>
              <a:rPr lang="en-US" sz="3000" b="1" dirty="0">
                <a:solidFill>
                  <a:srgbClr val="F2F6FC"/>
                </a:solidFill>
                <a:latin typeface="Calibri" pitchFamily="34" charset="0"/>
                <a:ea typeface="Calibri" pitchFamily="34" charset="-122"/>
                <a:cs typeface="Calibri" pitchFamily="34" charset="-120"/>
              </a:rPr>
              <a:t>: a markdown file in .claude/agents/</a:t>
            </a:r>
            <a:endParaRPr lang="en-US" sz="3000" dirty="0"/>
          </a:p>
        </p:txBody>
      </p:sp>
      <p:sp>
        <p:nvSpPr>
          <p:cNvPr id="3" name="Shape 1"/>
          <p:cNvSpPr/>
          <p:nvPr/>
        </p:nvSpPr>
        <p:spPr>
          <a:xfrm>
            <a:off x="548640" y="1645920"/>
            <a:ext cx="5394960" cy="2743200"/>
          </a:xfrm>
          <a:prstGeom prst="roundRect">
            <a:avLst>
              <a:gd name="adj" fmla="val 3333"/>
            </a:avLst>
          </a:prstGeom>
          <a:solidFill>
            <a:srgbClr val="081628"/>
          </a:solidFill>
          <a:ln w="12700">
            <a:solidFill>
              <a:srgbClr val="1E3F6F"/>
            </a:solidFill>
            <a:prstDash val="solid"/>
          </a:ln>
        </p:spPr>
        <p:txBody>
          <a:bodyPr/>
          <a:lstStyle/>
          <a:p>
            <a:endParaRPr lang="en-US"/>
          </a:p>
        </p:txBody>
      </p:sp>
      <p:sp>
        <p:nvSpPr>
          <p:cNvPr id="4" name="Text 2"/>
          <p:cNvSpPr txBox="1"/>
          <p:nvPr/>
        </p:nvSpPr>
        <p:spPr>
          <a:xfrm>
            <a:off x="777240" y="1783080"/>
            <a:ext cx="4937760" cy="246888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name: summarizer</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description: Summarize files in 5 bullets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tools: Read, Grep, Glob</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model: haiku</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You read the given files and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return a 5-bullet summary.</a:t>
            </a:r>
            <a:endParaRPr lang="en-US" sz="1600" dirty="0"/>
          </a:p>
        </p:txBody>
      </p:sp>
      <p:sp>
        <p:nvSpPr>
          <p:cNvPr id="5" name="Text 3"/>
          <p:cNvSpPr txBox="1"/>
          <p:nvPr/>
        </p:nvSpPr>
        <p:spPr>
          <a:xfrm>
            <a:off x="548640" y="4572000"/>
            <a:ext cx="5394960" cy="457200"/>
          </a:xfrm>
          <a:prstGeom prst="rect">
            <a:avLst/>
          </a:prstGeom>
          <a:noFill/>
          <a:ln/>
        </p:spPr>
        <p:txBody>
          <a:bodyPr wrap="square" lIns="0" tIns="0" rIns="0" bIns="0" rtlCol="0" anchor="ctr"/>
          <a:lstStyle/>
          <a:p>
            <a:pPr marL="0" indent="0">
              <a:buNone/>
            </a:pPr>
            <a:r>
              <a:rPr lang="en-US" sz="1600" dirty="0">
                <a:solidFill>
                  <a:srgbClr val="5EEAD4"/>
                </a:solidFill>
                <a:latin typeface="Calibri" pitchFamily="34" charset="0"/>
                <a:ea typeface="Calibri" pitchFamily="34" charset="-122"/>
                <a:cs typeface="Calibri" pitchFamily="34" charset="-120"/>
              </a:rPr>
              <a:t>Ask Claude to write it, or use /agents</a:t>
            </a:r>
            <a:endParaRPr lang="en-US" sz="1600" dirty="0"/>
          </a:p>
        </p:txBody>
      </p:sp>
      <p:sp>
        <p:nvSpPr>
          <p:cNvPr id="6" name="Shape 4"/>
          <p:cNvSpPr/>
          <p:nvPr/>
        </p:nvSpPr>
        <p:spPr>
          <a:xfrm>
            <a:off x="6245352" y="1645920"/>
            <a:ext cx="5394960"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7" name="Text 5"/>
          <p:cNvSpPr txBox="1"/>
          <p:nvPr/>
        </p:nvSpPr>
        <p:spPr>
          <a:xfrm>
            <a:off x="6473952" y="1828800"/>
            <a:ext cx="49377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Built-in agents</a:t>
            </a:r>
            <a:endParaRPr lang="en-US" sz="2000" dirty="0"/>
          </a:p>
        </p:txBody>
      </p:sp>
      <p:sp>
        <p:nvSpPr>
          <p:cNvPr id="8" name="Text 6"/>
          <p:cNvSpPr txBox="1"/>
          <p:nvPr/>
        </p:nvSpPr>
        <p:spPr>
          <a:xfrm>
            <a:off x="6473952" y="2331720"/>
            <a:ext cx="493776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Explore: fast read-only search</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Plan: designs an approach</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General-purpose: multi-step work</a:t>
            </a:r>
            <a:endParaRPr lang="en-US" sz="1600" dirty="0"/>
          </a:p>
        </p:txBody>
      </p:sp>
      <p:sp>
        <p:nvSpPr>
          <p:cNvPr id="9" name="Shape 7"/>
          <p:cNvSpPr/>
          <p:nvPr/>
        </p:nvSpPr>
        <p:spPr>
          <a:xfrm>
            <a:off x="6245352" y="3931920"/>
            <a:ext cx="5394960" cy="2194560"/>
          </a:xfrm>
          <a:prstGeom prst="roundRect">
            <a:avLst>
              <a:gd name="adj" fmla="val 5000"/>
            </a:avLst>
          </a:prstGeom>
          <a:solidFill>
            <a:srgbClr val="12305A"/>
          </a:solidFill>
          <a:ln w="12700">
            <a:solidFill>
              <a:srgbClr val="12305A"/>
            </a:solidFill>
            <a:prstDash val="solid"/>
          </a:ln>
        </p:spPr>
        <p:txBody>
          <a:bodyPr/>
          <a:lstStyle/>
          <a:p>
            <a:endParaRPr lang="en-US"/>
          </a:p>
        </p:txBody>
      </p:sp>
      <p:sp>
        <p:nvSpPr>
          <p:cNvPr id="10" name="Text 8"/>
          <p:cNvSpPr txBox="1"/>
          <p:nvPr/>
        </p:nvSpPr>
        <p:spPr>
          <a:xfrm>
            <a:off x="6473952" y="4114800"/>
            <a:ext cx="49377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How to call them</a:t>
            </a:r>
            <a:endParaRPr lang="en-US" sz="2000" dirty="0"/>
          </a:p>
        </p:txBody>
      </p:sp>
      <p:sp>
        <p:nvSpPr>
          <p:cNvPr id="11" name="Text 9"/>
          <p:cNvSpPr txBox="1"/>
          <p:nvPr/>
        </p:nvSpPr>
        <p:spPr>
          <a:xfrm>
            <a:off x="6473952" y="461772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@agent-summarizer in the chat</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 --agent coordinator for the whole session</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Or just ask: Claude delegates by itself</a:t>
            </a:r>
            <a:endParaRPr lang="en-US" sz="1600" dirty="0"/>
          </a:p>
        </p:txBody>
      </p:sp>
      <p:sp>
        <p:nvSpPr>
          <p:cNvPr id="1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Hooks and settings</a:t>
            </a:r>
            <a:r>
              <a:rPr lang="en-US" sz="3000" b="1" dirty="0">
                <a:solidFill>
                  <a:srgbClr val="F2F6FC"/>
                </a:solidFill>
                <a:latin typeface="Calibri" pitchFamily="34" charset="0"/>
                <a:ea typeface="Calibri" pitchFamily="34" charset="-122"/>
                <a:cs typeface="Calibri" pitchFamily="34" charset="-120"/>
              </a:rPr>
              <a:t>: get a push notification when Claude finishes</a:t>
            </a:r>
            <a:endParaRPr lang="en-US" sz="3000" dirty="0"/>
          </a:p>
        </p:txBody>
      </p:sp>
      <p:sp>
        <p:nvSpPr>
          <p:cNvPr id="3" name="Shape 1"/>
          <p:cNvSpPr/>
          <p:nvPr/>
        </p:nvSpPr>
        <p:spPr>
          <a:xfrm>
            <a:off x="548640" y="1645920"/>
            <a:ext cx="5669280" cy="3840480"/>
          </a:xfrm>
          <a:prstGeom prst="roundRect">
            <a:avLst>
              <a:gd name="adj" fmla="val 2381"/>
            </a:avLst>
          </a:prstGeom>
          <a:solidFill>
            <a:srgbClr val="081628"/>
          </a:solidFill>
          <a:ln w="12700">
            <a:solidFill>
              <a:srgbClr val="1E3F6F"/>
            </a:solidFill>
            <a:prstDash val="solid"/>
          </a:ln>
        </p:spPr>
        <p:txBody>
          <a:bodyPr/>
          <a:lstStyle/>
          <a:p>
            <a:endParaRPr lang="en-US"/>
          </a:p>
        </p:txBody>
      </p:sp>
      <p:sp>
        <p:nvSpPr>
          <p:cNvPr id="4" name="Text 2"/>
          <p:cNvSpPr txBox="1"/>
          <p:nvPr/>
        </p:nvSpPr>
        <p:spPr>
          <a:xfrm>
            <a:off x="777240" y="1783080"/>
            <a:ext cx="5212080" cy="3566160"/>
          </a:xfrm>
          <a:prstGeom prst="rect">
            <a:avLst/>
          </a:prstGeom>
          <a:noFill/>
          <a:ln/>
        </p:spPr>
        <p:txBody>
          <a:bodyPr wrap="square" lIns="0" tIns="0" rIns="0" bIns="0" rtlCol="0" anchor="t"/>
          <a:lstStyle/>
          <a:p>
            <a:pPr marL="0" indent="0">
              <a:buNone/>
            </a:pPr>
            <a:r>
              <a:rPr lang="en-US" sz="1400" dirty="0">
                <a:solidFill>
                  <a:srgbClr val="F2F6FC"/>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"hooks":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"Stop":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"hooks":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"type": "command",</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"command": "&lt;your notify script&gt;"</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a:t>
            </a:r>
            <a:endParaRPr lang="en-US" sz="1400" dirty="0"/>
          </a:p>
        </p:txBody>
      </p:sp>
      <p:sp>
        <p:nvSpPr>
          <p:cNvPr id="5" name="Text 3"/>
          <p:cNvSpPr txBox="1"/>
          <p:nvPr/>
        </p:nvSpPr>
        <p:spPr>
          <a:xfrm>
            <a:off x="548640" y="5623560"/>
            <a:ext cx="5669280" cy="457200"/>
          </a:xfrm>
          <a:prstGeom prst="rect">
            <a:avLst/>
          </a:prstGeom>
          <a:noFill/>
          <a:ln/>
        </p:spPr>
        <p:txBody>
          <a:bodyPr wrap="square" lIns="0" tIns="0" rIns="0" bIns="0" rtlCol="0" anchor="ctr"/>
          <a:lstStyle/>
          <a:p>
            <a:pPr marL="0" indent="0">
              <a:buNone/>
            </a:pPr>
            <a:r>
              <a:rPr lang="en-US" sz="1600" dirty="0">
                <a:solidFill>
                  <a:srgbClr val="A9BCD6"/>
                </a:solidFill>
                <a:latin typeface="Calibri" pitchFamily="34" charset="0"/>
                <a:ea typeface="Calibri" pitchFamily="34" charset="-122"/>
                <a:cs typeface="Calibri" pitchFamily="34" charset="-120"/>
              </a:rPr>
              <a:t>Events: Stop, Notification, PreToolUse...</a:t>
            </a:r>
            <a:endParaRPr lang="en-US" sz="1600" dirty="0"/>
          </a:p>
        </p:txBody>
      </p:sp>
      <p:sp>
        <p:nvSpPr>
          <p:cNvPr id="6" name="Shape 4"/>
          <p:cNvSpPr/>
          <p:nvPr/>
        </p:nvSpPr>
        <p:spPr>
          <a:xfrm>
            <a:off x="6492240" y="1645920"/>
            <a:ext cx="5148072" cy="2286000"/>
          </a:xfrm>
          <a:prstGeom prst="roundRect">
            <a:avLst>
              <a:gd name="adj" fmla="val 4800"/>
            </a:avLst>
          </a:prstGeom>
          <a:solidFill>
            <a:srgbClr val="12305A"/>
          </a:solidFill>
          <a:ln w="12700">
            <a:solidFill>
              <a:srgbClr val="12305A"/>
            </a:solidFill>
            <a:prstDash val="solid"/>
          </a:ln>
        </p:spPr>
        <p:txBody>
          <a:bodyPr/>
          <a:lstStyle/>
          <a:p>
            <a:endParaRPr lang="en-US"/>
          </a:p>
        </p:txBody>
      </p:sp>
      <p:sp>
        <p:nvSpPr>
          <p:cNvPr id="7" name="Text 5"/>
          <p:cNvSpPr txBox="1"/>
          <p:nvPr/>
        </p:nvSpPr>
        <p:spPr>
          <a:xfrm>
            <a:off x="6720840" y="1828800"/>
            <a:ext cx="4690872"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Settings levels</a:t>
            </a:r>
            <a:endParaRPr lang="en-US" sz="2000" dirty="0"/>
          </a:p>
        </p:txBody>
      </p:sp>
      <p:sp>
        <p:nvSpPr>
          <p:cNvPr id="8" name="Text 6"/>
          <p:cNvSpPr txBox="1"/>
          <p:nvPr/>
        </p:nvSpPr>
        <p:spPr>
          <a:xfrm>
            <a:off x="6720840" y="2331720"/>
            <a:ext cx="4690872"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~/.claude/settings.json: all projects</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.claude/settings.json: this project, shared</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.claude/settings.local.json: just you</a:t>
            </a:r>
            <a:endParaRPr lang="en-US" sz="1600" dirty="0"/>
          </a:p>
        </p:txBody>
      </p:sp>
      <p:sp>
        <p:nvSpPr>
          <p:cNvPr id="9" name="Shape 7"/>
          <p:cNvSpPr/>
          <p:nvPr/>
        </p:nvSpPr>
        <p:spPr>
          <a:xfrm>
            <a:off x="6492240" y="4114800"/>
            <a:ext cx="5148072" cy="2011680"/>
          </a:xfrm>
          <a:prstGeom prst="roundRect">
            <a:avLst>
              <a:gd name="adj" fmla="val 5455"/>
            </a:avLst>
          </a:prstGeom>
          <a:solidFill>
            <a:srgbClr val="12305A"/>
          </a:solidFill>
          <a:ln w="12700">
            <a:solidFill>
              <a:srgbClr val="12305A"/>
            </a:solidFill>
            <a:prstDash val="solid"/>
          </a:ln>
        </p:spPr>
        <p:txBody>
          <a:bodyPr/>
          <a:lstStyle/>
          <a:p>
            <a:endParaRPr lang="en-US"/>
          </a:p>
        </p:txBody>
      </p:sp>
      <p:sp>
        <p:nvSpPr>
          <p:cNvPr id="10" name="Text 8"/>
          <p:cNvSpPr txBox="1"/>
          <p:nvPr/>
        </p:nvSpPr>
        <p:spPr>
          <a:xfrm>
            <a:off x="6720840" y="4297680"/>
            <a:ext cx="4690872"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Easiest way</a:t>
            </a:r>
            <a:endParaRPr lang="en-US" sz="2000" dirty="0"/>
          </a:p>
        </p:txBody>
      </p:sp>
      <p:sp>
        <p:nvSpPr>
          <p:cNvPr id="11" name="Text 9"/>
          <p:cNvSpPr txBox="1"/>
          <p:nvPr/>
        </p:nvSpPr>
        <p:spPr>
          <a:xfrm>
            <a:off x="6720840" y="4800600"/>
            <a:ext cx="4690872" cy="11887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Ask: "Add a hook that notifies me when you finish"</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Use /hooks to see what's active</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Handy for any long job: a report, a research run</a:t>
            </a:r>
            <a:endParaRPr lang="en-US" sz="1600" dirty="0"/>
          </a:p>
        </p:txBody>
      </p:sp>
      <p:sp>
        <p:nvSpPr>
          <p:cNvPr id="1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822960" y="2697480"/>
            <a:ext cx="1371600" cy="1371600"/>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6000" b="1" i="0">
                <a:solidFill>
                  <a:srgbClr val="0B1F3A"/>
                </a:solidFill>
                <a:latin typeface="Calibri"/>
              </a:rPr>
              <a:t>3</a:t>
            </a:r>
          </a:p>
        </p:txBody>
      </p:sp>
      <p:sp>
        <p:nvSpPr>
          <p:cNvPr id="3" name="TextBox 2"/>
          <p:cNvSpPr txBox="1"/>
          <p:nvPr/>
        </p:nvSpPr>
        <p:spPr>
          <a:xfrm>
            <a:off x="2514600" y="2514600"/>
            <a:ext cx="4206240" cy="822960"/>
          </a:xfrm>
          <a:prstGeom prst="rect">
            <a:avLst/>
          </a:prstGeom>
          <a:noFill/>
        </p:spPr>
        <p:txBody>
          <a:bodyPr wrap="square" lIns="0" tIns="0" rIns="0" bIns="0" anchor="ctr">
            <a:spAutoFit/>
          </a:bodyPr>
          <a:lstStyle/>
          <a:p>
            <a:pPr marL="0" indent="0">
              <a:buNone/>
            </a:pPr>
            <a:r>
              <a:rPr sz="4800" b="1" i="0">
                <a:solidFill>
                  <a:srgbClr val="F2F6FC"/>
                </a:solidFill>
                <a:latin typeface="Calibri"/>
              </a:rPr>
              <a:t>Orchestrate</a:t>
            </a:r>
          </a:p>
        </p:txBody>
      </p:sp>
      <p:sp>
        <p:nvSpPr>
          <p:cNvPr id="4" name="TextBox 3"/>
          <p:cNvSpPr txBox="1"/>
          <p:nvPr/>
        </p:nvSpPr>
        <p:spPr>
          <a:xfrm>
            <a:off x="2514600" y="3474720"/>
            <a:ext cx="4023360" cy="1097280"/>
          </a:xfrm>
          <a:prstGeom prst="rect">
            <a:avLst/>
          </a:prstGeom>
          <a:noFill/>
        </p:spPr>
        <p:txBody>
          <a:bodyPr wrap="square" lIns="0" tIns="0" rIns="0" bIns="0" anchor="t">
            <a:spAutoFit/>
          </a:bodyPr>
          <a:lstStyle/>
          <a:p>
            <a:pPr marL="0" indent="0">
              <a:buNone/>
            </a:pPr>
            <a:r>
              <a:rPr sz="2200" b="0" i="0">
                <a:solidFill>
                  <a:srgbClr val="A9BCD6"/>
                </a:solidFill>
                <a:latin typeface="Calibri"/>
              </a:rPr>
              <a:t>The </a:t>
            </a:r>
            <a:r>
              <a:rPr sz="2200" b="1" i="0">
                <a:solidFill>
                  <a:srgbClr val="FF8A2B"/>
                </a:solidFill>
                <a:latin typeface="Calibri"/>
              </a:rPr>
              <a:t>Ralph loop</a:t>
            </a:r>
            <a:r>
              <a:rPr sz="2200" b="0" i="0">
                <a:solidFill>
                  <a:srgbClr val="A9BCD6"/>
                </a:solidFill>
                <a:latin typeface="Calibri"/>
              </a:rPr>
              <a:t>: plan, progress.md, verify, repeat</a:t>
            </a:r>
          </a:p>
        </p:txBody>
      </p:sp>
      <p:sp>
        <p:nvSpPr>
          <p:cNvPr id="5" name="Rounded Rectangle 4"/>
          <p:cNvSpPr/>
          <p:nvPr/>
        </p:nvSpPr>
        <p:spPr>
          <a:xfrm>
            <a:off x="6858000" y="1280160"/>
            <a:ext cx="4782312" cy="4297680"/>
          </a:xfrm>
          <a:prstGeom prst="roundRect">
            <a:avLst>
              <a:gd name="adj" fmla="val 319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132320" y="1508760"/>
            <a:ext cx="4206240" cy="365760"/>
          </a:xfrm>
          <a:prstGeom prst="rect">
            <a:avLst/>
          </a:prstGeom>
          <a:noFill/>
        </p:spPr>
        <p:txBody>
          <a:bodyPr wrap="square" lIns="0" tIns="0" rIns="0" bIns="0" anchor="t">
            <a:spAutoFit/>
          </a:bodyPr>
          <a:lstStyle/>
          <a:p>
            <a:pPr marL="0" indent="0">
              <a:buNone/>
            </a:pPr>
            <a:r>
              <a:rPr sz="1800" b="1" i="0">
                <a:solidFill>
                  <a:srgbClr val="38BDF8"/>
                </a:solidFill>
                <a:latin typeface="Calibri"/>
              </a:rPr>
              <a:t>The Ralph loop, my way</a:t>
            </a:r>
          </a:p>
        </p:txBody>
      </p:sp>
      <p:sp>
        <p:nvSpPr>
          <p:cNvPr id="7" name="Oval 6"/>
          <p:cNvSpPr/>
          <p:nvPr/>
        </p:nvSpPr>
        <p:spPr>
          <a:xfrm>
            <a:off x="7132320" y="20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1</a:t>
            </a:r>
          </a:p>
        </p:txBody>
      </p:sp>
      <p:sp>
        <p:nvSpPr>
          <p:cNvPr id="8" name="TextBox 7"/>
          <p:cNvSpPr txBox="1"/>
          <p:nvPr/>
        </p:nvSpPr>
        <p:spPr>
          <a:xfrm>
            <a:off x="7699248" y="20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Add documents to docs/ and data/</a:t>
            </a:r>
          </a:p>
        </p:txBody>
      </p:sp>
      <p:sp>
        <p:nvSpPr>
          <p:cNvPr id="9" name="Oval 8"/>
          <p:cNvSpPr/>
          <p:nvPr/>
        </p:nvSpPr>
        <p:spPr>
          <a:xfrm>
            <a:off x="7132320" y="25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2</a:t>
            </a:r>
          </a:p>
        </p:txBody>
      </p:sp>
      <p:sp>
        <p:nvSpPr>
          <p:cNvPr id="10" name="TextBox 9"/>
          <p:cNvSpPr txBox="1"/>
          <p:nvPr/>
        </p:nvSpPr>
        <p:spPr>
          <a:xfrm>
            <a:off x="7699248" y="25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Talk the problem: ideas, doubts, decisions</a:t>
            </a:r>
          </a:p>
        </p:txBody>
      </p:sp>
      <p:sp>
        <p:nvSpPr>
          <p:cNvPr id="11" name="Oval 10"/>
          <p:cNvSpPr/>
          <p:nvPr/>
        </p:nvSpPr>
        <p:spPr>
          <a:xfrm>
            <a:off x="7132320" y="30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3</a:t>
            </a:r>
          </a:p>
        </p:txBody>
      </p:sp>
      <p:sp>
        <p:nvSpPr>
          <p:cNvPr id="12" name="TextBox 11"/>
          <p:cNvSpPr txBox="1"/>
          <p:nvPr/>
        </p:nvSpPr>
        <p:spPr>
          <a:xfrm>
            <a:off x="7699248" y="30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Say "initialize": docs, folders, plans</a:t>
            </a:r>
          </a:p>
        </p:txBody>
      </p:sp>
      <p:sp>
        <p:nvSpPr>
          <p:cNvPr id="13" name="Oval 12"/>
          <p:cNvSpPr/>
          <p:nvPr/>
        </p:nvSpPr>
        <p:spPr>
          <a:xfrm>
            <a:off x="7132320" y="35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4</a:t>
            </a:r>
          </a:p>
        </p:txBody>
      </p:sp>
      <p:sp>
        <p:nvSpPr>
          <p:cNvPr id="14" name="TextBox 13"/>
          <p:cNvSpPr txBox="1"/>
          <p:nvPr/>
        </p:nvSpPr>
        <p:spPr>
          <a:xfrm>
            <a:off x="7699248" y="35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Detailed plan in plans/, numbered</a:t>
            </a:r>
          </a:p>
        </p:txBody>
      </p:sp>
      <p:sp>
        <p:nvSpPr>
          <p:cNvPr id="15" name="Oval 14"/>
          <p:cNvSpPr/>
          <p:nvPr/>
        </p:nvSpPr>
        <p:spPr>
          <a:xfrm>
            <a:off x="7132320" y="40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5</a:t>
            </a:r>
          </a:p>
        </p:txBody>
      </p:sp>
      <p:sp>
        <p:nvSpPr>
          <p:cNvPr id="16" name="TextBox 15"/>
          <p:cNvSpPr txBox="1"/>
          <p:nvPr/>
        </p:nvSpPr>
        <p:spPr>
          <a:xfrm>
            <a:off x="7699248" y="40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progress.md tracks everything</a:t>
            </a:r>
          </a:p>
        </p:txBody>
      </p:sp>
      <p:sp>
        <p:nvSpPr>
          <p:cNvPr id="17" name="Oval 16"/>
          <p:cNvSpPr/>
          <p:nvPr/>
        </p:nvSpPr>
        <p:spPr>
          <a:xfrm>
            <a:off x="7132320" y="45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6</a:t>
            </a:r>
          </a:p>
        </p:txBody>
      </p:sp>
      <p:sp>
        <p:nvSpPr>
          <p:cNvPr id="18" name="TextBox 17"/>
          <p:cNvSpPr txBox="1"/>
          <p:nvPr/>
        </p:nvSpPr>
        <p:spPr>
          <a:xfrm>
            <a:off x="7699248" y="45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Iterate: build, verify, self-correct</a:t>
            </a:r>
          </a:p>
        </p:txBody>
      </p:sp>
      <p:sp>
        <p:nvSpPr>
          <p:cNvPr id="30" name="Oval 16"/>
          <p:cNvSpPr/>
          <p:nvPr/>
        </p:nvSpPr>
        <p:spPr>
          <a:xfrm>
            <a:off x="7132320" y="50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7</a:t>
            </a:r>
          </a:p>
        </p:txBody>
      </p:sp>
      <p:sp>
        <p:nvSpPr>
          <p:cNvPr id="31" name="TextBox 17"/>
          <p:cNvSpPr txBox="1"/>
          <p:nvPr/>
        </p:nvSpPr>
        <p:spPr>
          <a:xfrm>
            <a:off x="7699248" y="50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Next phase, or many phases at once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2F6FC"/>
                </a:solidFill>
                <a:latin typeface="Calibri"/>
              </a:rPr>
              <a:t>The </a:t>
            </a:r>
            <a:r>
              <a:rPr sz="3000" b="1" i="0">
                <a:solidFill>
                  <a:srgbClr val="FF8A2B"/>
                </a:solidFill>
                <a:latin typeface="Calibri"/>
              </a:rPr>
              <a:t>Ralph loop</a:t>
            </a:r>
            <a:r>
              <a:rPr sz="3000" b="1" i="0">
                <a:solidFill>
                  <a:srgbClr val="F2F6FC"/>
                </a:solidFill>
                <a:latin typeface="Calibri"/>
              </a:rPr>
              <a:t>: keep looping until the gates pass</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16</a:t>
            </a:fld>
            <a:endParaRPr lang="en-US"/>
          </a:p>
        </p:txBody>
      </p:sp>
      <p:sp>
        <p:nvSpPr>
          <p:cNvPr id="4" name="Rounded Rectangle 25"/>
          <p:cNvSpPr/>
          <p:nvPr/>
        </p:nvSpPr>
        <p:spPr>
          <a:xfrm>
            <a:off x="548640" y="1554480"/>
            <a:ext cx="4206240" cy="3840480"/>
          </a:xfrm>
          <a:prstGeom prst="roundRect">
            <a:avLst>
              <a:gd name="adj" fmla="val 357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3749039" cy="365760"/>
          </a:xfrm>
          <a:prstGeom prst="rect">
            <a:avLst/>
          </a:prstGeom>
          <a:noFill/>
        </p:spPr>
        <p:txBody>
          <a:bodyPr wrap="square" lIns="0" tIns="0" rIns="0" bIns="0" anchor="t">
            <a:spAutoFit/>
          </a:bodyPr>
          <a:lstStyle/>
          <a:p>
            <a:pPr marL="0" indent="0">
              <a:buNone/>
            </a:pPr>
            <a:r>
              <a:rPr sz="2000" b="1" i="0">
                <a:solidFill>
                  <a:srgbClr val="38BDF8"/>
                </a:solidFill>
                <a:latin typeface="Calibri"/>
              </a:rPr>
              <a:t>What it is</a:t>
            </a:r>
          </a:p>
        </p:txBody>
      </p:sp>
      <p:sp>
        <p:nvSpPr>
          <p:cNvPr id="6" name="TextBox 27"/>
          <p:cNvSpPr txBox="1"/>
          <p:nvPr/>
        </p:nvSpPr>
        <p:spPr>
          <a:xfrm>
            <a:off x="777240" y="2240280"/>
            <a:ext cx="3749039" cy="3108960"/>
          </a:xfrm>
          <a:prstGeom prst="rect">
            <a:avLst/>
          </a:prstGeom>
          <a:noFill/>
        </p:spPr>
        <p:txBody>
          <a:bodyPr wrap="square" lIns="0" tIns="0" rIns="0" bIns="0" anchor="t">
            <a:spAutoFit/>
          </a:bodyPr>
          <a:lstStyle/>
          <a:p>
            <a:pPr marL="228600" indent="-228600">
              <a:buChar char="•"/>
            </a:pPr>
            <a:r>
              <a:rPr sz="1600" b="0" i="0">
                <a:solidFill>
                  <a:srgbClr val="F2F6FC"/>
                </a:solidFill>
                <a:latin typeface="Calibri"/>
              </a:rPr>
              <a:t>Run the AI in a loop until the job is really done</a:t>
            </a:r>
          </a:p>
          <a:p>
            <a:pPr marL="228600" indent="-228600">
              <a:spcBef>
                <a:spcPts val="1000"/>
              </a:spcBef>
              <a:buChar char="•"/>
            </a:pPr>
            <a:r>
              <a:rPr sz="1600" b="0" i="0">
                <a:solidFill>
                  <a:srgbClr val="F2F6FC"/>
                </a:solidFill>
                <a:latin typeface="Calibri"/>
              </a:rPr>
              <a:t>Each pass starts clean: the memory lives in files, not in the chat</a:t>
            </a:r>
          </a:p>
          <a:p>
            <a:pPr marL="228600" indent="-228600">
              <a:spcBef>
                <a:spcPts val="1000"/>
              </a:spcBef>
              <a:buChar char="•"/>
            </a:pPr>
            <a:r>
              <a:rPr sz="1600" b="0" i="0">
                <a:solidFill>
                  <a:srgbClr val="F2F6FC"/>
                </a:solidFill>
                <a:latin typeface="Calibri"/>
              </a:rPr>
              <a:t>Mine adds three things: a written plan, exit gates, progress.md</a:t>
            </a:r>
          </a:p>
          <a:p>
            <a:pPr marL="228600" indent="-228600">
              <a:spcBef>
                <a:spcPts val="1000"/>
              </a:spcBef>
              <a:buChar char="•"/>
            </a:pPr>
            <a:r>
              <a:rPr sz="1600" b="0" i="0">
                <a:solidFill>
                  <a:srgbClr val="F2F6FC"/>
                </a:solidFill>
                <a:latin typeface="Calibri"/>
              </a:rPr>
              <a:t>Works for reports, research and data, not only code</a:t>
            </a:r>
          </a:p>
        </p:txBody>
      </p:sp>
      <p:sp>
        <p:nvSpPr>
          <p:cNvPr id="7" name="Rounded Rectangle 28"/>
          <p:cNvSpPr/>
          <p:nvPr/>
        </p:nvSpPr>
        <p:spPr>
          <a:xfrm>
            <a:off x="5029200" y="1554480"/>
            <a:ext cx="3017520" cy="1463040"/>
          </a:xfrm>
          <a:prstGeom prst="roundRect">
            <a:avLst>
              <a:gd name="adj" fmla="val 937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5257800" y="1737360"/>
            <a:ext cx="256032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1</a:t>
            </a:r>
          </a:p>
        </p:txBody>
      </p:sp>
      <p:sp>
        <p:nvSpPr>
          <p:cNvPr id="9" name="TextBox 30"/>
          <p:cNvSpPr txBox="1"/>
          <p:nvPr/>
        </p:nvSpPr>
        <p:spPr>
          <a:xfrm>
            <a:off x="5257800" y="2084831"/>
            <a:ext cx="256032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Read</a:t>
            </a:r>
          </a:p>
        </p:txBody>
      </p:sp>
      <p:sp>
        <p:nvSpPr>
          <p:cNvPr id="10" name="TextBox 31"/>
          <p:cNvSpPr txBox="1"/>
          <p:nvPr/>
        </p:nvSpPr>
        <p:spPr>
          <a:xfrm>
            <a:off x="5257800" y="2560320"/>
            <a:ext cx="2560320" cy="246888"/>
          </a:xfrm>
          <a:prstGeom prst="rect">
            <a:avLst/>
          </a:prstGeom>
          <a:noFill/>
        </p:spPr>
        <p:txBody>
          <a:bodyPr wrap="square" lIns="0" tIns="0" rIns="0" bIns="0" anchor="t">
            <a:spAutoFit/>
          </a:bodyPr>
          <a:lstStyle/>
          <a:p>
            <a:pPr marL="0" indent="0">
              <a:buNone/>
            </a:pPr>
            <a:r>
              <a:rPr sz="1500" b="0" i="0">
                <a:solidFill>
                  <a:srgbClr val="A9BCD6"/>
                </a:solidFill>
                <a:latin typeface="Calibri"/>
              </a:rPr>
              <a:t>The plan and progress.md: where am I, what is next?</a:t>
            </a:r>
          </a:p>
        </p:txBody>
      </p:sp>
      <p:sp>
        <p:nvSpPr>
          <p:cNvPr id="11" name="Rounded Rectangle 32"/>
          <p:cNvSpPr/>
          <p:nvPr/>
        </p:nvSpPr>
        <p:spPr>
          <a:xfrm>
            <a:off x="8622792" y="1554480"/>
            <a:ext cx="3017520" cy="1463040"/>
          </a:xfrm>
          <a:prstGeom prst="roundRect">
            <a:avLst>
              <a:gd name="adj" fmla="val 937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33"/>
          <p:cNvSpPr txBox="1"/>
          <p:nvPr/>
        </p:nvSpPr>
        <p:spPr>
          <a:xfrm>
            <a:off x="8851392" y="1737360"/>
            <a:ext cx="256032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2</a:t>
            </a:r>
          </a:p>
        </p:txBody>
      </p:sp>
      <p:sp>
        <p:nvSpPr>
          <p:cNvPr id="13" name="TextBox 34"/>
          <p:cNvSpPr txBox="1"/>
          <p:nvPr/>
        </p:nvSpPr>
        <p:spPr>
          <a:xfrm>
            <a:off x="8851392" y="2084831"/>
            <a:ext cx="256032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Do</a:t>
            </a:r>
          </a:p>
        </p:txBody>
      </p:sp>
      <p:sp>
        <p:nvSpPr>
          <p:cNvPr id="14" name="TextBox 35"/>
          <p:cNvSpPr txBox="1"/>
          <p:nvPr/>
        </p:nvSpPr>
        <p:spPr>
          <a:xfrm>
            <a:off x="8851392" y="2560320"/>
            <a:ext cx="2560320" cy="246888"/>
          </a:xfrm>
          <a:prstGeom prst="rect">
            <a:avLst/>
          </a:prstGeom>
          <a:noFill/>
        </p:spPr>
        <p:txBody>
          <a:bodyPr wrap="square" lIns="0" tIns="0" rIns="0" bIns="0" anchor="t">
            <a:spAutoFit/>
          </a:bodyPr>
          <a:lstStyle/>
          <a:p>
            <a:pPr marL="0" indent="0">
              <a:buNone/>
            </a:pPr>
            <a:r>
              <a:rPr sz="1500" b="0" i="0">
                <a:solidFill>
                  <a:srgbClr val="A9BCD6"/>
                </a:solidFill>
                <a:latin typeface="Calibri"/>
              </a:rPr>
              <a:t>Only the next step or phase, nothing more</a:t>
            </a:r>
          </a:p>
        </p:txBody>
      </p:sp>
      <p:sp>
        <p:nvSpPr>
          <p:cNvPr id="15" name="Rounded Rectangle 36"/>
          <p:cNvSpPr/>
          <p:nvPr/>
        </p:nvSpPr>
        <p:spPr>
          <a:xfrm>
            <a:off x="8622792" y="3931920"/>
            <a:ext cx="3017520" cy="1463040"/>
          </a:xfrm>
          <a:prstGeom prst="roundRect">
            <a:avLst>
              <a:gd name="adj" fmla="val 937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37"/>
          <p:cNvSpPr txBox="1"/>
          <p:nvPr/>
        </p:nvSpPr>
        <p:spPr>
          <a:xfrm>
            <a:off x="8851392" y="4114800"/>
            <a:ext cx="256032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3</a:t>
            </a:r>
          </a:p>
        </p:txBody>
      </p:sp>
      <p:sp>
        <p:nvSpPr>
          <p:cNvPr id="17" name="TextBox 38"/>
          <p:cNvSpPr txBox="1"/>
          <p:nvPr/>
        </p:nvSpPr>
        <p:spPr>
          <a:xfrm>
            <a:off x="8851392" y="4462272"/>
            <a:ext cx="256032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Verify</a:t>
            </a:r>
          </a:p>
        </p:txBody>
      </p:sp>
      <p:sp>
        <p:nvSpPr>
          <p:cNvPr id="18" name="TextBox 39"/>
          <p:cNvSpPr txBox="1"/>
          <p:nvPr/>
        </p:nvSpPr>
        <p:spPr>
          <a:xfrm>
            <a:off x="8851392" y="4937760"/>
            <a:ext cx="2560320" cy="246888"/>
          </a:xfrm>
          <a:prstGeom prst="rect">
            <a:avLst/>
          </a:prstGeom>
          <a:noFill/>
        </p:spPr>
        <p:txBody>
          <a:bodyPr wrap="square" lIns="0" tIns="0" rIns="0" bIns="0" anchor="t">
            <a:spAutoFit/>
          </a:bodyPr>
          <a:lstStyle/>
          <a:p>
            <a:pPr marL="0" indent="0">
              <a:buNone/>
            </a:pPr>
            <a:r>
              <a:rPr sz="1500" b="0" i="0">
                <a:solidFill>
                  <a:srgbClr val="A9BCD6"/>
                </a:solidFill>
                <a:latin typeface="Calibri"/>
              </a:rPr>
              <a:t>Run the exit gate: tests, checks, a debug run</a:t>
            </a:r>
          </a:p>
        </p:txBody>
      </p:sp>
      <p:sp>
        <p:nvSpPr>
          <p:cNvPr id="19" name="Rounded Rectangle 40"/>
          <p:cNvSpPr/>
          <p:nvPr/>
        </p:nvSpPr>
        <p:spPr>
          <a:xfrm>
            <a:off x="5029200" y="3931920"/>
            <a:ext cx="3017520" cy="1463040"/>
          </a:xfrm>
          <a:prstGeom prst="roundRect">
            <a:avLst>
              <a:gd name="adj" fmla="val 937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41"/>
          <p:cNvSpPr txBox="1"/>
          <p:nvPr/>
        </p:nvSpPr>
        <p:spPr>
          <a:xfrm>
            <a:off x="5257800" y="4114800"/>
            <a:ext cx="256032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4</a:t>
            </a:r>
          </a:p>
        </p:txBody>
      </p:sp>
      <p:sp>
        <p:nvSpPr>
          <p:cNvPr id="21" name="TextBox 42"/>
          <p:cNvSpPr txBox="1"/>
          <p:nvPr/>
        </p:nvSpPr>
        <p:spPr>
          <a:xfrm>
            <a:off x="5257800" y="4462272"/>
            <a:ext cx="256032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Log</a:t>
            </a:r>
          </a:p>
        </p:txBody>
      </p:sp>
      <p:sp>
        <p:nvSpPr>
          <p:cNvPr id="22" name="TextBox 43"/>
          <p:cNvSpPr txBox="1"/>
          <p:nvPr/>
        </p:nvSpPr>
        <p:spPr>
          <a:xfrm>
            <a:off x="5257800" y="4937760"/>
            <a:ext cx="2560320" cy="246888"/>
          </a:xfrm>
          <a:prstGeom prst="rect">
            <a:avLst/>
          </a:prstGeom>
          <a:noFill/>
        </p:spPr>
        <p:txBody>
          <a:bodyPr wrap="square" lIns="0" tIns="0" rIns="0" bIns="0" anchor="t">
            <a:spAutoFit/>
          </a:bodyPr>
          <a:lstStyle/>
          <a:p>
            <a:pPr marL="0" indent="0">
              <a:buNone/>
            </a:pPr>
            <a:r>
              <a:rPr sz="1500" b="0" i="0">
                <a:solidFill>
                  <a:srgbClr val="A9BCD6"/>
                </a:solidFill>
                <a:latin typeface="Calibri"/>
              </a:rPr>
              <a:t>Evidence and issues go into progress.md</a:t>
            </a:r>
          </a:p>
        </p:txBody>
      </p:sp>
      <p:sp>
        <p:nvSpPr>
          <p:cNvPr id="23" name="Right Arrow 44"/>
          <p:cNvSpPr/>
          <p:nvPr/>
        </p:nvSpPr>
        <p:spPr>
          <a:xfrm>
            <a:off x="8138160" y="2103120"/>
            <a:ext cx="393192" cy="365760"/>
          </a:xfrm>
          <a:prstGeom prst="rightArrow">
            <a:avLst/>
          </a:prstGeom>
          <a:solidFill>
            <a:srgbClr val="A9B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wn Arrow 45"/>
          <p:cNvSpPr/>
          <p:nvPr/>
        </p:nvSpPr>
        <p:spPr>
          <a:xfrm>
            <a:off x="9948672" y="3127248"/>
            <a:ext cx="365760" cy="566928"/>
          </a:xfrm>
          <a:prstGeom prst="downArrow">
            <a:avLst/>
          </a:prstGeom>
          <a:solidFill>
            <a:srgbClr val="A9B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Left Arrow 46"/>
          <p:cNvSpPr/>
          <p:nvPr/>
        </p:nvSpPr>
        <p:spPr>
          <a:xfrm>
            <a:off x="8138160" y="4480559"/>
            <a:ext cx="393192" cy="365760"/>
          </a:xfrm>
          <a:prstGeom prst="leftArrow">
            <a:avLst/>
          </a:prstGeom>
          <a:solidFill>
            <a:srgbClr val="A9B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Up Arrow 47"/>
          <p:cNvSpPr/>
          <p:nvPr/>
        </p:nvSpPr>
        <p:spPr>
          <a:xfrm>
            <a:off x="6355080" y="3127248"/>
            <a:ext cx="365760" cy="566928"/>
          </a:xfrm>
          <a:prstGeom prst="upArrow">
            <a:avLst/>
          </a:prstGeom>
          <a:solidFill>
            <a:srgbClr val="A9B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48"/>
          <p:cNvSpPr txBox="1"/>
          <p:nvPr/>
        </p:nvSpPr>
        <p:spPr>
          <a:xfrm>
            <a:off x="6929718" y="3255264"/>
            <a:ext cx="2651760" cy="457200"/>
          </a:xfrm>
          <a:prstGeom prst="rect">
            <a:avLst/>
          </a:prstGeom>
          <a:noFill/>
        </p:spPr>
        <p:txBody>
          <a:bodyPr wrap="square" lIns="0" tIns="0" rIns="0" bIns="0" anchor="ctr">
            <a:spAutoFit/>
          </a:bodyPr>
          <a:lstStyle/>
          <a:p>
            <a:pPr marL="0" indent="0" algn="ctr">
              <a:buNone/>
            </a:pPr>
            <a:r>
              <a:rPr sz="1600" b="1" i="0">
                <a:solidFill>
                  <a:srgbClr val="5EEAD4"/>
                </a:solidFill>
                <a:latin typeface="Calibri"/>
              </a:rPr>
              <a:t>repeat until done</a:t>
            </a:r>
          </a:p>
        </p:txBody>
      </p:sp>
      <p:sp>
        <p:nvSpPr>
          <p:cNvPr id="28" name="TextBox 49"/>
          <p:cNvSpPr txBox="1"/>
          <p:nvPr/>
        </p:nvSpPr>
        <p:spPr>
          <a:xfrm>
            <a:off x="548640" y="5623560"/>
            <a:ext cx="11064240" cy="457200"/>
          </a:xfrm>
          <a:prstGeom prst="rect">
            <a:avLst/>
          </a:prstGeom>
          <a:noFill/>
        </p:spPr>
        <p:txBody>
          <a:bodyPr wrap="square" lIns="0" tIns="0" rIns="0" bIns="0" anchor="t">
            <a:spAutoFit/>
          </a:bodyPr>
          <a:lstStyle/>
          <a:p>
            <a:pPr marL="0" indent="0">
              <a:buNone/>
            </a:pPr>
            <a:r>
              <a:rPr sz="1600" b="0" i="0">
                <a:solidFill>
                  <a:srgbClr val="5EEAD4"/>
                </a:solidFill>
                <a:latin typeface="Calibri"/>
              </a:rPr>
              <a:t>There is a /ralph-loop plugin that automates it. I run the same idea by hand, phase by phase.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F8A2B"/>
                </a:solidFill>
                <a:latin typeface="Calibri"/>
              </a:rPr>
              <a:t>CLAUDE.md</a:t>
            </a:r>
            <a:r>
              <a:rPr sz="3000" b="1" i="0">
                <a:solidFill>
                  <a:srgbClr val="F2F6FC"/>
                </a:solidFill>
                <a:latin typeface="Calibri"/>
              </a:rPr>
              <a:t> is the conductor: it makes the loop automatic</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17</a:t>
            </a:fld>
            <a:endParaRPr lang="en-US"/>
          </a:p>
        </p:txBody>
      </p:sp>
      <p:sp>
        <p:nvSpPr>
          <p:cNvPr id="4" name="Rounded Rectangle 25"/>
          <p:cNvSpPr/>
          <p:nvPr/>
        </p:nvSpPr>
        <p:spPr>
          <a:xfrm>
            <a:off x="548640" y="1554480"/>
            <a:ext cx="5394960" cy="4297680"/>
          </a:xfrm>
          <a:prstGeom prst="roundRect">
            <a:avLst>
              <a:gd name="adj" fmla="val 2127"/>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19072"/>
            <a:ext cx="4937760" cy="4023360"/>
          </a:xfrm>
          <a:prstGeom prst="rect">
            <a:avLst/>
          </a:prstGeom>
          <a:noFill/>
        </p:spPr>
        <p:txBody>
          <a:bodyPr wrap="square" lIns="0" tIns="0" rIns="0" bIns="0" anchor="t">
            <a:spAutoFit/>
          </a:bodyPr>
          <a:lstStyle/>
          <a:p>
            <a:pPr marL="0" indent="0">
              <a:buNone/>
            </a:pPr>
            <a:r>
              <a:rPr sz="1500" b="0" i="0">
                <a:solidFill>
                  <a:srgbClr val="38BDF8"/>
                </a:solidFill>
                <a:latin typeface="Courier New"/>
              </a:rPr>
              <a:t># my CLAUDE.md (excerpt)</a:t>
            </a:r>
          </a:p>
          <a:p>
            <a:pPr marL="0" indent="0">
              <a:spcBef>
                <a:spcPts val="800"/>
              </a:spcBef>
              <a:buNone/>
            </a:pPr>
            <a:r>
              <a:rPr sz="1500" b="0" i="0">
                <a:solidFill>
                  <a:srgbClr val="F2F6FC"/>
                </a:solidFill>
                <a:latin typeface="Courier New"/>
              </a:rPr>
              <a:t>## Planning big work</a:t>
            </a:r>
          </a:p>
          <a:p>
            <a:pPr marL="0" indent="0">
              <a:spcBef>
                <a:spcPts val="0"/>
              </a:spcBef>
              <a:buNone/>
            </a:pPr>
            <a:r>
              <a:rPr sz="1500" b="0" i="0">
                <a:solidFill>
                  <a:srgbClr val="F2F6FC"/>
                </a:solidFill>
                <a:latin typeface="Courier New"/>
              </a:rPr>
              <a:t>- plans/001-plan-&lt;name&gt;.md, numbered</a:t>
            </a:r>
          </a:p>
          <a:p>
            <a:pPr marL="0" indent="0">
              <a:spcBef>
                <a:spcPts val="0"/>
              </a:spcBef>
              <a:buNone/>
            </a:pPr>
            <a:r>
              <a:rPr sz="1500" b="0" i="0">
                <a:solidFill>
                  <a:srgbClr val="F2F6FC"/>
                </a:solidFill>
                <a:latin typeface="Courier New"/>
              </a:rPr>
              <a:t>- Never rewrite an old plan</a:t>
            </a:r>
          </a:p>
          <a:p>
            <a:pPr marL="0" indent="0">
              <a:spcBef>
                <a:spcPts val="0"/>
              </a:spcBef>
              <a:buNone/>
            </a:pPr>
            <a:r>
              <a:rPr sz="1500" b="0" i="0">
                <a:solidFill>
                  <a:srgbClr val="F2F6FC"/>
                </a:solidFill>
                <a:latin typeface="Courier New"/>
              </a:rPr>
              <a:t>- plans/progress.md for long work</a:t>
            </a:r>
          </a:p>
          <a:p>
            <a:pPr marL="0" indent="0">
              <a:spcBef>
                <a:spcPts val="0"/>
              </a:spcBef>
              <a:buNone/>
            </a:pPr>
            <a:r>
              <a:rPr sz="1500" b="0" i="0">
                <a:solidFill>
                  <a:srgbClr val="F2F6FC"/>
                </a:solidFill>
                <a:latin typeface="Courier New"/>
              </a:rPr>
              <a:t>- Phases + test plan + exit gates</a:t>
            </a:r>
          </a:p>
          <a:p>
            <a:pPr marL="0" indent="0">
              <a:spcBef>
                <a:spcPts val="0"/>
              </a:spcBef>
              <a:buNone/>
            </a:pPr>
            <a:r>
              <a:rPr sz="1500" b="0" i="0">
                <a:solidFill>
                  <a:srgbClr val="F2F6FC"/>
                </a:solidFill>
                <a:latin typeface="Courier New"/>
              </a:rPr>
              <a:t>- Keep progress.md current: status,</a:t>
            </a:r>
          </a:p>
          <a:p>
            <a:pPr marL="0" indent="0">
              <a:spcBef>
                <a:spcPts val="0"/>
              </a:spcBef>
              <a:buNone/>
            </a:pPr>
            <a:r>
              <a:rPr sz="1500" b="0" i="0">
                <a:solidFill>
                  <a:srgbClr val="F2F6FC"/>
                </a:solidFill>
                <a:latin typeface="Courier New"/>
              </a:rPr>
              <a:t>  evidence, decisions, known issues</a:t>
            </a:r>
          </a:p>
          <a:p>
            <a:pPr marL="0" indent="0">
              <a:spcBef>
                <a:spcPts val="800"/>
              </a:spcBef>
              <a:buNone/>
            </a:pPr>
            <a:r>
              <a:rPr sz="1500" b="0" i="0">
                <a:solidFill>
                  <a:srgbClr val="F2F6FC"/>
                </a:solidFill>
                <a:latin typeface="Courier New"/>
              </a:rPr>
              <a:t>## Working style</a:t>
            </a:r>
          </a:p>
          <a:p>
            <a:pPr marL="0" indent="0">
              <a:spcBef>
                <a:spcPts val="0"/>
              </a:spcBef>
              <a:buNone/>
            </a:pPr>
            <a:r>
              <a:rPr sz="1500" b="0" i="0">
                <a:solidFill>
                  <a:srgbClr val="F2F6FC"/>
                </a:solidFill>
                <a:latin typeface="Courier New"/>
              </a:rPr>
              <a:t>- Test on a small sample first</a:t>
            </a:r>
          </a:p>
          <a:p>
            <a:pPr marL="0" indent="0">
              <a:spcBef>
                <a:spcPts val="0"/>
              </a:spcBef>
              <a:buNone/>
            </a:pPr>
            <a:r>
              <a:rPr sz="1500" b="0" i="0">
                <a:solidFill>
                  <a:srgbClr val="F2F6FC"/>
                </a:solidFill>
                <a:latin typeface="Courier New"/>
              </a:rPr>
              <a:t>- Ask only when blocked</a:t>
            </a:r>
          </a:p>
          <a:p>
            <a:pPr marL="0" indent="0">
              <a:spcBef>
                <a:spcPts val="0"/>
              </a:spcBef>
              <a:buNone/>
            </a:pPr>
            <a:r>
              <a:rPr sz="1500" b="0" i="0">
                <a:solidFill>
                  <a:srgbClr val="F2F6FC"/>
                </a:solidFill>
                <a:latin typeface="Courier New"/>
              </a:rPr>
              <a:t>- No commit unless I ask</a:t>
            </a:r>
          </a:p>
          <a:p>
            <a:pPr marL="0" indent="0">
              <a:spcBef>
                <a:spcPts val="0"/>
              </a:spcBef>
              <a:buNone/>
            </a:pPr>
            <a:r>
              <a:rPr sz="1500" b="0" i="0">
                <a:solidFill>
                  <a:srgbClr val="F2F6FC"/>
                </a:solidFill>
                <a:latin typeface="Courier New"/>
              </a:rPr>
              <a:t>- Push notify when done or blocked</a:t>
            </a:r>
          </a:p>
        </p:txBody>
      </p:sp>
      <p:sp>
        <p:nvSpPr>
          <p:cNvPr id="6" name="Rounded Rectangle 27"/>
          <p:cNvSpPr/>
          <p:nvPr/>
        </p:nvSpPr>
        <p:spPr>
          <a:xfrm>
            <a:off x="6217920" y="1554480"/>
            <a:ext cx="5422392" cy="777240"/>
          </a:xfrm>
          <a:prstGeom prst="roundRect">
            <a:avLst>
              <a:gd name="adj" fmla="val 176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8"/>
          <p:cNvSpPr txBox="1"/>
          <p:nvPr/>
        </p:nvSpPr>
        <p:spPr>
          <a:xfrm>
            <a:off x="6446520" y="1645920"/>
            <a:ext cx="4937760" cy="320040"/>
          </a:xfrm>
          <a:prstGeom prst="rect">
            <a:avLst/>
          </a:prstGeom>
          <a:noFill/>
        </p:spPr>
        <p:txBody>
          <a:bodyPr wrap="square" lIns="0" tIns="0" rIns="0" bIns="0" anchor="t">
            <a:spAutoFit/>
          </a:bodyPr>
          <a:lstStyle/>
          <a:p>
            <a:pPr marL="0" indent="0">
              <a:buNone/>
            </a:pPr>
            <a:r>
              <a:rPr sz="1700" b="1" i="0">
                <a:solidFill>
                  <a:srgbClr val="F2F6FC"/>
                </a:solidFill>
                <a:latin typeface="Calibri"/>
              </a:rPr>
              <a:t>Plan goes in plans/, numbered</a:t>
            </a:r>
          </a:p>
        </p:txBody>
      </p:sp>
      <p:sp>
        <p:nvSpPr>
          <p:cNvPr id="8" name="TextBox 29"/>
          <p:cNvSpPr txBox="1"/>
          <p:nvPr/>
        </p:nvSpPr>
        <p:spPr>
          <a:xfrm>
            <a:off x="6446520" y="1975104"/>
            <a:ext cx="4937760" cy="274320"/>
          </a:xfrm>
          <a:prstGeom prst="rect">
            <a:avLst/>
          </a:prstGeom>
          <a:noFill/>
        </p:spPr>
        <p:txBody>
          <a:bodyPr wrap="square" lIns="0" tIns="0" rIns="0" bIns="0" anchor="t">
            <a:spAutoFit/>
          </a:bodyPr>
          <a:lstStyle/>
          <a:p>
            <a:pPr marL="0" indent="0">
              <a:buNone/>
            </a:pPr>
            <a:r>
              <a:rPr sz="1500" b="1" i="0">
                <a:solidFill>
                  <a:srgbClr val="38BDF8"/>
                </a:solidFill>
                <a:latin typeface="Calibri"/>
              </a:rPr>
              <a:t>→ </a:t>
            </a:r>
            <a:r>
              <a:rPr sz="1500" b="0" i="0">
                <a:solidFill>
                  <a:srgbClr val="A9BCD6"/>
                </a:solidFill>
                <a:latin typeface="Calibri"/>
              </a:rPr>
              <a:t>Every big job starts as a written plan</a:t>
            </a:r>
          </a:p>
        </p:txBody>
      </p:sp>
      <p:sp>
        <p:nvSpPr>
          <p:cNvPr id="9" name="Rounded Rectangle 30"/>
          <p:cNvSpPr/>
          <p:nvPr/>
        </p:nvSpPr>
        <p:spPr>
          <a:xfrm>
            <a:off x="6217920" y="2432304"/>
            <a:ext cx="5422392" cy="777240"/>
          </a:xfrm>
          <a:prstGeom prst="roundRect">
            <a:avLst>
              <a:gd name="adj" fmla="val 176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31"/>
          <p:cNvSpPr txBox="1"/>
          <p:nvPr/>
        </p:nvSpPr>
        <p:spPr>
          <a:xfrm>
            <a:off x="6446520" y="2523744"/>
            <a:ext cx="4937760" cy="320040"/>
          </a:xfrm>
          <a:prstGeom prst="rect">
            <a:avLst/>
          </a:prstGeom>
          <a:noFill/>
        </p:spPr>
        <p:txBody>
          <a:bodyPr wrap="square" lIns="0" tIns="0" rIns="0" bIns="0" anchor="t">
            <a:spAutoFit/>
          </a:bodyPr>
          <a:lstStyle/>
          <a:p>
            <a:pPr marL="0" indent="0">
              <a:buNone/>
            </a:pPr>
            <a:r>
              <a:rPr sz="1700" b="1" i="0">
                <a:solidFill>
                  <a:srgbClr val="F2F6FC"/>
                </a:solidFill>
                <a:latin typeface="Calibri"/>
              </a:rPr>
              <a:t>Phases, test plan, exit gates</a:t>
            </a:r>
          </a:p>
        </p:txBody>
      </p:sp>
      <p:sp>
        <p:nvSpPr>
          <p:cNvPr id="11" name="TextBox 32"/>
          <p:cNvSpPr txBox="1"/>
          <p:nvPr/>
        </p:nvSpPr>
        <p:spPr>
          <a:xfrm>
            <a:off x="6446520" y="2852928"/>
            <a:ext cx="4937760" cy="274320"/>
          </a:xfrm>
          <a:prstGeom prst="rect">
            <a:avLst/>
          </a:prstGeom>
          <a:noFill/>
        </p:spPr>
        <p:txBody>
          <a:bodyPr wrap="square" lIns="0" tIns="0" rIns="0" bIns="0" anchor="t">
            <a:spAutoFit/>
          </a:bodyPr>
          <a:lstStyle/>
          <a:p>
            <a:pPr marL="0" indent="0">
              <a:buNone/>
            </a:pPr>
            <a:r>
              <a:rPr sz="1500" b="1" i="0">
                <a:solidFill>
                  <a:srgbClr val="38BDF8"/>
                </a:solidFill>
                <a:latin typeface="Calibri"/>
              </a:rPr>
              <a:t>→ </a:t>
            </a:r>
            <a:r>
              <a:rPr sz="1500" b="0" i="0">
                <a:solidFill>
                  <a:srgbClr val="A9BCD6"/>
                </a:solidFill>
                <a:latin typeface="Calibri"/>
              </a:rPr>
              <a:t>Every phase has a pass-or-fail check</a:t>
            </a:r>
          </a:p>
        </p:txBody>
      </p:sp>
      <p:sp>
        <p:nvSpPr>
          <p:cNvPr id="12" name="Rounded Rectangle 33"/>
          <p:cNvSpPr/>
          <p:nvPr/>
        </p:nvSpPr>
        <p:spPr>
          <a:xfrm>
            <a:off x="6217920" y="3310128"/>
            <a:ext cx="5422392" cy="777240"/>
          </a:xfrm>
          <a:prstGeom prst="roundRect">
            <a:avLst>
              <a:gd name="adj" fmla="val 176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34"/>
          <p:cNvSpPr txBox="1"/>
          <p:nvPr/>
        </p:nvSpPr>
        <p:spPr>
          <a:xfrm>
            <a:off x="6446520" y="3401568"/>
            <a:ext cx="4937760" cy="320040"/>
          </a:xfrm>
          <a:prstGeom prst="rect">
            <a:avLst/>
          </a:prstGeom>
          <a:noFill/>
        </p:spPr>
        <p:txBody>
          <a:bodyPr wrap="square" lIns="0" tIns="0" rIns="0" bIns="0" anchor="t">
            <a:spAutoFit/>
          </a:bodyPr>
          <a:lstStyle/>
          <a:p>
            <a:pPr marL="0" indent="0">
              <a:buNone/>
            </a:pPr>
            <a:r>
              <a:rPr sz="1700" b="1" i="0">
                <a:solidFill>
                  <a:srgbClr val="F2F6FC"/>
                </a:solidFill>
                <a:latin typeface="Calibri"/>
              </a:rPr>
              <a:t>Keep progress.md current</a:t>
            </a:r>
          </a:p>
        </p:txBody>
      </p:sp>
      <p:sp>
        <p:nvSpPr>
          <p:cNvPr id="14" name="TextBox 35"/>
          <p:cNvSpPr txBox="1"/>
          <p:nvPr/>
        </p:nvSpPr>
        <p:spPr>
          <a:xfrm>
            <a:off x="6446520" y="3730752"/>
            <a:ext cx="4937760" cy="274320"/>
          </a:xfrm>
          <a:prstGeom prst="rect">
            <a:avLst/>
          </a:prstGeom>
          <a:noFill/>
        </p:spPr>
        <p:txBody>
          <a:bodyPr wrap="square" lIns="0" tIns="0" rIns="0" bIns="0" anchor="t">
            <a:spAutoFit/>
          </a:bodyPr>
          <a:lstStyle/>
          <a:p>
            <a:pPr marL="0" indent="0">
              <a:buNone/>
            </a:pPr>
            <a:r>
              <a:rPr sz="1500" b="1" i="0">
                <a:solidFill>
                  <a:srgbClr val="38BDF8"/>
                </a:solidFill>
                <a:latin typeface="Calibri"/>
              </a:rPr>
              <a:t>→ </a:t>
            </a:r>
            <a:r>
              <a:rPr sz="1500" b="0" i="0">
                <a:solidFill>
                  <a:srgbClr val="A9BCD6"/>
                </a:solidFill>
                <a:latin typeface="Calibri"/>
              </a:rPr>
              <a:t>Evidence is logged after every phase</a:t>
            </a:r>
          </a:p>
        </p:txBody>
      </p:sp>
      <p:sp>
        <p:nvSpPr>
          <p:cNvPr id="15" name="Rounded Rectangle 36"/>
          <p:cNvSpPr/>
          <p:nvPr/>
        </p:nvSpPr>
        <p:spPr>
          <a:xfrm>
            <a:off x="6217920" y="4187952"/>
            <a:ext cx="5422392" cy="777240"/>
          </a:xfrm>
          <a:prstGeom prst="roundRect">
            <a:avLst>
              <a:gd name="adj" fmla="val 176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37"/>
          <p:cNvSpPr txBox="1"/>
          <p:nvPr/>
        </p:nvSpPr>
        <p:spPr>
          <a:xfrm>
            <a:off x="6446520" y="4279392"/>
            <a:ext cx="4937760" cy="320040"/>
          </a:xfrm>
          <a:prstGeom prst="rect">
            <a:avLst/>
          </a:prstGeom>
          <a:noFill/>
        </p:spPr>
        <p:txBody>
          <a:bodyPr wrap="square" lIns="0" tIns="0" rIns="0" bIns="0" anchor="t">
            <a:spAutoFit/>
          </a:bodyPr>
          <a:lstStyle/>
          <a:p>
            <a:pPr marL="0" indent="0">
              <a:buNone/>
            </a:pPr>
            <a:r>
              <a:rPr sz="1700" b="1" i="0">
                <a:solidFill>
                  <a:srgbClr val="F2F6FC"/>
                </a:solidFill>
                <a:latin typeface="Calibri"/>
              </a:rPr>
              <a:t>Small sample, report honestly</a:t>
            </a:r>
          </a:p>
        </p:txBody>
      </p:sp>
      <p:sp>
        <p:nvSpPr>
          <p:cNvPr id="17" name="TextBox 38"/>
          <p:cNvSpPr txBox="1"/>
          <p:nvPr/>
        </p:nvSpPr>
        <p:spPr>
          <a:xfrm>
            <a:off x="6446520" y="4608576"/>
            <a:ext cx="4937760" cy="274320"/>
          </a:xfrm>
          <a:prstGeom prst="rect">
            <a:avLst/>
          </a:prstGeom>
          <a:noFill/>
        </p:spPr>
        <p:txBody>
          <a:bodyPr wrap="square" lIns="0" tIns="0" rIns="0" bIns="0" anchor="t">
            <a:spAutoFit/>
          </a:bodyPr>
          <a:lstStyle/>
          <a:p>
            <a:pPr marL="0" indent="0">
              <a:buNone/>
            </a:pPr>
            <a:r>
              <a:rPr sz="1500" b="1" i="0">
                <a:solidFill>
                  <a:srgbClr val="38BDF8"/>
                </a:solidFill>
                <a:latin typeface="Calibri"/>
              </a:rPr>
              <a:t>→ </a:t>
            </a:r>
            <a:r>
              <a:rPr sz="1500" b="0" i="0">
                <a:solidFill>
                  <a:srgbClr val="A9BCD6"/>
                </a:solidFill>
                <a:latin typeface="Calibri"/>
              </a:rPr>
              <a:t>Failures are shown and fixed, not hidden</a:t>
            </a:r>
          </a:p>
        </p:txBody>
      </p:sp>
      <p:sp>
        <p:nvSpPr>
          <p:cNvPr id="18" name="Rounded Rectangle 39"/>
          <p:cNvSpPr/>
          <p:nvPr/>
        </p:nvSpPr>
        <p:spPr>
          <a:xfrm>
            <a:off x="6217920" y="5065776"/>
            <a:ext cx="5422392" cy="777240"/>
          </a:xfrm>
          <a:prstGeom prst="roundRect">
            <a:avLst>
              <a:gd name="adj" fmla="val 176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40"/>
          <p:cNvSpPr txBox="1"/>
          <p:nvPr/>
        </p:nvSpPr>
        <p:spPr>
          <a:xfrm>
            <a:off x="6446520" y="5157216"/>
            <a:ext cx="4937760" cy="320040"/>
          </a:xfrm>
          <a:prstGeom prst="rect">
            <a:avLst/>
          </a:prstGeom>
          <a:noFill/>
        </p:spPr>
        <p:txBody>
          <a:bodyPr wrap="square" lIns="0" tIns="0" rIns="0" bIns="0" anchor="t">
            <a:spAutoFit/>
          </a:bodyPr>
          <a:lstStyle/>
          <a:p>
            <a:pPr marL="0" indent="0">
              <a:buNone/>
            </a:pPr>
            <a:r>
              <a:rPr sz="1700" b="1" i="0">
                <a:solidFill>
                  <a:srgbClr val="F2F6FC"/>
                </a:solidFill>
                <a:latin typeface="Calibri"/>
              </a:rPr>
              <a:t>Ask only when blocked, notify</a:t>
            </a:r>
          </a:p>
        </p:txBody>
      </p:sp>
      <p:sp>
        <p:nvSpPr>
          <p:cNvPr id="20" name="TextBox 41"/>
          <p:cNvSpPr txBox="1"/>
          <p:nvPr/>
        </p:nvSpPr>
        <p:spPr>
          <a:xfrm>
            <a:off x="6446520" y="5486400"/>
            <a:ext cx="4937760" cy="274320"/>
          </a:xfrm>
          <a:prstGeom prst="rect">
            <a:avLst/>
          </a:prstGeom>
          <a:noFill/>
        </p:spPr>
        <p:txBody>
          <a:bodyPr wrap="square" lIns="0" tIns="0" rIns="0" bIns="0" anchor="t">
            <a:spAutoFit/>
          </a:bodyPr>
          <a:lstStyle/>
          <a:p>
            <a:pPr marL="0" indent="0">
              <a:buNone/>
            </a:pPr>
            <a:r>
              <a:rPr sz="1500" b="1" i="0">
                <a:solidFill>
                  <a:srgbClr val="38BDF8"/>
                </a:solidFill>
                <a:latin typeface="Calibri"/>
              </a:rPr>
              <a:t>→ </a:t>
            </a:r>
            <a:r>
              <a:rPr sz="1500" b="0" i="0">
                <a:solidFill>
                  <a:srgbClr val="A9BCD6"/>
                </a:solidFill>
                <a:latin typeface="Calibri"/>
              </a:rPr>
              <a:t>Long runs go on without me, pinging when needed</a:t>
            </a:r>
          </a:p>
        </p:txBody>
      </p:sp>
      <p:sp>
        <p:nvSpPr>
          <p:cNvPr id="21" name="TextBox 42"/>
          <p:cNvSpPr txBox="1"/>
          <p:nvPr/>
        </p:nvSpPr>
        <p:spPr>
          <a:xfrm>
            <a:off x="548640" y="5989320"/>
            <a:ext cx="11091672" cy="365760"/>
          </a:xfrm>
          <a:prstGeom prst="rect">
            <a:avLst/>
          </a:prstGeom>
          <a:noFill/>
        </p:spPr>
        <p:txBody>
          <a:bodyPr wrap="square" lIns="0" tIns="0" rIns="0" bIns="0" anchor="t">
            <a:spAutoFit/>
          </a:bodyPr>
          <a:lstStyle/>
          <a:p>
            <a:pPr marL="0" indent="0">
              <a:buNone/>
            </a:pPr>
            <a:r>
              <a:rPr sz="1400" b="0" i="0">
                <a:solidFill>
                  <a:srgbClr val="5EEAD4"/>
                </a:solidFill>
                <a:latin typeface="Calibri"/>
              </a:rPr>
              <a:t>Loaded every session, so "next phase" is enough. Global ~/.claude/CLAUDE.md = my habits; a project one wins on conflict.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2F6FC"/>
                </a:solidFill>
                <a:latin typeface="Calibri"/>
              </a:rPr>
              <a:t>Start every job the same way: </a:t>
            </a:r>
            <a:r>
              <a:rPr sz="3000" b="1" i="0">
                <a:solidFill>
                  <a:srgbClr val="FF8A2B"/>
                </a:solidFill>
                <a:latin typeface="Calibri"/>
              </a:rPr>
              <a:t>material in, doubts out</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18</a:t>
            </a:fld>
            <a:endParaRPr lang="en-US"/>
          </a:p>
        </p:txBody>
      </p:sp>
      <p:sp>
        <p:nvSpPr>
          <p:cNvPr id="4" name="Rounded Rectangle 25"/>
          <p:cNvSpPr/>
          <p:nvPr/>
        </p:nvSpPr>
        <p:spPr>
          <a:xfrm>
            <a:off x="548640" y="1554480"/>
            <a:ext cx="5394960" cy="2880360"/>
          </a:xfrm>
          <a:prstGeom prst="roundRect">
            <a:avLst>
              <a:gd name="adj" fmla="val 476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493776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1  Put the material in folders</a:t>
            </a:r>
          </a:p>
        </p:txBody>
      </p:sp>
      <p:sp>
        <p:nvSpPr>
          <p:cNvPr id="6" name="TextBox 27"/>
          <p:cNvSpPr txBox="1"/>
          <p:nvPr/>
        </p:nvSpPr>
        <p:spPr>
          <a:xfrm>
            <a:off x="777240" y="2212848"/>
            <a:ext cx="4937760" cy="2011680"/>
          </a:xfrm>
          <a:prstGeom prst="rect">
            <a:avLst/>
          </a:prstGeom>
          <a:noFill/>
        </p:spPr>
        <p:txBody>
          <a:bodyPr wrap="square" lIns="0" tIns="0" rIns="0" bIns="0" anchor="t">
            <a:spAutoFit/>
          </a:bodyPr>
          <a:lstStyle/>
          <a:p>
            <a:pPr marL="228600" indent="-228600">
              <a:buChar char="•"/>
            </a:pPr>
            <a:r>
              <a:rPr sz="1800" b="1" i="0">
                <a:solidFill>
                  <a:srgbClr val="38BDF8"/>
                </a:solidFill>
                <a:latin typeface="Calibri"/>
              </a:rPr>
              <a:t>docs/  </a:t>
            </a:r>
            <a:r>
              <a:rPr sz="1800" b="0" i="0">
                <a:solidFill>
                  <a:srgbClr val="F2F6FC"/>
                </a:solidFill>
                <a:latin typeface="Calibri"/>
              </a:rPr>
              <a:t>briefs, specs, templates, PDFs, Word files, examples</a:t>
            </a:r>
          </a:p>
          <a:p>
            <a:pPr marL="228600" indent="-228600">
              <a:spcBef>
                <a:spcPts val="1000"/>
              </a:spcBef>
              <a:buChar char="•"/>
            </a:pPr>
            <a:r>
              <a:rPr sz="1800" b="1" i="0">
                <a:solidFill>
                  <a:srgbClr val="38BDF8"/>
                </a:solidFill>
                <a:latin typeface="Calibri"/>
              </a:rPr>
              <a:t>data/  </a:t>
            </a:r>
            <a:r>
              <a:rPr sz="1800" b="0" i="0">
                <a:solidFill>
                  <a:srgbClr val="F2F6FC"/>
                </a:solidFill>
                <a:latin typeface="Calibri"/>
              </a:rPr>
              <a:t>CSVs, spreadsheets, exports, samples</a:t>
            </a:r>
          </a:p>
          <a:p>
            <a:pPr marL="228600" indent="-228600">
              <a:spcBef>
                <a:spcPts val="1000"/>
              </a:spcBef>
              <a:buChar char="•"/>
            </a:pPr>
            <a:r>
              <a:rPr sz="1800" b="0" i="0">
                <a:solidFill>
                  <a:srgbClr val="F2F6FC"/>
                </a:solidFill>
                <a:latin typeface="Calibri"/>
              </a:rPr>
              <a:t>Claude reads them: nothing to re-explain</a:t>
            </a:r>
          </a:p>
        </p:txBody>
      </p:sp>
      <p:sp>
        <p:nvSpPr>
          <p:cNvPr id="7" name="Rounded Rectangle 28"/>
          <p:cNvSpPr/>
          <p:nvPr/>
        </p:nvSpPr>
        <p:spPr>
          <a:xfrm>
            <a:off x="6245352" y="1554480"/>
            <a:ext cx="5394960" cy="2880360"/>
          </a:xfrm>
          <a:prstGeom prst="roundRect">
            <a:avLst>
              <a:gd name="adj" fmla="val 476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6473952" y="1737360"/>
            <a:ext cx="493776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2  Talk it through</a:t>
            </a:r>
          </a:p>
        </p:txBody>
      </p:sp>
      <p:sp>
        <p:nvSpPr>
          <p:cNvPr id="9" name="TextBox 30"/>
          <p:cNvSpPr txBox="1"/>
          <p:nvPr/>
        </p:nvSpPr>
        <p:spPr>
          <a:xfrm>
            <a:off x="6473952" y="2212848"/>
            <a:ext cx="4937760" cy="2011680"/>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Describe the problem and who it is for</a:t>
            </a:r>
          </a:p>
          <a:p>
            <a:pPr marL="228600" indent="-228600">
              <a:spcBef>
                <a:spcPts val="1000"/>
              </a:spcBef>
              <a:buChar char="•"/>
            </a:pPr>
            <a:r>
              <a:rPr sz="1800" b="0" i="0">
                <a:solidFill>
                  <a:srgbClr val="F2F6FC"/>
                </a:solidFill>
                <a:latin typeface="Calibri"/>
              </a:rPr>
              <a:t>Brainstorm ideas and options together</a:t>
            </a:r>
          </a:p>
          <a:p>
            <a:pPr marL="228600" indent="-228600">
              <a:spcBef>
                <a:spcPts val="1000"/>
              </a:spcBef>
              <a:buChar char="•"/>
            </a:pPr>
            <a:r>
              <a:rPr sz="1800" b="0" i="0">
                <a:solidFill>
                  <a:srgbClr val="F2F6FC"/>
                </a:solidFill>
                <a:latin typeface="Calibri"/>
              </a:rPr>
              <a:t>Claude asks me questions until the doubts are solved</a:t>
            </a:r>
          </a:p>
          <a:p>
            <a:pPr marL="228600" indent="-228600">
              <a:spcBef>
                <a:spcPts val="1000"/>
              </a:spcBef>
              <a:buChar char="•"/>
            </a:pPr>
            <a:r>
              <a:rPr sz="1800" b="0" i="0">
                <a:solidFill>
                  <a:srgbClr val="F2F6FC"/>
                </a:solidFill>
                <a:latin typeface="Calibri"/>
              </a:rPr>
              <a:t>Decisions are made out loud; the next step writes them down</a:t>
            </a:r>
          </a:p>
        </p:txBody>
      </p:sp>
      <p:sp>
        <p:nvSpPr>
          <p:cNvPr id="10" name="Rounded Rectangle 31"/>
          <p:cNvSpPr/>
          <p:nvPr/>
        </p:nvSpPr>
        <p:spPr>
          <a:xfrm>
            <a:off x="548640" y="4617720"/>
            <a:ext cx="11091672" cy="1097280"/>
          </a:xfrm>
          <a:prstGeom prst="roundRect">
            <a:avLst>
              <a:gd name="adj" fmla="val 8333"/>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32"/>
          <p:cNvSpPr txBox="1"/>
          <p:nvPr/>
        </p:nvSpPr>
        <p:spPr>
          <a:xfrm>
            <a:off x="777240" y="4782312"/>
            <a:ext cx="10634472" cy="822959"/>
          </a:xfrm>
          <a:prstGeom prst="rect">
            <a:avLst/>
          </a:prstGeom>
          <a:noFill/>
        </p:spPr>
        <p:txBody>
          <a:bodyPr wrap="square" lIns="0" tIns="0" rIns="0" bIns="0" anchor="t">
            <a:spAutoFit/>
          </a:bodyPr>
          <a:lstStyle/>
          <a:p>
            <a:pPr marL="0" indent="0">
              <a:buNone/>
            </a:pPr>
            <a:r>
              <a:rPr sz="1500" b="0" i="0">
                <a:solidFill>
                  <a:srgbClr val="F2F6FC"/>
                </a:solidFill>
                <a:latin typeface="Courier New"/>
              </a:rPr>
              <a:t>&gt; Read docs/ and data/. The problem: my monthly client report takes two days.</a:t>
            </a:r>
          </a:p>
          <a:p>
            <a:pPr marL="0" indent="0">
              <a:spcBef>
                <a:spcPts val="0"/>
              </a:spcBef>
              <a:buNone/>
            </a:pPr>
            <a:r>
              <a:rPr sz="1500" b="0" i="0">
                <a:solidFill>
                  <a:srgbClr val="F2F6FC"/>
                </a:solidFill>
                <a:latin typeface="Courier New"/>
              </a:rPr>
              <a:t>  Don't plan or build yet: ask me what is unclear and give me options.</a:t>
            </a:r>
          </a:p>
        </p:txBody>
      </p:sp>
      <p:sp>
        <p:nvSpPr>
          <p:cNvPr id="12" name="TextBox 33"/>
          <p:cNvSpPr txBox="1"/>
          <p:nvPr/>
        </p:nvSpPr>
        <p:spPr>
          <a:xfrm>
            <a:off x="548640" y="5852160"/>
            <a:ext cx="11091672" cy="365760"/>
          </a:xfrm>
          <a:prstGeom prst="rect">
            <a:avLst/>
          </a:prstGeom>
          <a:noFill/>
        </p:spPr>
        <p:txBody>
          <a:bodyPr wrap="square" lIns="0" tIns="0" rIns="0" bIns="0" anchor="t">
            <a:spAutoFit/>
          </a:bodyPr>
          <a:lstStyle/>
          <a:p>
            <a:pPr marL="0" indent="0">
              <a:buNone/>
            </a:pPr>
            <a:r>
              <a:rPr sz="1600" b="0" i="0">
                <a:solidFill>
                  <a:srgbClr val="5EEAD4"/>
                </a:solidFill>
                <a:latin typeface="Calibri"/>
              </a:rPr>
              <a:t>Code or not: a client brief and a spreadsheet are as good a start as a repository.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2F6FC"/>
                </a:solidFill>
                <a:latin typeface="Calibri"/>
              </a:rPr>
              <a:t>Then say </a:t>
            </a:r>
            <a:r>
              <a:rPr sz="3000" b="1" i="0">
                <a:solidFill>
                  <a:srgbClr val="FF8A2B"/>
                </a:solidFill>
                <a:latin typeface="Calibri"/>
              </a:rPr>
              <a:t>“initialize”: docs and project, done</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19</a:t>
            </a:fld>
            <a:endParaRPr lang="en-US"/>
          </a:p>
        </p:txBody>
      </p:sp>
      <p:sp>
        <p:nvSpPr>
          <p:cNvPr id="4" name="Rounded Rectangle 25"/>
          <p:cNvSpPr/>
          <p:nvPr/>
        </p:nvSpPr>
        <p:spPr>
          <a:xfrm>
            <a:off x="548640" y="1554480"/>
            <a:ext cx="5394960" cy="2880360"/>
          </a:xfrm>
          <a:prstGeom prst="roundRect">
            <a:avLst>
              <a:gd name="adj" fmla="val 476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493776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Input: talk, files, or both</a:t>
            </a:r>
          </a:p>
        </p:txBody>
      </p:sp>
      <p:sp>
        <p:nvSpPr>
          <p:cNvPr id="6" name="TextBox 27"/>
          <p:cNvSpPr txBox="1"/>
          <p:nvPr/>
        </p:nvSpPr>
        <p:spPr>
          <a:xfrm>
            <a:off x="777240" y="2212848"/>
            <a:ext cx="4937760" cy="2011680"/>
          </a:xfrm>
          <a:prstGeom prst="rect">
            <a:avLst/>
          </a:prstGeom>
          <a:noFill/>
        </p:spPr>
        <p:txBody>
          <a:bodyPr wrap="square" lIns="0" tIns="0" rIns="0" bIns="0" anchor="t">
            <a:spAutoFit/>
          </a:bodyPr>
          <a:lstStyle/>
          <a:p>
            <a:pPr marL="228600" indent="-228600">
              <a:buChar char="•"/>
            </a:pPr>
            <a:r>
              <a:rPr sz="1800" b="1" i="0">
                <a:solidFill>
                  <a:srgbClr val="38BDF8"/>
                </a:solidFill>
                <a:latin typeface="Calibri"/>
              </a:rPr>
              <a:t>Talked it through  </a:t>
            </a:r>
            <a:r>
              <a:rPr sz="1800" b="0" i="0">
                <a:solidFill>
                  <a:srgbClr val="F2F6FC"/>
                </a:solidFill>
                <a:latin typeface="Calibri"/>
              </a:rPr>
              <a:t>ideas, doubts and decisions are in the chat</a:t>
            </a:r>
          </a:p>
          <a:p>
            <a:pPr marL="228600" indent="-228600">
              <a:spcBef>
                <a:spcPts val="1000"/>
              </a:spcBef>
              <a:buChar char="•"/>
            </a:pPr>
            <a:r>
              <a:rPr sz="1800" b="1" i="0">
                <a:solidFill>
                  <a:srgbClr val="38BDF8"/>
                </a:solidFill>
                <a:latin typeface="Calibri"/>
              </a:rPr>
              <a:t>Or no talk at all  </a:t>
            </a:r>
            <a:r>
              <a:rPr sz="1800" b="0" i="0">
                <a:solidFill>
                  <a:srgbClr val="F2F6FC"/>
                </a:solidFill>
                <a:latin typeface="Calibri"/>
              </a:rPr>
              <a:t>prints, briefs and notes pasted into docs/ and data/</a:t>
            </a:r>
          </a:p>
          <a:p>
            <a:pPr marL="228600" indent="-228600">
              <a:spcBef>
                <a:spcPts val="1000"/>
              </a:spcBef>
              <a:buChar char="•"/>
            </a:pPr>
            <a:r>
              <a:rPr sz="1800" b="0" i="0">
                <a:solidFill>
                  <a:srgbClr val="F2F6FC"/>
                </a:solidFill>
                <a:latin typeface="Calibri"/>
              </a:rPr>
              <a:t>Either is enough: I just ask Claude to initialize</a:t>
            </a:r>
          </a:p>
        </p:txBody>
      </p:sp>
      <p:sp>
        <p:nvSpPr>
          <p:cNvPr id="7" name="Rounded Rectangle 28"/>
          <p:cNvSpPr/>
          <p:nvPr/>
        </p:nvSpPr>
        <p:spPr>
          <a:xfrm>
            <a:off x="6245352" y="1554480"/>
            <a:ext cx="5394960" cy="2880360"/>
          </a:xfrm>
          <a:prstGeom prst="roundRect">
            <a:avLst>
              <a:gd name="adj" fmla="val 476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6473952" y="1737360"/>
            <a:ext cx="493776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Output: docs, folders, plans</a:t>
            </a:r>
          </a:p>
        </p:txBody>
      </p:sp>
      <p:sp>
        <p:nvSpPr>
          <p:cNvPr id="9" name="TextBox 27"/>
          <p:cNvSpPr txBox="1"/>
          <p:nvPr/>
        </p:nvSpPr>
        <p:spPr>
          <a:xfrm>
            <a:off x="6473952" y="2212848"/>
            <a:ext cx="4937760" cy="2011680"/>
          </a:xfrm>
          <a:prstGeom prst="rect">
            <a:avLst/>
          </a:prstGeom>
          <a:noFill/>
        </p:spPr>
        <p:txBody>
          <a:bodyPr wrap="square" lIns="0" tIns="0" rIns="0" bIns="0" anchor="t">
            <a:spAutoFit/>
          </a:bodyPr>
          <a:lstStyle/>
          <a:p>
            <a:pPr marL="228600" indent="-228600">
              <a:buChar char="•"/>
            </a:pPr>
            <a:r>
              <a:rPr sz="1800" b="1" i="0">
                <a:solidFill>
                  <a:srgbClr val="38BDF8"/>
                </a:solidFill>
                <a:latin typeface="Calibri"/>
              </a:rPr>
              <a:t>Docs  </a:t>
            </a:r>
            <a:r>
              <a:rPr sz="1800" b="0" i="0">
                <a:solidFill>
                  <a:srgbClr val="F2F6FC"/>
                </a:solidFill>
                <a:latin typeface="Calibri"/>
              </a:rPr>
              <a:t>README, architecture, flow diagrams, decisions, open questions</a:t>
            </a:r>
          </a:p>
          <a:p>
            <a:pPr marL="228600" indent="-228600">
              <a:spcBef>
                <a:spcPts val="1000"/>
              </a:spcBef>
              <a:buChar char="•"/>
            </a:pPr>
            <a:r>
              <a:rPr sz="1800" b="1" i="0">
                <a:solidFill>
                  <a:srgbClr val="38BDF8"/>
                </a:solidFill>
                <a:latin typeface="Calibri"/>
              </a:rPr>
              <a:t>Folders  </a:t>
            </a:r>
            <a:r>
              <a:rPr sz="1800" b="0" i="0">
                <a:solidFill>
                  <a:srgbClr val="F2F6FC"/>
                </a:solidFill>
                <a:latin typeface="Calibri"/>
              </a:rPr>
              <a:t>docs/ data/ src/ notebooks/ outputs/ test/ plans/</a:t>
            </a:r>
          </a:p>
          <a:p>
            <a:pPr marL="228600" indent="-228600">
              <a:spcBef>
                <a:spcPts val="1000"/>
              </a:spcBef>
              <a:buChar char="•"/>
            </a:pPr>
            <a:r>
              <a:rPr sz="1800" b="1" i="0">
                <a:solidFill>
                  <a:srgbClr val="38BDF8"/>
                </a:solidFill>
                <a:latin typeface="Calibri"/>
              </a:rPr>
              <a:t>Plans  </a:t>
            </a:r>
            <a:r>
              <a:rPr sz="1800" b="0" i="0">
                <a:solidFill>
                  <a:srgbClr val="F2F6FC"/>
                </a:solidFill>
                <a:latin typeface="Calibri"/>
              </a:rPr>
              <a:t>001-plan-&lt;name&gt;.md and progress.md</a:t>
            </a:r>
          </a:p>
          <a:p>
            <a:pPr marL="228600" indent="-228600">
              <a:spcBef>
                <a:spcPts val="1000"/>
              </a:spcBef>
              <a:buChar char="•"/>
            </a:pPr>
            <a:r>
              <a:rPr sz="1800" b="0" i="0">
                <a:solidFill>
                  <a:srgbClr val="F2F6FC"/>
                </a:solidFill>
                <a:latin typeface="Calibri"/>
              </a:rPr>
              <a:t>Claude writes whatever the project needs</a:t>
            </a:r>
          </a:p>
        </p:txBody>
      </p:sp>
      <p:sp>
        <p:nvSpPr>
          <p:cNvPr id="10" name="Rounded Rectangle 31"/>
          <p:cNvSpPr/>
          <p:nvPr/>
        </p:nvSpPr>
        <p:spPr>
          <a:xfrm>
            <a:off x="548640" y="4617720"/>
            <a:ext cx="11091672" cy="1097280"/>
          </a:xfrm>
          <a:prstGeom prst="roundRect">
            <a:avLst>
              <a:gd name="adj" fmla="val 8333"/>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32"/>
          <p:cNvSpPr txBox="1"/>
          <p:nvPr/>
        </p:nvSpPr>
        <p:spPr>
          <a:xfrm>
            <a:off x="777240" y="4782312"/>
            <a:ext cx="10634472" cy="822959"/>
          </a:xfrm>
          <a:prstGeom prst="rect">
            <a:avLst/>
          </a:prstGeom>
          <a:noFill/>
        </p:spPr>
        <p:txBody>
          <a:bodyPr wrap="square" lIns="0" tIns="0" rIns="0" bIns="0" anchor="t">
            <a:spAutoFit/>
          </a:bodyPr>
          <a:lstStyle/>
          <a:p>
            <a:pPr marL="0" indent="0">
              <a:buNone/>
            </a:pPr>
            <a:r>
              <a:rPr sz="1500" b="0" i="0">
                <a:solidFill>
                  <a:srgbClr val="F2F6FC"/>
                </a:solidFill>
                <a:latin typeface="Courier New"/>
              </a:rPr>
              <a:t>&gt; Initialize the project. Use our conversation and what is in docs/ and data/.</a:t>
            </a:r>
          </a:p>
          <a:p>
            <a:pPr marL="0" indent="0">
              <a:spcBef>
                <a:spcPts val="0"/>
              </a:spcBef>
              <a:buNone/>
            </a:pPr>
            <a:r>
              <a:rPr sz="1500" b="0" i="0">
                <a:solidFill>
                  <a:srgbClr val="F2F6FC"/>
                </a:solidFill>
                <a:latin typeface="Courier New"/>
              </a:rPr>
              <a:t>  Write the README, diagrams, decisions and open questions, then the folders and plans.</a:t>
            </a:r>
          </a:p>
        </p:txBody>
      </p:sp>
      <p:sp>
        <p:nvSpPr>
          <p:cNvPr id="12" name="TextBox 33"/>
          <p:cNvSpPr txBox="1"/>
          <p:nvPr/>
        </p:nvSpPr>
        <p:spPr>
          <a:xfrm>
            <a:off x="548640" y="5852160"/>
            <a:ext cx="11091672" cy="365760"/>
          </a:xfrm>
          <a:prstGeom prst="rect">
            <a:avLst/>
          </a:prstGeom>
          <a:noFill/>
        </p:spPr>
        <p:txBody>
          <a:bodyPr wrap="square" lIns="0" tIns="0" rIns="0" bIns="0" anchor="t">
            <a:spAutoFit/>
          </a:bodyPr>
          <a:lstStyle/>
          <a:p>
            <a:pPr marL="0" indent="0">
              <a:buNone/>
            </a:pPr>
            <a:r>
              <a:rPr sz="1600" b="0" i="0">
                <a:solidFill>
                  <a:srgbClr val="5EEAD4"/>
                </a:solidFill>
                <a:latin typeface="Calibri"/>
              </a:rPr>
              <a:t>The skill is "initialize-project": it runs when I ask, so every project starts the same way.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2F6FC"/>
                </a:solidFill>
                <a:latin typeface="Calibri"/>
              </a:rPr>
              <a:t>Step 4: </a:t>
            </a:r>
            <a:r>
              <a:rPr sz="3000" b="1" i="0">
                <a:solidFill>
                  <a:srgbClr val="FF8A2B"/>
                </a:solidFill>
                <a:latin typeface="Calibri"/>
              </a:rPr>
              <a:t>a detailed plan</a:t>
            </a:r>
            <a:r>
              <a:rPr sz="3000" b="1" i="0">
                <a:solidFill>
                  <a:srgbClr val="F2F6FC"/>
                </a:solidFill>
                <a:latin typeface="Calibri"/>
              </a:rPr>
              <a:t>, numbered and named</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20</a:t>
            </a:fld>
            <a:endParaRPr lang="en-US"/>
          </a:p>
        </p:txBody>
      </p:sp>
      <p:sp>
        <p:nvSpPr>
          <p:cNvPr id="4" name="Rounded Rectangle 25"/>
          <p:cNvSpPr/>
          <p:nvPr/>
        </p:nvSpPr>
        <p:spPr>
          <a:xfrm>
            <a:off x="548640" y="1554480"/>
            <a:ext cx="4754880" cy="1600200"/>
          </a:xfrm>
          <a:prstGeom prst="roundRect">
            <a:avLst>
              <a:gd name="adj" fmla="val 5714"/>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19072"/>
            <a:ext cx="4297680" cy="1325880"/>
          </a:xfrm>
          <a:prstGeom prst="rect">
            <a:avLst/>
          </a:prstGeom>
          <a:noFill/>
        </p:spPr>
        <p:txBody>
          <a:bodyPr wrap="square" lIns="0" tIns="0" rIns="0" bIns="0" anchor="t">
            <a:spAutoFit/>
          </a:bodyPr>
          <a:lstStyle/>
          <a:p>
            <a:pPr marL="0" indent="0">
              <a:buNone/>
            </a:pPr>
            <a:r>
              <a:rPr sz="1600" b="0" i="0">
                <a:solidFill>
                  <a:srgbClr val="F2F6FC"/>
                </a:solidFill>
                <a:latin typeface="Courier New"/>
              </a:rPr>
              <a:t>plans/</a:t>
            </a:r>
          </a:p>
          <a:p>
            <a:pPr marL="0" indent="0">
              <a:spcBef>
                <a:spcPts val="0"/>
              </a:spcBef>
              <a:buNone/>
            </a:pPr>
            <a:r>
              <a:rPr sz="1600" b="0" i="0">
                <a:solidFill>
                  <a:srgbClr val="F2F6FC"/>
                </a:solidFill>
                <a:latin typeface="Courier New"/>
              </a:rPr>
              <a:t>  001-plan-report.md</a:t>
            </a:r>
          </a:p>
          <a:p>
            <a:pPr marL="0" indent="0">
              <a:spcBef>
                <a:spcPts val="0"/>
              </a:spcBef>
              <a:buNone/>
            </a:pPr>
            <a:r>
              <a:rPr sz="1600" b="0" i="0">
                <a:solidFill>
                  <a:srgbClr val="F2F6FC"/>
                </a:solidFill>
                <a:latin typeface="Courier New"/>
              </a:rPr>
              <a:t>  002-plan-dashboard.md</a:t>
            </a:r>
          </a:p>
          <a:p>
            <a:pPr marL="0" indent="0">
              <a:spcBef>
                <a:spcPts val="0"/>
              </a:spcBef>
              <a:buNone/>
            </a:pPr>
            <a:r>
              <a:rPr sz="1600" b="0" i="0">
                <a:solidFill>
                  <a:srgbClr val="F2F6FC"/>
                </a:solidFill>
                <a:latin typeface="Courier New"/>
              </a:rPr>
              <a:t>  progress.md</a:t>
            </a:r>
          </a:p>
        </p:txBody>
      </p:sp>
      <p:sp>
        <p:nvSpPr>
          <p:cNvPr id="6" name="Rounded Rectangle 27"/>
          <p:cNvSpPr/>
          <p:nvPr/>
        </p:nvSpPr>
        <p:spPr>
          <a:xfrm>
            <a:off x="548640" y="3337560"/>
            <a:ext cx="4754880" cy="2286000"/>
          </a:xfrm>
          <a:prstGeom prst="roundRect">
            <a:avLst>
              <a:gd name="adj" fmla="val 600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8"/>
          <p:cNvSpPr txBox="1"/>
          <p:nvPr/>
        </p:nvSpPr>
        <p:spPr>
          <a:xfrm>
            <a:off x="777240" y="3474720"/>
            <a:ext cx="4297680" cy="276999"/>
          </a:xfrm>
          <a:prstGeom prst="rect">
            <a:avLst/>
          </a:prstGeom>
          <a:noFill/>
        </p:spPr>
        <p:txBody>
          <a:bodyPr wrap="square" lIns="0" tIns="0" rIns="0" bIns="0" anchor="t">
            <a:spAutoFit/>
          </a:bodyPr>
          <a:lstStyle/>
          <a:p>
            <a:pPr marL="0" indent="0">
              <a:buNone/>
            </a:pPr>
            <a:r>
              <a:rPr sz="1800" b="1" i="0">
                <a:solidFill>
                  <a:srgbClr val="38BDF8"/>
                </a:solidFill>
                <a:latin typeface="Calibri"/>
              </a:rPr>
              <a:t>My </a:t>
            </a:r>
            <a:r>
              <a:rPr lang="pt-BR" sz="1800" b="1" i="0">
                <a:solidFill>
                  <a:srgbClr val="38BDF8"/>
                </a:solidFill>
                <a:latin typeface="Calibri"/>
              </a:rPr>
              <a:t>instructions</a:t>
            </a:r>
            <a:r>
              <a:rPr sz="1800" b="1" i="0">
                <a:solidFill>
                  <a:srgbClr val="38BDF8"/>
                </a:solidFill>
                <a:latin typeface="Calibri"/>
              </a:rPr>
              <a:t> for plans</a:t>
            </a:r>
          </a:p>
        </p:txBody>
      </p:sp>
      <p:sp>
        <p:nvSpPr>
          <p:cNvPr id="8" name="TextBox 29"/>
          <p:cNvSpPr txBox="1"/>
          <p:nvPr/>
        </p:nvSpPr>
        <p:spPr>
          <a:xfrm>
            <a:off x="777240" y="3931920"/>
            <a:ext cx="4297680" cy="1645920"/>
          </a:xfrm>
          <a:prstGeom prst="rect">
            <a:avLst/>
          </a:prstGeom>
          <a:noFill/>
        </p:spPr>
        <p:txBody>
          <a:bodyPr wrap="square" lIns="0" tIns="0" rIns="0" bIns="0" anchor="t">
            <a:spAutoFit/>
          </a:bodyPr>
          <a:lstStyle/>
          <a:p>
            <a:pPr marL="228600" indent="-228600">
              <a:buChar char="•"/>
            </a:pPr>
            <a:r>
              <a:rPr sz="1600" b="0" i="0">
                <a:solidFill>
                  <a:srgbClr val="F2F6FC"/>
                </a:solidFill>
                <a:latin typeface="Calibri"/>
              </a:rPr>
              <a:t>One file per effort: 001, 002, 003...</a:t>
            </a:r>
          </a:p>
          <a:p>
            <a:pPr marL="228600" indent="-228600">
              <a:spcBef>
                <a:spcPts val="500"/>
              </a:spcBef>
              <a:buChar char="•"/>
            </a:pPr>
            <a:r>
              <a:rPr sz="1600" b="0" i="0">
                <a:solidFill>
                  <a:srgbClr val="F2F6FC"/>
                </a:solidFill>
                <a:latin typeface="Calibri"/>
              </a:rPr>
              <a:t>Never rewrite an old plan for new work</a:t>
            </a:r>
          </a:p>
          <a:p>
            <a:pPr marL="228600" indent="-228600">
              <a:spcBef>
                <a:spcPts val="500"/>
              </a:spcBef>
              <a:buChar char="•"/>
            </a:pPr>
            <a:r>
              <a:rPr sz="1600" b="0" i="0">
                <a:solidFill>
                  <a:srgbClr val="F2F6FC"/>
                </a:solidFill>
                <a:latin typeface="Calibri"/>
              </a:rPr>
              <a:t>Phases, each with tests and an exit gate</a:t>
            </a:r>
          </a:p>
          <a:p>
            <a:pPr marL="228600" indent="-228600">
              <a:spcBef>
                <a:spcPts val="500"/>
              </a:spcBef>
              <a:buChar char="•"/>
            </a:pPr>
            <a:r>
              <a:rPr sz="1600" b="0" i="0">
                <a:solidFill>
                  <a:srgbClr val="F2F6FC"/>
                </a:solidFill>
                <a:latin typeface="Calibri"/>
              </a:rPr>
              <a:t>Big work also gets progress.md</a:t>
            </a:r>
          </a:p>
        </p:txBody>
      </p:sp>
      <p:sp>
        <p:nvSpPr>
          <p:cNvPr id="9" name="Rounded Rectangle 30"/>
          <p:cNvSpPr/>
          <p:nvPr/>
        </p:nvSpPr>
        <p:spPr>
          <a:xfrm>
            <a:off x="5577840" y="1554480"/>
            <a:ext cx="6062472" cy="4069080"/>
          </a:xfrm>
          <a:prstGeom prst="roundRect">
            <a:avLst>
              <a:gd name="adj" fmla="val 2247"/>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31"/>
          <p:cNvSpPr txBox="1"/>
          <p:nvPr/>
        </p:nvSpPr>
        <p:spPr>
          <a:xfrm>
            <a:off x="5806440" y="1719072"/>
            <a:ext cx="5605272" cy="3794760"/>
          </a:xfrm>
          <a:prstGeom prst="rect">
            <a:avLst/>
          </a:prstGeom>
          <a:noFill/>
        </p:spPr>
        <p:txBody>
          <a:bodyPr wrap="square" lIns="0" tIns="0" rIns="0" bIns="0" anchor="t">
            <a:spAutoFit/>
          </a:bodyPr>
          <a:lstStyle/>
          <a:p>
            <a:pPr marL="0" indent="0">
              <a:buNone/>
            </a:pPr>
            <a:r>
              <a:rPr sz="1500" b="0" i="0">
                <a:solidFill>
                  <a:srgbClr val="38BDF8"/>
                </a:solidFill>
                <a:latin typeface="Courier New"/>
              </a:rPr>
              <a:t># 001-plan-monthly-report</a:t>
            </a:r>
          </a:p>
          <a:p>
            <a:pPr marL="0" indent="0">
              <a:spcBef>
                <a:spcPts val="800"/>
              </a:spcBef>
              <a:buNone/>
            </a:pPr>
            <a:r>
              <a:rPr sz="1500" b="0" i="0">
                <a:solidFill>
                  <a:srgbClr val="F2F6FC"/>
                </a:solidFill>
                <a:latin typeface="Courier New"/>
              </a:rPr>
              <a:t>## Phase 1: load and clean data</a:t>
            </a:r>
          </a:p>
          <a:p>
            <a:pPr marL="0" indent="0">
              <a:spcBef>
                <a:spcPts val="0"/>
              </a:spcBef>
              <a:buNone/>
            </a:pPr>
            <a:r>
              <a:rPr sz="1500" b="0" i="0">
                <a:solidFill>
                  <a:srgbClr val="F2F6FC"/>
                </a:solidFill>
                <a:latin typeface="Courier New"/>
              </a:rPr>
              <a:t>- Write load.py, clean the sales sheet</a:t>
            </a:r>
          </a:p>
          <a:p>
            <a:pPr marL="0" indent="0">
              <a:spcBef>
                <a:spcPts val="0"/>
              </a:spcBef>
              <a:buNone/>
            </a:pPr>
            <a:r>
              <a:rPr sz="1500" b="0" i="0">
                <a:solidFill>
                  <a:srgbClr val="F2F6FC"/>
                </a:solidFill>
                <a:latin typeface="Courier New"/>
              </a:rPr>
              <a:t>- Tests: row count = source</a:t>
            </a:r>
          </a:p>
          <a:p>
            <a:pPr marL="0" indent="0">
              <a:spcBef>
                <a:spcPts val="0"/>
              </a:spcBef>
              <a:buNone/>
            </a:pPr>
            <a:r>
              <a:rPr sz="1500" b="0" i="0">
                <a:solidFill>
                  <a:srgbClr val="5EEAD4"/>
                </a:solidFill>
                <a:latin typeface="Courier New"/>
              </a:rPr>
              <a:t>- Exit gate: pytest, ruff, mypy pass</a:t>
            </a:r>
          </a:p>
          <a:p>
            <a:pPr marL="0" indent="0">
              <a:spcBef>
                <a:spcPts val="800"/>
              </a:spcBef>
              <a:buNone/>
            </a:pPr>
            <a:r>
              <a:rPr sz="1500" b="0" i="0">
                <a:solidFill>
                  <a:srgbClr val="F2F6FC"/>
                </a:solidFill>
                <a:latin typeface="Courier New"/>
              </a:rPr>
              <a:t>## Phase 2: build the Word report</a:t>
            </a:r>
          </a:p>
          <a:p>
            <a:pPr marL="0" indent="0">
              <a:spcBef>
                <a:spcPts val="0"/>
              </a:spcBef>
              <a:buNone/>
            </a:pPr>
            <a:r>
              <a:rPr sz="1500" b="0" i="0">
                <a:solidFill>
                  <a:srgbClr val="F2F6FC"/>
                </a:solidFill>
                <a:latin typeface="Courier New"/>
              </a:rPr>
              <a:t>- Fill the template from docs/</a:t>
            </a:r>
          </a:p>
          <a:p>
            <a:pPr marL="0" indent="0">
              <a:spcBef>
                <a:spcPts val="0"/>
              </a:spcBef>
              <a:buNone/>
            </a:pPr>
            <a:r>
              <a:rPr sz="1500" b="0" i="0">
                <a:solidFill>
                  <a:srgbClr val="5EEAD4"/>
                </a:solidFill>
                <a:latin typeface="Courier New"/>
              </a:rPr>
              <a:t>- Exit gate: all 6 fields filled,</a:t>
            </a:r>
          </a:p>
          <a:p>
            <a:pPr marL="0" indent="0">
              <a:spcBef>
                <a:spcPts val="0"/>
              </a:spcBef>
              <a:buNone/>
            </a:pPr>
            <a:r>
              <a:rPr sz="1500" b="0" i="0">
                <a:solidFill>
                  <a:srgbClr val="5EEAD4"/>
                </a:solidFill>
                <a:latin typeface="Courier New"/>
              </a:rPr>
              <a:t>  numbers match the sheet</a:t>
            </a:r>
          </a:p>
          <a:p>
            <a:pPr marL="0" indent="0">
              <a:spcBef>
                <a:spcPts val="800"/>
              </a:spcBef>
              <a:buNone/>
            </a:pPr>
            <a:r>
              <a:rPr sz="1500" b="0" i="0">
                <a:solidFill>
                  <a:srgbClr val="F2F6FC"/>
                </a:solidFill>
                <a:latin typeface="Courier New"/>
              </a:rPr>
              <a:t>## Phase 3: review and export</a:t>
            </a:r>
          </a:p>
          <a:p>
            <a:pPr marL="0" indent="0">
              <a:spcBef>
                <a:spcPts val="0"/>
              </a:spcBef>
              <a:buNone/>
            </a:pPr>
            <a:r>
              <a:rPr sz="1500" b="0" i="0">
                <a:solidFill>
                  <a:srgbClr val="5EEAD4"/>
                </a:solidFill>
                <a:latin typeface="Courier New"/>
              </a:rPr>
              <a:t>- Exit gate: no TODO text left</a:t>
            </a:r>
          </a:p>
        </p:txBody>
      </p:sp>
      <p:sp>
        <p:nvSpPr>
          <p:cNvPr id="11" name="TextBox 32"/>
          <p:cNvSpPr txBox="1"/>
          <p:nvPr/>
        </p:nvSpPr>
        <p:spPr>
          <a:xfrm>
            <a:off x="548640" y="5852160"/>
            <a:ext cx="11091672" cy="365760"/>
          </a:xfrm>
          <a:prstGeom prst="rect">
            <a:avLst/>
          </a:prstGeom>
          <a:noFill/>
        </p:spPr>
        <p:txBody>
          <a:bodyPr wrap="square" lIns="0" tIns="0" rIns="0" bIns="0" anchor="t">
            <a:spAutoFit/>
          </a:bodyPr>
          <a:lstStyle/>
          <a:p>
            <a:pPr marL="0" indent="0">
              <a:buNone/>
            </a:pPr>
            <a:r>
              <a:rPr sz="1600" b="0" i="0">
                <a:solidFill>
                  <a:srgbClr val="5EEAD4"/>
                </a:solidFill>
                <a:latin typeface="Calibri"/>
              </a:rPr>
              <a:t>Ask Claude: "Make a detailed plan in phases, with a test plan and an exit gate for each."</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F8A2B"/>
                </a:solidFill>
                <a:latin typeface="Calibri"/>
              </a:rPr>
              <a:t>progress.md</a:t>
            </a:r>
            <a:r>
              <a:rPr sz="3000" b="1" i="0">
                <a:solidFill>
                  <a:srgbClr val="F2F6FC"/>
                </a:solidFill>
                <a:latin typeface="Calibri"/>
              </a:rPr>
              <a:t>: the file that drives the whole loop</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21</a:t>
            </a:fld>
            <a:endParaRPr lang="en-US"/>
          </a:p>
        </p:txBody>
      </p:sp>
      <p:sp>
        <p:nvSpPr>
          <p:cNvPr id="4" name="Rounded Rectangle 25"/>
          <p:cNvSpPr/>
          <p:nvPr/>
        </p:nvSpPr>
        <p:spPr>
          <a:xfrm>
            <a:off x="548640" y="1554480"/>
            <a:ext cx="5394960" cy="4617720"/>
          </a:xfrm>
          <a:prstGeom prst="roundRect">
            <a:avLst>
              <a:gd name="adj" fmla="val 1980"/>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19072"/>
            <a:ext cx="4937760" cy="4343400"/>
          </a:xfrm>
          <a:prstGeom prst="rect">
            <a:avLst/>
          </a:prstGeom>
          <a:noFill/>
        </p:spPr>
        <p:txBody>
          <a:bodyPr wrap="square" lIns="0" tIns="0" rIns="0" bIns="0" anchor="t">
            <a:spAutoFit/>
          </a:bodyPr>
          <a:lstStyle/>
          <a:p>
            <a:pPr marL="0" indent="0">
              <a:buNone/>
            </a:pPr>
            <a:r>
              <a:rPr sz="1400" b="0" i="0">
                <a:solidFill>
                  <a:srgbClr val="38BDF8"/>
                </a:solidFill>
                <a:latin typeface="Courier New"/>
              </a:rPr>
              <a:t># progress.md</a:t>
            </a:r>
          </a:p>
          <a:p>
            <a:pPr marL="0" indent="0">
              <a:spcBef>
                <a:spcPts val="0"/>
              </a:spcBef>
              <a:buNone/>
            </a:pPr>
            <a:r>
              <a:rPr sz="1400" b="0" i="0">
                <a:solidFill>
                  <a:srgbClr val="F2F6FC"/>
                </a:solidFill>
                <a:latin typeface="Courier New"/>
              </a:rPr>
              <a:t>Status: phase 2 of 4, in progress</a:t>
            </a:r>
          </a:p>
          <a:p>
            <a:pPr marL="0" indent="0">
              <a:spcBef>
                <a:spcPts val="700"/>
              </a:spcBef>
              <a:buNone/>
            </a:pPr>
            <a:r>
              <a:rPr sz="1400" b="0" i="0">
                <a:solidFill>
                  <a:srgbClr val="F2F6FC"/>
                </a:solidFill>
                <a:latin typeface="Courier New"/>
              </a:rPr>
              <a:t>## Done</a:t>
            </a:r>
          </a:p>
          <a:p>
            <a:pPr marL="0" indent="0">
              <a:spcBef>
                <a:spcPts val="0"/>
              </a:spcBef>
              <a:buNone/>
            </a:pPr>
            <a:r>
              <a:rPr sz="1400" b="0" i="0">
                <a:solidFill>
                  <a:srgbClr val="F2F6FC"/>
                </a:solidFill>
                <a:latin typeface="Courier New"/>
              </a:rPr>
              <a:t>- P1 data loaded and cleaned</a:t>
            </a:r>
          </a:p>
          <a:p>
            <a:pPr marL="0" indent="0">
              <a:spcBef>
                <a:spcPts val="700"/>
              </a:spcBef>
              <a:buNone/>
            </a:pPr>
            <a:r>
              <a:rPr sz="1400" b="0" i="0">
                <a:solidFill>
                  <a:srgbClr val="F2F6FC"/>
                </a:solidFill>
                <a:latin typeface="Courier New"/>
              </a:rPr>
              <a:t>## In progress</a:t>
            </a:r>
          </a:p>
          <a:p>
            <a:pPr marL="0" indent="0">
              <a:spcBef>
                <a:spcPts val="0"/>
              </a:spcBef>
              <a:buNone/>
            </a:pPr>
            <a:r>
              <a:rPr sz="1400" b="0" i="0">
                <a:solidFill>
                  <a:srgbClr val="F2F6FC"/>
                </a:solidFill>
                <a:latin typeface="Courier New"/>
              </a:rPr>
              <a:t>- P2 build the Word report</a:t>
            </a:r>
          </a:p>
          <a:p>
            <a:pPr marL="0" indent="0">
              <a:spcBef>
                <a:spcPts val="700"/>
              </a:spcBef>
              <a:buNone/>
            </a:pPr>
            <a:r>
              <a:rPr sz="1400" b="0" i="0">
                <a:solidFill>
                  <a:srgbClr val="F2F6FC"/>
                </a:solidFill>
                <a:latin typeface="Courier New"/>
              </a:rPr>
              <a:t>## Next</a:t>
            </a:r>
          </a:p>
          <a:p>
            <a:pPr marL="0" indent="0">
              <a:spcBef>
                <a:spcPts val="0"/>
              </a:spcBef>
              <a:buNone/>
            </a:pPr>
            <a:r>
              <a:rPr sz="1400" b="0" i="0">
                <a:solidFill>
                  <a:srgbClr val="F2F6FC"/>
                </a:solidFill>
                <a:latin typeface="Courier New"/>
              </a:rPr>
              <a:t>- P3 review, P4 export</a:t>
            </a:r>
          </a:p>
          <a:p>
            <a:pPr marL="0" indent="0">
              <a:spcBef>
                <a:spcPts val="700"/>
              </a:spcBef>
              <a:buNone/>
            </a:pPr>
            <a:r>
              <a:rPr sz="1400" b="0" i="0">
                <a:solidFill>
                  <a:srgbClr val="5EEAD4"/>
                </a:solidFill>
                <a:latin typeface="Courier New"/>
              </a:rPr>
              <a:t>## Gate results (evidence)</a:t>
            </a:r>
          </a:p>
          <a:p>
            <a:pPr marL="0" indent="0">
              <a:spcBef>
                <a:spcPts val="0"/>
              </a:spcBef>
              <a:buNone/>
            </a:pPr>
            <a:r>
              <a:rPr sz="1400" b="0" i="0">
                <a:solidFill>
                  <a:srgbClr val="5EEAD4"/>
                </a:solidFill>
                <a:latin typeface="Courier New"/>
              </a:rPr>
              <a:t>- P1: pytest 12 passed, ruff clean</a:t>
            </a:r>
          </a:p>
          <a:p>
            <a:pPr marL="0" indent="0">
              <a:spcBef>
                <a:spcPts val="700"/>
              </a:spcBef>
              <a:buNone/>
            </a:pPr>
            <a:r>
              <a:rPr sz="1400" b="0" i="0">
                <a:solidFill>
                  <a:srgbClr val="F2F6FC"/>
                </a:solidFill>
                <a:latin typeface="Courier New"/>
              </a:rPr>
              <a:t>## Decisions</a:t>
            </a:r>
          </a:p>
          <a:p>
            <a:pPr marL="0" indent="0">
              <a:spcBef>
                <a:spcPts val="0"/>
              </a:spcBef>
              <a:buNone/>
            </a:pPr>
            <a:r>
              <a:rPr sz="1400" b="0" i="0">
                <a:solidFill>
                  <a:srgbClr val="F2F6FC"/>
                </a:solidFill>
                <a:latin typeface="Courier New"/>
              </a:rPr>
              <a:t>- Use the Word template in docs/</a:t>
            </a:r>
          </a:p>
          <a:p>
            <a:pPr marL="0" indent="0">
              <a:spcBef>
                <a:spcPts val="700"/>
              </a:spcBef>
              <a:buNone/>
            </a:pPr>
            <a:r>
              <a:rPr sz="1400" b="0" i="0">
                <a:solidFill>
                  <a:srgbClr val="FBBF24"/>
                </a:solidFill>
                <a:latin typeface="Courier New"/>
              </a:rPr>
              <a:t>## Known issues</a:t>
            </a:r>
          </a:p>
          <a:p>
            <a:pPr marL="0" indent="0">
              <a:spcBef>
                <a:spcPts val="0"/>
              </a:spcBef>
              <a:buNone/>
            </a:pPr>
            <a:r>
              <a:rPr sz="1400" b="0" i="0">
                <a:solidFill>
                  <a:srgbClr val="FBBF24"/>
                </a:solidFill>
                <a:latin typeface="Courier New"/>
              </a:rPr>
              <a:t>- 3 rows miss Client ID: fix in P2</a:t>
            </a:r>
          </a:p>
        </p:txBody>
      </p:sp>
      <p:sp>
        <p:nvSpPr>
          <p:cNvPr id="6" name="Rounded Rectangle 27"/>
          <p:cNvSpPr/>
          <p:nvPr/>
        </p:nvSpPr>
        <p:spPr>
          <a:xfrm>
            <a:off x="6217920" y="1554480"/>
            <a:ext cx="5422392"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8"/>
          <p:cNvSpPr txBox="1"/>
          <p:nvPr/>
        </p:nvSpPr>
        <p:spPr>
          <a:xfrm>
            <a:off x="6446520" y="1737360"/>
            <a:ext cx="4965192" cy="347472"/>
          </a:xfrm>
          <a:prstGeom prst="rect">
            <a:avLst/>
          </a:prstGeom>
          <a:noFill/>
        </p:spPr>
        <p:txBody>
          <a:bodyPr wrap="square" lIns="0" tIns="0" rIns="0" bIns="0" anchor="t">
            <a:spAutoFit/>
          </a:bodyPr>
          <a:lstStyle/>
          <a:p>
            <a:pPr marL="0" indent="0">
              <a:buNone/>
            </a:pPr>
            <a:r>
              <a:rPr sz="1800" b="1" i="0">
                <a:solidFill>
                  <a:srgbClr val="F2F6FC"/>
                </a:solidFill>
                <a:latin typeface="Calibri"/>
              </a:rPr>
              <a:t>Memory outside the chat</a:t>
            </a:r>
          </a:p>
        </p:txBody>
      </p:sp>
      <p:sp>
        <p:nvSpPr>
          <p:cNvPr id="8" name="TextBox 29"/>
          <p:cNvSpPr txBox="1"/>
          <p:nvPr/>
        </p:nvSpPr>
        <p:spPr>
          <a:xfrm>
            <a:off x="6446520" y="2148839"/>
            <a:ext cx="4965192" cy="246887"/>
          </a:xfrm>
          <a:prstGeom prst="rect">
            <a:avLst/>
          </a:prstGeom>
          <a:noFill/>
        </p:spPr>
        <p:txBody>
          <a:bodyPr wrap="square" lIns="0" tIns="0" rIns="0" bIns="0" anchor="t">
            <a:spAutoFit/>
          </a:bodyPr>
          <a:lstStyle/>
          <a:p>
            <a:pPr marL="0" indent="0">
              <a:buNone/>
            </a:pPr>
            <a:r>
              <a:rPr sz="1500" b="0" i="0">
                <a:solidFill>
                  <a:srgbClr val="A9BCD6"/>
                </a:solidFill>
                <a:latin typeface="Calibri"/>
              </a:rPr>
              <a:t>A new chat or a new day: Claude re-reads it and continues</a:t>
            </a:r>
          </a:p>
        </p:txBody>
      </p:sp>
      <p:sp>
        <p:nvSpPr>
          <p:cNvPr id="9" name="Rounded Rectangle 30"/>
          <p:cNvSpPr/>
          <p:nvPr/>
        </p:nvSpPr>
        <p:spPr>
          <a:xfrm>
            <a:off x="6217920" y="2743200"/>
            <a:ext cx="5422392"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31"/>
          <p:cNvSpPr txBox="1"/>
          <p:nvPr/>
        </p:nvSpPr>
        <p:spPr>
          <a:xfrm>
            <a:off x="6446520" y="2926080"/>
            <a:ext cx="4965192" cy="347472"/>
          </a:xfrm>
          <a:prstGeom prst="rect">
            <a:avLst/>
          </a:prstGeom>
          <a:noFill/>
        </p:spPr>
        <p:txBody>
          <a:bodyPr wrap="square" lIns="0" tIns="0" rIns="0" bIns="0" anchor="t">
            <a:spAutoFit/>
          </a:bodyPr>
          <a:lstStyle/>
          <a:p>
            <a:pPr marL="0" indent="0">
              <a:buNone/>
            </a:pPr>
            <a:r>
              <a:rPr sz="1800" b="1" i="0">
                <a:solidFill>
                  <a:srgbClr val="F2F6FC"/>
                </a:solidFill>
                <a:latin typeface="Calibri"/>
              </a:rPr>
              <a:t>Evidence, not promises</a:t>
            </a:r>
          </a:p>
        </p:txBody>
      </p:sp>
      <p:sp>
        <p:nvSpPr>
          <p:cNvPr id="11" name="TextBox 32"/>
          <p:cNvSpPr txBox="1"/>
          <p:nvPr/>
        </p:nvSpPr>
        <p:spPr>
          <a:xfrm>
            <a:off x="6446520" y="3337560"/>
            <a:ext cx="4965192" cy="246887"/>
          </a:xfrm>
          <a:prstGeom prst="rect">
            <a:avLst/>
          </a:prstGeom>
          <a:noFill/>
        </p:spPr>
        <p:txBody>
          <a:bodyPr wrap="square" lIns="0" tIns="0" rIns="0" bIns="0" anchor="t">
            <a:spAutoFit/>
          </a:bodyPr>
          <a:lstStyle/>
          <a:p>
            <a:pPr marL="0" indent="0">
              <a:buNone/>
            </a:pPr>
            <a:r>
              <a:rPr sz="1500" b="0" i="0">
                <a:solidFill>
                  <a:srgbClr val="A9BCD6"/>
                </a:solidFill>
                <a:latin typeface="Calibri"/>
              </a:rPr>
              <a:t>Every "done" comes with its gate result next to it</a:t>
            </a:r>
          </a:p>
        </p:txBody>
      </p:sp>
      <p:sp>
        <p:nvSpPr>
          <p:cNvPr id="12" name="Rounded Rectangle 33"/>
          <p:cNvSpPr/>
          <p:nvPr/>
        </p:nvSpPr>
        <p:spPr>
          <a:xfrm>
            <a:off x="6217920" y="3931920"/>
            <a:ext cx="5422392"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34"/>
          <p:cNvSpPr txBox="1"/>
          <p:nvPr/>
        </p:nvSpPr>
        <p:spPr>
          <a:xfrm>
            <a:off x="6446520" y="4114800"/>
            <a:ext cx="4965192" cy="347472"/>
          </a:xfrm>
          <a:prstGeom prst="rect">
            <a:avLst/>
          </a:prstGeom>
          <a:noFill/>
        </p:spPr>
        <p:txBody>
          <a:bodyPr wrap="square" lIns="0" tIns="0" rIns="0" bIns="0" anchor="t">
            <a:spAutoFit/>
          </a:bodyPr>
          <a:lstStyle/>
          <a:p>
            <a:pPr marL="0" indent="0">
              <a:buNone/>
            </a:pPr>
            <a:r>
              <a:rPr sz="1800" b="1" i="0">
                <a:solidFill>
                  <a:srgbClr val="F2F6FC"/>
                </a:solidFill>
                <a:latin typeface="Calibri"/>
              </a:rPr>
              <a:t>Readable in 30 seconds</a:t>
            </a:r>
          </a:p>
        </p:txBody>
      </p:sp>
      <p:sp>
        <p:nvSpPr>
          <p:cNvPr id="14" name="TextBox 35"/>
          <p:cNvSpPr txBox="1"/>
          <p:nvPr/>
        </p:nvSpPr>
        <p:spPr>
          <a:xfrm>
            <a:off x="6446520" y="4526280"/>
            <a:ext cx="4965192" cy="246887"/>
          </a:xfrm>
          <a:prstGeom prst="rect">
            <a:avLst/>
          </a:prstGeom>
          <a:noFill/>
        </p:spPr>
        <p:txBody>
          <a:bodyPr wrap="square" lIns="0" tIns="0" rIns="0" bIns="0" anchor="t">
            <a:spAutoFit/>
          </a:bodyPr>
          <a:lstStyle/>
          <a:p>
            <a:pPr marL="0" indent="0">
              <a:buNone/>
            </a:pPr>
            <a:r>
              <a:rPr sz="1500" b="0" i="0">
                <a:solidFill>
                  <a:srgbClr val="A9BCD6"/>
                </a:solidFill>
                <a:latin typeface="Calibri"/>
              </a:rPr>
              <a:t>I check status and evidence, then say what comes next</a:t>
            </a:r>
          </a:p>
        </p:txBody>
      </p:sp>
      <p:sp>
        <p:nvSpPr>
          <p:cNvPr id="15" name="Rounded Rectangle 36"/>
          <p:cNvSpPr/>
          <p:nvPr/>
        </p:nvSpPr>
        <p:spPr>
          <a:xfrm>
            <a:off x="6217920" y="5120640"/>
            <a:ext cx="5422392"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37"/>
          <p:cNvSpPr txBox="1"/>
          <p:nvPr/>
        </p:nvSpPr>
        <p:spPr>
          <a:xfrm>
            <a:off x="6446520" y="5303520"/>
            <a:ext cx="4965192" cy="347472"/>
          </a:xfrm>
          <a:prstGeom prst="rect">
            <a:avLst/>
          </a:prstGeom>
          <a:noFill/>
        </p:spPr>
        <p:txBody>
          <a:bodyPr wrap="square" lIns="0" tIns="0" rIns="0" bIns="0" anchor="t">
            <a:spAutoFit/>
          </a:bodyPr>
          <a:lstStyle/>
          <a:p>
            <a:pPr marL="0" indent="0">
              <a:buNone/>
            </a:pPr>
            <a:r>
              <a:rPr sz="1800" b="1" i="0">
                <a:solidFill>
                  <a:srgbClr val="F2F6FC"/>
                </a:solidFill>
                <a:latin typeface="Calibri"/>
              </a:rPr>
              <a:t>Fuel for self-correction</a:t>
            </a:r>
          </a:p>
        </p:txBody>
      </p:sp>
      <p:sp>
        <p:nvSpPr>
          <p:cNvPr id="17" name="TextBox 38"/>
          <p:cNvSpPr txBox="1"/>
          <p:nvPr/>
        </p:nvSpPr>
        <p:spPr>
          <a:xfrm>
            <a:off x="6446520" y="5715000"/>
            <a:ext cx="4965192" cy="246887"/>
          </a:xfrm>
          <a:prstGeom prst="rect">
            <a:avLst/>
          </a:prstGeom>
          <a:noFill/>
        </p:spPr>
        <p:txBody>
          <a:bodyPr wrap="square" lIns="0" tIns="0" rIns="0" bIns="0" anchor="t">
            <a:spAutoFit/>
          </a:bodyPr>
          <a:lstStyle/>
          <a:p>
            <a:pPr marL="0" indent="0">
              <a:buNone/>
            </a:pPr>
            <a:r>
              <a:rPr sz="1500" b="0" i="0">
                <a:solidFill>
                  <a:srgbClr val="A9BCD6"/>
                </a:solidFill>
                <a:latin typeface="Calibri"/>
              </a:rPr>
              <a:t>Known issues and failed gates become the next pass's to-do list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2F6FC"/>
                </a:solidFill>
                <a:latin typeface="Calibri"/>
              </a:rPr>
              <a:t>Each pass: build, verify, </a:t>
            </a:r>
            <a:r>
              <a:rPr sz="3000" b="1" i="0">
                <a:solidFill>
                  <a:srgbClr val="FF8A2B"/>
                </a:solidFill>
                <a:latin typeface="Calibri"/>
              </a:rPr>
              <a:t>self-correct</a:t>
            </a:r>
            <a:r>
              <a:rPr sz="3000" b="1" i="0">
                <a:solidFill>
                  <a:srgbClr val="F2F6FC"/>
                </a:solidFill>
                <a:latin typeface="Calibri"/>
              </a:rPr>
              <a:t>, repeat</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22</a:t>
            </a:fld>
            <a:endParaRPr lang="en-US"/>
          </a:p>
        </p:txBody>
      </p:sp>
      <p:sp>
        <p:nvSpPr>
          <p:cNvPr id="4" name="Rounded Rectangle 25"/>
          <p:cNvSpPr/>
          <p:nvPr/>
        </p:nvSpPr>
        <p:spPr>
          <a:xfrm>
            <a:off x="548640" y="1554480"/>
            <a:ext cx="3383280" cy="1508760"/>
          </a:xfrm>
          <a:prstGeom prst="roundRect">
            <a:avLst>
              <a:gd name="adj" fmla="val 909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292608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1  Read</a:t>
            </a:r>
          </a:p>
        </p:txBody>
      </p:sp>
      <p:sp>
        <p:nvSpPr>
          <p:cNvPr id="6" name="TextBox 27"/>
          <p:cNvSpPr txBox="1"/>
          <p:nvPr/>
        </p:nvSpPr>
        <p:spPr>
          <a:xfrm>
            <a:off x="777240" y="2212848"/>
            <a:ext cx="2926080" cy="640080"/>
          </a:xfrm>
          <a:prstGeom prst="rect">
            <a:avLst/>
          </a:prstGeom>
          <a:noFill/>
        </p:spPr>
        <p:txBody>
          <a:bodyPr wrap="square" lIns="0" tIns="0" rIns="0" bIns="0" anchor="t">
            <a:spAutoFit/>
          </a:bodyPr>
          <a:lstStyle/>
          <a:p>
            <a:pPr marL="0" indent="0">
              <a:buNone/>
            </a:pPr>
            <a:r>
              <a:rPr sz="1500" b="0" i="0">
                <a:solidFill>
                  <a:srgbClr val="A9BCD6"/>
                </a:solidFill>
                <a:latin typeface="Calibri"/>
              </a:rPr>
              <a:t>plans/ and progress.md: where am I, what is next?</a:t>
            </a:r>
          </a:p>
        </p:txBody>
      </p:sp>
      <p:sp>
        <p:nvSpPr>
          <p:cNvPr id="7" name="Rounded Rectangle 28"/>
          <p:cNvSpPr/>
          <p:nvPr/>
        </p:nvSpPr>
        <p:spPr>
          <a:xfrm>
            <a:off x="4389120" y="1554480"/>
            <a:ext cx="3383280" cy="1508760"/>
          </a:xfrm>
          <a:prstGeom prst="roundRect">
            <a:avLst>
              <a:gd name="adj" fmla="val 909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4617720" y="1737360"/>
            <a:ext cx="292608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2  Do</a:t>
            </a:r>
          </a:p>
        </p:txBody>
      </p:sp>
      <p:sp>
        <p:nvSpPr>
          <p:cNvPr id="9" name="TextBox 30"/>
          <p:cNvSpPr txBox="1"/>
          <p:nvPr/>
        </p:nvSpPr>
        <p:spPr>
          <a:xfrm>
            <a:off x="4617720" y="2212848"/>
            <a:ext cx="2926080" cy="640080"/>
          </a:xfrm>
          <a:prstGeom prst="rect">
            <a:avLst/>
          </a:prstGeom>
          <a:noFill/>
        </p:spPr>
        <p:txBody>
          <a:bodyPr wrap="square" lIns="0" tIns="0" rIns="0" bIns="0" anchor="t">
            <a:spAutoFit/>
          </a:bodyPr>
          <a:lstStyle/>
          <a:p>
            <a:pPr marL="0" indent="0">
              <a:buNone/>
            </a:pPr>
            <a:r>
              <a:rPr sz="1500" b="0" i="0">
                <a:solidFill>
                  <a:srgbClr val="A9BCD6"/>
                </a:solidFill>
                <a:latin typeface="Calibri"/>
              </a:rPr>
              <a:t>Only the next step or phase, nothing more</a:t>
            </a:r>
          </a:p>
        </p:txBody>
      </p:sp>
      <p:sp>
        <p:nvSpPr>
          <p:cNvPr id="10" name="Rounded Rectangle 31"/>
          <p:cNvSpPr/>
          <p:nvPr/>
        </p:nvSpPr>
        <p:spPr>
          <a:xfrm>
            <a:off x="8257031" y="1554480"/>
            <a:ext cx="3383280" cy="1508760"/>
          </a:xfrm>
          <a:prstGeom prst="roundRect">
            <a:avLst>
              <a:gd name="adj" fmla="val 909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32"/>
          <p:cNvSpPr txBox="1"/>
          <p:nvPr/>
        </p:nvSpPr>
        <p:spPr>
          <a:xfrm>
            <a:off x="8485632" y="1737360"/>
            <a:ext cx="292608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3  Verify</a:t>
            </a:r>
          </a:p>
        </p:txBody>
      </p:sp>
      <p:sp>
        <p:nvSpPr>
          <p:cNvPr id="12" name="TextBox 33"/>
          <p:cNvSpPr txBox="1"/>
          <p:nvPr/>
        </p:nvSpPr>
        <p:spPr>
          <a:xfrm>
            <a:off x="8485632" y="2212848"/>
            <a:ext cx="2926080" cy="640080"/>
          </a:xfrm>
          <a:prstGeom prst="rect">
            <a:avLst/>
          </a:prstGeom>
          <a:noFill/>
        </p:spPr>
        <p:txBody>
          <a:bodyPr wrap="square" lIns="0" tIns="0" rIns="0" bIns="0" anchor="t">
            <a:spAutoFit/>
          </a:bodyPr>
          <a:lstStyle/>
          <a:p>
            <a:pPr marL="0" indent="0">
              <a:buNone/>
            </a:pPr>
            <a:r>
              <a:rPr sz="1500" b="0" i="0">
                <a:solidFill>
                  <a:srgbClr val="A9BCD6"/>
                </a:solidFill>
                <a:latin typeface="Calibri"/>
              </a:rPr>
              <a:t>Run the exit gate: tests, checks, a debug run</a:t>
            </a:r>
          </a:p>
        </p:txBody>
      </p:sp>
      <p:sp>
        <p:nvSpPr>
          <p:cNvPr id="13" name="Right Arrow 34"/>
          <p:cNvSpPr/>
          <p:nvPr/>
        </p:nvSpPr>
        <p:spPr>
          <a:xfrm>
            <a:off x="3977639" y="2148840"/>
            <a:ext cx="365760" cy="329184"/>
          </a:xfrm>
          <a:prstGeom prst="rightArrow">
            <a:avLst/>
          </a:prstGeom>
          <a:solidFill>
            <a:srgbClr val="A9B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ight Arrow 35"/>
          <p:cNvSpPr/>
          <p:nvPr/>
        </p:nvSpPr>
        <p:spPr>
          <a:xfrm>
            <a:off x="7818120" y="2148840"/>
            <a:ext cx="365760" cy="329184"/>
          </a:xfrm>
          <a:prstGeom prst="rightArrow">
            <a:avLst/>
          </a:prstGeom>
          <a:solidFill>
            <a:srgbClr val="A9B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36"/>
          <p:cNvSpPr txBox="1"/>
          <p:nvPr/>
        </p:nvSpPr>
        <p:spPr>
          <a:xfrm>
            <a:off x="548640" y="3200400"/>
            <a:ext cx="5394960" cy="365760"/>
          </a:xfrm>
          <a:prstGeom prst="rect">
            <a:avLst/>
          </a:prstGeom>
          <a:noFill/>
        </p:spPr>
        <p:txBody>
          <a:bodyPr wrap="square" lIns="0" tIns="0" rIns="0" bIns="0" anchor="t">
            <a:spAutoFit/>
          </a:bodyPr>
          <a:lstStyle/>
          <a:p>
            <a:pPr marL="0" indent="0" algn="ctr">
              <a:buNone/>
            </a:pPr>
            <a:r>
              <a:rPr sz="1800" b="1" i="0">
                <a:solidFill>
                  <a:srgbClr val="FBBF24"/>
                </a:solidFill>
                <a:latin typeface="Calibri"/>
              </a:rPr>
              <a:t>Gate fails</a:t>
            </a:r>
          </a:p>
        </p:txBody>
      </p:sp>
      <p:sp>
        <p:nvSpPr>
          <p:cNvPr id="16" name="TextBox 37"/>
          <p:cNvSpPr txBox="1"/>
          <p:nvPr/>
        </p:nvSpPr>
        <p:spPr>
          <a:xfrm>
            <a:off x="6245352" y="3200400"/>
            <a:ext cx="5394960" cy="365760"/>
          </a:xfrm>
          <a:prstGeom prst="rect">
            <a:avLst/>
          </a:prstGeom>
          <a:noFill/>
        </p:spPr>
        <p:txBody>
          <a:bodyPr wrap="square" lIns="0" tIns="0" rIns="0" bIns="0" anchor="t">
            <a:spAutoFit/>
          </a:bodyPr>
          <a:lstStyle/>
          <a:p>
            <a:pPr marL="0" indent="0" algn="ctr">
              <a:buNone/>
            </a:pPr>
            <a:r>
              <a:rPr sz="1800" b="1" i="0">
                <a:solidFill>
                  <a:srgbClr val="5EEAD4"/>
                </a:solidFill>
                <a:latin typeface="Calibri"/>
              </a:rPr>
              <a:t>Gate passes</a:t>
            </a:r>
          </a:p>
        </p:txBody>
      </p:sp>
      <p:sp>
        <p:nvSpPr>
          <p:cNvPr id="17" name="Down Arrow 38"/>
          <p:cNvSpPr/>
          <p:nvPr/>
        </p:nvSpPr>
        <p:spPr>
          <a:xfrm>
            <a:off x="3063240" y="3566160"/>
            <a:ext cx="365760" cy="365760"/>
          </a:xfrm>
          <a:prstGeom prst="downArrow">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own Arrow 39"/>
          <p:cNvSpPr/>
          <p:nvPr/>
        </p:nvSpPr>
        <p:spPr>
          <a:xfrm>
            <a:off x="8759952" y="3566160"/>
            <a:ext cx="365760" cy="365760"/>
          </a:xfrm>
          <a:prstGeom prst="downArrow">
            <a:avLst/>
          </a:prstGeom>
          <a:solidFill>
            <a:srgbClr val="5EE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40"/>
          <p:cNvSpPr/>
          <p:nvPr/>
        </p:nvSpPr>
        <p:spPr>
          <a:xfrm>
            <a:off x="548640" y="4023360"/>
            <a:ext cx="5394960" cy="1371600"/>
          </a:xfrm>
          <a:prstGeom prst="roundRect">
            <a:avLst>
              <a:gd name="adj" fmla="val 1000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41"/>
          <p:cNvSpPr txBox="1"/>
          <p:nvPr/>
        </p:nvSpPr>
        <p:spPr>
          <a:xfrm>
            <a:off x="777240" y="4206240"/>
            <a:ext cx="4937760" cy="411480"/>
          </a:xfrm>
          <a:prstGeom prst="rect">
            <a:avLst/>
          </a:prstGeom>
          <a:noFill/>
        </p:spPr>
        <p:txBody>
          <a:bodyPr wrap="square" lIns="0" tIns="0" rIns="0" bIns="0" anchor="t">
            <a:spAutoFit/>
          </a:bodyPr>
          <a:lstStyle/>
          <a:p>
            <a:pPr marL="0" indent="0">
              <a:buNone/>
            </a:pPr>
            <a:r>
              <a:rPr sz="2000" b="1" i="0">
                <a:solidFill>
                  <a:srgbClr val="FBBF24"/>
                </a:solidFill>
                <a:latin typeface="Calibri"/>
              </a:rPr>
              <a:t>Self-correct</a:t>
            </a:r>
          </a:p>
        </p:txBody>
      </p:sp>
      <p:sp>
        <p:nvSpPr>
          <p:cNvPr id="21" name="TextBox 42"/>
          <p:cNvSpPr txBox="1"/>
          <p:nvPr/>
        </p:nvSpPr>
        <p:spPr>
          <a:xfrm>
            <a:off x="777240" y="4681728"/>
            <a:ext cx="4937760" cy="502919"/>
          </a:xfrm>
          <a:prstGeom prst="rect">
            <a:avLst/>
          </a:prstGeom>
          <a:noFill/>
        </p:spPr>
        <p:txBody>
          <a:bodyPr wrap="square" lIns="0" tIns="0" rIns="0" bIns="0" anchor="t">
            <a:spAutoFit/>
          </a:bodyPr>
          <a:lstStyle/>
          <a:p>
            <a:pPr marL="0" indent="0">
              <a:buNone/>
            </a:pPr>
            <a:r>
              <a:rPr sz="1500" b="0" i="0">
                <a:solidFill>
                  <a:srgbClr val="F2F6FC"/>
                </a:solidFill>
                <a:latin typeface="Calibri"/>
              </a:rPr>
              <a:t>Read the error, fix it, log it under Known issues, run the gate again</a:t>
            </a:r>
          </a:p>
        </p:txBody>
      </p:sp>
      <p:sp>
        <p:nvSpPr>
          <p:cNvPr id="22" name="Rounded Rectangle 43"/>
          <p:cNvSpPr/>
          <p:nvPr/>
        </p:nvSpPr>
        <p:spPr>
          <a:xfrm>
            <a:off x="6245352" y="4023360"/>
            <a:ext cx="5394960" cy="1371600"/>
          </a:xfrm>
          <a:prstGeom prst="roundRect">
            <a:avLst>
              <a:gd name="adj" fmla="val 1000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44"/>
          <p:cNvSpPr txBox="1"/>
          <p:nvPr/>
        </p:nvSpPr>
        <p:spPr>
          <a:xfrm>
            <a:off x="6473952" y="4206240"/>
            <a:ext cx="4937760" cy="411480"/>
          </a:xfrm>
          <a:prstGeom prst="rect">
            <a:avLst/>
          </a:prstGeom>
          <a:noFill/>
        </p:spPr>
        <p:txBody>
          <a:bodyPr wrap="square" lIns="0" tIns="0" rIns="0" bIns="0" anchor="t">
            <a:spAutoFit/>
          </a:bodyPr>
          <a:lstStyle/>
          <a:p>
            <a:pPr marL="0" indent="0">
              <a:buNone/>
            </a:pPr>
            <a:r>
              <a:rPr sz="2000" b="1" i="0">
                <a:solidFill>
                  <a:srgbClr val="5EEAD4"/>
                </a:solidFill>
                <a:latin typeface="Calibri"/>
              </a:rPr>
              <a:t>Log and move on</a:t>
            </a:r>
          </a:p>
        </p:txBody>
      </p:sp>
      <p:sp>
        <p:nvSpPr>
          <p:cNvPr id="24" name="TextBox 45"/>
          <p:cNvSpPr txBox="1"/>
          <p:nvPr/>
        </p:nvSpPr>
        <p:spPr>
          <a:xfrm>
            <a:off x="6473952" y="4681728"/>
            <a:ext cx="4937760" cy="502919"/>
          </a:xfrm>
          <a:prstGeom prst="rect">
            <a:avLst/>
          </a:prstGeom>
          <a:noFill/>
        </p:spPr>
        <p:txBody>
          <a:bodyPr wrap="square" lIns="0" tIns="0" rIns="0" bIns="0" anchor="t">
            <a:spAutoFit/>
          </a:bodyPr>
          <a:lstStyle/>
          <a:p>
            <a:pPr marL="0" indent="0">
              <a:buNone/>
            </a:pPr>
            <a:r>
              <a:rPr sz="1500" b="0" i="0">
                <a:solidFill>
                  <a:srgbClr val="F2F6FC"/>
                </a:solidFill>
                <a:latin typeface="Calibri"/>
              </a:rPr>
              <a:t>Write the evidence in progress.md, mark the phase done, next phase</a:t>
            </a:r>
          </a:p>
        </p:txBody>
      </p:sp>
      <p:sp>
        <p:nvSpPr>
          <p:cNvPr id="25" name="TextBox 46"/>
          <p:cNvSpPr txBox="1"/>
          <p:nvPr/>
        </p:nvSpPr>
        <p:spPr>
          <a:xfrm>
            <a:off x="548640" y="5623560"/>
            <a:ext cx="11091672" cy="457200"/>
          </a:xfrm>
          <a:prstGeom prst="rect">
            <a:avLst/>
          </a:prstGeom>
          <a:noFill/>
        </p:spPr>
        <p:txBody>
          <a:bodyPr wrap="square" lIns="0" tIns="0" rIns="0" bIns="0" anchor="t">
            <a:spAutoFit/>
          </a:bodyPr>
          <a:lstStyle/>
          <a:p>
            <a:pPr marL="0" indent="0">
              <a:buNone/>
            </a:pPr>
            <a:r>
              <a:rPr sz="1800" b="1" i="0">
                <a:solidFill>
                  <a:srgbClr val="5EEAD4"/>
                </a:solidFill>
                <a:latin typeface="Calibri"/>
              </a:rPr>
              <a:t>Self-healing: Claude finds and fixes its own mistakes inside the loop, before I review.</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F8A2B"/>
                </a:solidFill>
                <a:latin typeface="Calibri"/>
              </a:rPr>
              <a:t>Exit gates</a:t>
            </a:r>
            <a:r>
              <a:rPr sz="3000" b="1" i="0">
                <a:solidFill>
                  <a:srgbClr val="F2F6FC"/>
                </a:solidFill>
                <a:latin typeface="Calibri"/>
              </a:rPr>
              <a:t>: a short pass-or-fail check for every phase</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23</a:t>
            </a:fld>
            <a:endParaRPr lang="en-US"/>
          </a:p>
        </p:txBody>
      </p:sp>
      <p:sp>
        <p:nvSpPr>
          <p:cNvPr id="4" name="Rounded Rectangle 25"/>
          <p:cNvSpPr/>
          <p:nvPr/>
        </p:nvSpPr>
        <p:spPr>
          <a:xfrm>
            <a:off x="548640" y="1554480"/>
            <a:ext cx="5394960" cy="3154680"/>
          </a:xfrm>
          <a:prstGeom prst="roundRect">
            <a:avLst>
              <a:gd name="adj" fmla="val 43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4937760" cy="411480"/>
          </a:xfrm>
          <a:prstGeom prst="rect">
            <a:avLst/>
          </a:prstGeom>
          <a:noFill/>
        </p:spPr>
        <p:txBody>
          <a:bodyPr wrap="square" lIns="0" tIns="0" rIns="0" bIns="0" anchor="t">
            <a:spAutoFit/>
          </a:bodyPr>
          <a:lstStyle/>
          <a:p>
            <a:pPr marL="0" indent="0">
              <a:buNone/>
            </a:pPr>
            <a:r>
              <a:rPr sz="2000" b="1" i="0">
                <a:solidFill>
                  <a:srgbClr val="38BDF8"/>
                </a:solidFill>
                <a:latin typeface="Calibri"/>
              </a:rPr>
              <a:t>Code</a:t>
            </a:r>
          </a:p>
        </p:txBody>
      </p:sp>
      <p:sp>
        <p:nvSpPr>
          <p:cNvPr id="6" name="TextBox 27"/>
          <p:cNvSpPr txBox="1"/>
          <p:nvPr/>
        </p:nvSpPr>
        <p:spPr>
          <a:xfrm>
            <a:off x="777240" y="2212848"/>
            <a:ext cx="4937760" cy="2286000"/>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pytest passes</a:t>
            </a:r>
          </a:p>
          <a:p>
            <a:pPr marL="228600" indent="-228600">
              <a:spcBef>
                <a:spcPts val="1000"/>
              </a:spcBef>
              <a:buChar char="•"/>
            </a:pPr>
            <a:r>
              <a:rPr sz="1800" b="0" i="0">
                <a:solidFill>
                  <a:srgbClr val="F2F6FC"/>
                </a:solidFill>
                <a:latin typeface="Calibri"/>
              </a:rPr>
              <a:t>ruff and mypy are clean</a:t>
            </a:r>
          </a:p>
          <a:p>
            <a:pPr marL="228600" indent="-228600">
              <a:spcBef>
                <a:spcPts val="1000"/>
              </a:spcBef>
              <a:buChar char="•"/>
            </a:pPr>
            <a:r>
              <a:rPr sz="1800" b="0" i="0">
                <a:solidFill>
                  <a:srgbClr val="F2F6FC"/>
                </a:solidFill>
                <a:latin typeface="Calibri"/>
              </a:rPr>
              <a:t>Debug-mode run works on a small sample</a:t>
            </a:r>
          </a:p>
          <a:p>
            <a:pPr marL="228600" indent="-228600">
              <a:spcBef>
                <a:spcPts val="1000"/>
              </a:spcBef>
              <a:buChar char="•"/>
            </a:pPr>
            <a:r>
              <a:rPr sz="1800" b="0" i="0">
                <a:solidFill>
                  <a:srgbClr val="F2F6FC"/>
                </a:solidFill>
                <a:latin typeface="Calibri"/>
              </a:rPr>
              <a:t>The CLI command runs end to end</a:t>
            </a:r>
          </a:p>
        </p:txBody>
      </p:sp>
      <p:sp>
        <p:nvSpPr>
          <p:cNvPr id="7" name="Rounded Rectangle 28"/>
          <p:cNvSpPr/>
          <p:nvPr/>
        </p:nvSpPr>
        <p:spPr>
          <a:xfrm>
            <a:off x="6245352" y="1554480"/>
            <a:ext cx="5394960" cy="3154680"/>
          </a:xfrm>
          <a:prstGeom prst="roundRect">
            <a:avLst>
              <a:gd name="adj" fmla="val 43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6473952" y="1737360"/>
            <a:ext cx="4937760" cy="411480"/>
          </a:xfrm>
          <a:prstGeom prst="rect">
            <a:avLst/>
          </a:prstGeom>
          <a:noFill/>
        </p:spPr>
        <p:txBody>
          <a:bodyPr wrap="square" lIns="0" tIns="0" rIns="0" bIns="0" anchor="t">
            <a:spAutoFit/>
          </a:bodyPr>
          <a:lstStyle/>
          <a:p>
            <a:pPr marL="0" indent="0">
              <a:buNone/>
            </a:pPr>
            <a:r>
              <a:rPr sz="2000" b="1" i="0">
                <a:solidFill>
                  <a:srgbClr val="38BDF8"/>
                </a:solidFill>
                <a:latin typeface="Calibri"/>
              </a:rPr>
              <a:t>Documents, data, anything else</a:t>
            </a:r>
          </a:p>
        </p:txBody>
      </p:sp>
      <p:sp>
        <p:nvSpPr>
          <p:cNvPr id="9" name="TextBox 30"/>
          <p:cNvSpPr txBox="1"/>
          <p:nvPr/>
        </p:nvSpPr>
        <p:spPr>
          <a:xfrm>
            <a:off x="6473952" y="2212848"/>
            <a:ext cx="4937760" cy="2286000"/>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Word doc: field "Client" and date are filled in</a:t>
            </a:r>
          </a:p>
          <a:p>
            <a:pPr marL="228600" indent="-228600">
              <a:spcBef>
                <a:spcPts val="1000"/>
              </a:spcBef>
              <a:buChar char="•"/>
            </a:pPr>
            <a:r>
              <a:rPr sz="1800" b="0" i="0">
                <a:solidFill>
                  <a:srgbClr val="F2F6FC"/>
                </a:solidFill>
                <a:latin typeface="Calibri"/>
              </a:rPr>
              <a:t>Every slide has a title and speaker notes</a:t>
            </a:r>
          </a:p>
          <a:p>
            <a:pPr marL="228600" indent="-228600">
              <a:spcBef>
                <a:spcPts val="1000"/>
              </a:spcBef>
              <a:buChar char="•"/>
            </a:pPr>
            <a:r>
              <a:rPr sz="1800" b="0" i="0">
                <a:solidFill>
                  <a:srgbClr val="F2F6FC"/>
                </a:solidFill>
                <a:latin typeface="Calibri"/>
              </a:rPr>
              <a:t>Spreadsheet totals match the source file</a:t>
            </a:r>
          </a:p>
          <a:p>
            <a:pPr marL="228600" indent="-228600">
              <a:spcBef>
                <a:spcPts val="1000"/>
              </a:spcBef>
              <a:buChar char="•"/>
            </a:pPr>
            <a:r>
              <a:rPr sz="1800" b="0" i="0">
                <a:solidFill>
                  <a:srgbClr val="F2F6FC"/>
                </a:solidFill>
                <a:latin typeface="Calibri"/>
              </a:rPr>
              <a:t>No TODO or placeholder text left</a:t>
            </a:r>
          </a:p>
          <a:p>
            <a:pPr marL="228600" indent="-228600">
              <a:spcBef>
                <a:spcPts val="1000"/>
              </a:spcBef>
              <a:buChar char="•"/>
            </a:pPr>
            <a:r>
              <a:rPr sz="1800" b="0" i="0">
                <a:solidFill>
                  <a:srgbClr val="F2F6FC"/>
                </a:solidFill>
                <a:latin typeface="Calibri"/>
              </a:rPr>
              <a:t>Email: the ask is in the first line</a:t>
            </a:r>
          </a:p>
        </p:txBody>
      </p:sp>
      <p:sp>
        <p:nvSpPr>
          <p:cNvPr id="10" name="Rounded Rectangle 31"/>
          <p:cNvSpPr/>
          <p:nvPr/>
        </p:nvSpPr>
        <p:spPr>
          <a:xfrm>
            <a:off x="548640" y="4892040"/>
            <a:ext cx="3520440"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32"/>
          <p:cNvSpPr txBox="1"/>
          <p:nvPr/>
        </p:nvSpPr>
        <p:spPr>
          <a:xfrm>
            <a:off x="777240" y="5074920"/>
            <a:ext cx="3063240" cy="320040"/>
          </a:xfrm>
          <a:prstGeom prst="rect">
            <a:avLst/>
          </a:prstGeom>
          <a:noFill/>
        </p:spPr>
        <p:txBody>
          <a:bodyPr wrap="square" lIns="0" tIns="0" rIns="0" bIns="0" anchor="t">
            <a:spAutoFit/>
          </a:bodyPr>
          <a:lstStyle/>
          <a:p>
            <a:pPr marL="0" indent="0">
              <a:buNone/>
            </a:pPr>
            <a:r>
              <a:rPr sz="1800" b="1" i="0">
                <a:solidFill>
                  <a:srgbClr val="5EEAD4"/>
                </a:solidFill>
                <a:latin typeface="Calibri"/>
              </a:rPr>
              <a:t>Catch early</a:t>
            </a:r>
          </a:p>
        </p:txBody>
      </p:sp>
      <p:sp>
        <p:nvSpPr>
          <p:cNvPr id="12" name="TextBox 33"/>
          <p:cNvSpPr txBox="1"/>
          <p:nvPr/>
        </p:nvSpPr>
        <p:spPr>
          <a:xfrm>
            <a:off x="777240" y="5458968"/>
            <a:ext cx="3063240" cy="274319"/>
          </a:xfrm>
          <a:prstGeom prst="rect">
            <a:avLst/>
          </a:prstGeom>
          <a:noFill/>
        </p:spPr>
        <p:txBody>
          <a:bodyPr wrap="square" lIns="0" tIns="0" rIns="0" bIns="0" anchor="t">
            <a:spAutoFit/>
          </a:bodyPr>
          <a:lstStyle/>
          <a:p>
            <a:pPr marL="0" indent="0">
              <a:buNone/>
            </a:pPr>
            <a:r>
              <a:rPr sz="1400" b="0" i="0">
                <a:solidFill>
                  <a:srgbClr val="A9BCD6"/>
                </a:solidFill>
                <a:latin typeface="Calibri"/>
              </a:rPr>
              <a:t>Mistakes show up in the loop, not at the end</a:t>
            </a:r>
          </a:p>
        </p:txBody>
      </p:sp>
      <p:sp>
        <p:nvSpPr>
          <p:cNvPr id="13" name="Rounded Rectangle 34"/>
          <p:cNvSpPr/>
          <p:nvPr/>
        </p:nvSpPr>
        <p:spPr>
          <a:xfrm>
            <a:off x="4334255" y="4892040"/>
            <a:ext cx="3520440"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35"/>
          <p:cNvSpPr txBox="1"/>
          <p:nvPr/>
        </p:nvSpPr>
        <p:spPr>
          <a:xfrm>
            <a:off x="4562855" y="5074920"/>
            <a:ext cx="3063240" cy="320040"/>
          </a:xfrm>
          <a:prstGeom prst="rect">
            <a:avLst/>
          </a:prstGeom>
          <a:noFill/>
        </p:spPr>
        <p:txBody>
          <a:bodyPr wrap="square" lIns="0" tIns="0" rIns="0" bIns="0" anchor="t">
            <a:spAutoFit/>
          </a:bodyPr>
          <a:lstStyle/>
          <a:p>
            <a:pPr marL="0" indent="0">
              <a:buNone/>
            </a:pPr>
            <a:r>
              <a:rPr sz="1800" b="1" i="0">
                <a:solidFill>
                  <a:srgbClr val="5EEAD4"/>
                </a:solidFill>
                <a:latin typeface="Calibri"/>
              </a:rPr>
              <a:t>Self-correct</a:t>
            </a:r>
          </a:p>
        </p:txBody>
      </p:sp>
      <p:sp>
        <p:nvSpPr>
          <p:cNvPr id="15" name="TextBox 36"/>
          <p:cNvSpPr txBox="1"/>
          <p:nvPr/>
        </p:nvSpPr>
        <p:spPr>
          <a:xfrm>
            <a:off x="4562855" y="5458968"/>
            <a:ext cx="3063240" cy="274319"/>
          </a:xfrm>
          <a:prstGeom prst="rect">
            <a:avLst/>
          </a:prstGeom>
          <a:noFill/>
        </p:spPr>
        <p:txBody>
          <a:bodyPr wrap="square" lIns="0" tIns="0" rIns="0" bIns="0" anchor="t">
            <a:spAutoFit/>
          </a:bodyPr>
          <a:lstStyle/>
          <a:p>
            <a:pPr marL="0" indent="0">
              <a:buNone/>
            </a:pPr>
            <a:r>
              <a:rPr sz="1400" b="0" i="0">
                <a:solidFill>
                  <a:srgbClr val="A9BCD6"/>
                </a:solidFill>
                <a:latin typeface="Calibri"/>
              </a:rPr>
              <a:t>A failed gate means fix and re-run</a:t>
            </a:r>
          </a:p>
        </p:txBody>
      </p:sp>
      <p:sp>
        <p:nvSpPr>
          <p:cNvPr id="16" name="Rounded Rectangle 37"/>
          <p:cNvSpPr/>
          <p:nvPr/>
        </p:nvSpPr>
        <p:spPr>
          <a:xfrm>
            <a:off x="8119871" y="4892040"/>
            <a:ext cx="3520440"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38"/>
          <p:cNvSpPr txBox="1"/>
          <p:nvPr/>
        </p:nvSpPr>
        <p:spPr>
          <a:xfrm>
            <a:off x="8348471" y="5074920"/>
            <a:ext cx="3063240" cy="320040"/>
          </a:xfrm>
          <a:prstGeom prst="rect">
            <a:avLst/>
          </a:prstGeom>
          <a:noFill/>
        </p:spPr>
        <p:txBody>
          <a:bodyPr wrap="square" lIns="0" tIns="0" rIns="0" bIns="0" anchor="t">
            <a:spAutoFit/>
          </a:bodyPr>
          <a:lstStyle/>
          <a:p>
            <a:pPr marL="0" indent="0">
              <a:buNone/>
            </a:pPr>
            <a:r>
              <a:rPr sz="1800" b="1" i="0">
                <a:solidFill>
                  <a:srgbClr val="5EEAD4"/>
                </a:solidFill>
                <a:latin typeface="Calibri"/>
              </a:rPr>
              <a:t>Proof</a:t>
            </a:r>
          </a:p>
        </p:txBody>
      </p:sp>
      <p:sp>
        <p:nvSpPr>
          <p:cNvPr id="18" name="TextBox 39"/>
          <p:cNvSpPr txBox="1"/>
          <p:nvPr/>
        </p:nvSpPr>
        <p:spPr>
          <a:xfrm>
            <a:off x="8348471" y="5458968"/>
            <a:ext cx="3063240" cy="274319"/>
          </a:xfrm>
          <a:prstGeom prst="rect">
            <a:avLst/>
          </a:prstGeom>
          <a:noFill/>
        </p:spPr>
        <p:txBody>
          <a:bodyPr wrap="square" lIns="0" tIns="0" rIns="0" bIns="0" anchor="t">
            <a:spAutoFit/>
          </a:bodyPr>
          <a:lstStyle/>
          <a:p>
            <a:pPr marL="0" indent="0">
              <a:buNone/>
            </a:pPr>
            <a:r>
              <a:rPr sz="1400" b="0" i="0">
                <a:solidFill>
                  <a:srgbClr val="A9BCD6"/>
                </a:solidFill>
                <a:latin typeface="Calibri"/>
              </a:rPr>
              <a:t>Results sit in progress.md for me to read</a:t>
            </a:r>
          </a:p>
        </p:txBody>
      </p:sp>
      <p:sp>
        <p:nvSpPr>
          <p:cNvPr id="19" name="TextBox 40"/>
          <p:cNvSpPr txBox="1"/>
          <p:nvPr/>
        </p:nvSpPr>
        <p:spPr>
          <a:xfrm>
            <a:off x="548640" y="6080760"/>
            <a:ext cx="11091672" cy="320040"/>
          </a:xfrm>
          <a:prstGeom prst="rect">
            <a:avLst/>
          </a:prstGeom>
          <a:noFill/>
        </p:spPr>
        <p:txBody>
          <a:bodyPr wrap="square" lIns="0" tIns="0" rIns="0" bIns="0" anchor="t">
            <a:spAutoFit/>
          </a:bodyPr>
          <a:lstStyle/>
          <a:p>
            <a:pPr marL="0" indent="0">
              <a:buNone/>
            </a:pPr>
            <a:r>
              <a:rPr sz="1400" b="0" i="0">
                <a:solidFill>
                  <a:srgbClr val="5EEAD4"/>
                </a:solidFill>
                <a:latin typeface="Calibri"/>
              </a:rPr>
              <a:t>Tip: ask Claude to write the check itself: "write a script that checks the report against the brief".</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2F6FC"/>
                </a:solidFill>
                <a:latin typeface="Calibri"/>
              </a:rPr>
              <a:t>One phase at a time, or </a:t>
            </a:r>
            <a:r>
              <a:rPr sz="3000" b="1" i="0">
                <a:solidFill>
                  <a:srgbClr val="FF8A2B"/>
                </a:solidFill>
                <a:latin typeface="Calibri"/>
              </a:rPr>
              <a:t>all phases at once</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24</a:t>
            </a:fld>
            <a:endParaRPr lang="en-US"/>
          </a:p>
        </p:txBody>
      </p:sp>
      <p:sp>
        <p:nvSpPr>
          <p:cNvPr id="4" name="Rounded Rectangle 25"/>
          <p:cNvSpPr/>
          <p:nvPr/>
        </p:nvSpPr>
        <p:spPr>
          <a:xfrm>
            <a:off x="548640" y="1554480"/>
            <a:ext cx="5394960" cy="3063240"/>
          </a:xfrm>
          <a:prstGeom prst="roundRect">
            <a:avLst>
              <a:gd name="adj" fmla="val 447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4937760" cy="411480"/>
          </a:xfrm>
          <a:prstGeom prst="rect">
            <a:avLst/>
          </a:prstGeom>
          <a:noFill/>
        </p:spPr>
        <p:txBody>
          <a:bodyPr wrap="square" lIns="0" tIns="0" rIns="0" bIns="0" anchor="t">
            <a:spAutoFit/>
          </a:bodyPr>
          <a:lstStyle/>
          <a:p>
            <a:pPr marL="0" indent="0">
              <a:buNone/>
            </a:pPr>
            <a:r>
              <a:rPr sz="2000" b="1" i="0">
                <a:solidFill>
                  <a:srgbClr val="38BDF8"/>
                </a:solidFill>
                <a:latin typeface="Calibri"/>
              </a:rPr>
              <a:t>Careful: one phase, then "next phase"</a:t>
            </a:r>
          </a:p>
        </p:txBody>
      </p:sp>
      <p:sp>
        <p:nvSpPr>
          <p:cNvPr id="6" name="TextBox 27"/>
          <p:cNvSpPr txBox="1"/>
          <p:nvPr/>
        </p:nvSpPr>
        <p:spPr>
          <a:xfrm>
            <a:off x="777240" y="2212848"/>
            <a:ext cx="4937760" cy="2194560"/>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I read the evidence after every phase</a:t>
            </a:r>
          </a:p>
          <a:p>
            <a:pPr marL="228600" indent="-228600">
              <a:spcBef>
                <a:spcPts val="1000"/>
              </a:spcBef>
              <a:buChar char="•"/>
            </a:pPr>
            <a:r>
              <a:rPr sz="1800" b="0" i="0">
                <a:solidFill>
                  <a:srgbClr val="F2F6FC"/>
                </a:solidFill>
                <a:latin typeface="Calibri"/>
              </a:rPr>
              <a:t>Best for new, risky or paid-API work</a:t>
            </a:r>
          </a:p>
          <a:p>
            <a:pPr marL="228600" indent="-228600">
              <a:spcBef>
                <a:spcPts val="1000"/>
              </a:spcBef>
              <a:buChar char="•"/>
            </a:pPr>
            <a:r>
              <a:rPr sz="1800" b="0" i="0">
                <a:solidFill>
                  <a:srgbClr val="F2F6FC"/>
                </a:solidFill>
                <a:latin typeface="Calibri"/>
              </a:rPr>
              <a:t>Easy to steer between phases</a:t>
            </a:r>
          </a:p>
        </p:txBody>
      </p:sp>
      <p:sp>
        <p:nvSpPr>
          <p:cNvPr id="7" name="Rounded Rectangle 28"/>
          <p:cNvSpPr/>
          <p:nvPr/>
        </p:nvSpPr>
        <p:spPr>
          <a:xfrm>
            <a:off x="6245352" y="1554480"/>
            <a:ext cx="5394960" cy="3063240"/>
          </a:xfrm>
          <a:prstGeom prst="roundRect">
            <a:avLst>
              <a:gd name="adj" fmla="val 447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6473952" y="1737360"/>
            <a:ext cx="4937760" cy="411480"/>
          </a:xfrm>
          <a:prstGeom prst="rect">
            <a:avLst/>
          </a:prstGeom>
          <a:noFill/>
        </p:spPr>
        <p:txBody>
          <a:bodyPr wrap="square" lIns="0" tIns="0" rIns="0" bIns="0" anchor="t">
            <a:spAutoFit/>
          </a:bodyPr>
          <a:lstStyle/>
          <a:p>
            <a:pPr marL="0" indent="0">
              <a:buNone/>
            </a:pPr>
            <a:r>
              <a:rPr sz="2000" b="1" i="0">
                <a:solidFill>
                  <a:srgbClr val="38BDF8"/>
                </a:solidFill>
                <a:latin typeface="Calibri"/>
              </a:rPr>
              <a:t>Autopilot: all phases in one go</a:t>
            </a:r>
          </a:p>
        </p:txBody>
      </p:sp>
      <p:sp>
        <p:nvSpPr>
          <p:cNvPr id="9" name="TextBox 30"/>
          <p:cNvSpPr txBox="1"/>
          <p:nvPr/>
        </p:nvSpPr>
        <p:spPr>
          <a:xfrm>
            <a:off x="6473952" y="2212848"/>
            <a:ext cx="4937760" cy="2194560"/>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Claude loops phase by phase, gate by gate</a:t>
            </a:r>
          </a:p>
          <a:p>
            <a:pPr marL="228600" indent="-228600">
              <a:spcBef>
                <a:spcPts val="1000"/>
              </a:spcBef>
              <a:buChar char="•"/>
            </a:pPr>
            <a:r>
              <a:rPr sz="1800" b="0" i="0">
                <a:solidFill>
                  <a:srgbClr val="F2F6FC"/>
                </a:solidFill>
                <a:latin typeface="Calibri"/>
              </a:rPr>
              <a:t>Best for clear plans with solid gates</a:t>
            </a:r>
          </a:p>
          <a:p>
            <a:pPr marL="228600" indent="-228600">
              <a:spcBef>
                <a:spcPts val="1000"/>
              </a:spcBef>
              <a:buChar char="•"/>
            </a:pPr>
            <a:r>
              <a:rPr sz="1800" b="0" i="0">
                <a:solidFill>
                  <a:srgbClr val="F2F6FC"/>
                </a:solidFill>
                <a:latin typeface="Calibri"/>
              </a:rPr>
              <a:t>Tools: /goal, the /ralph-loop plugin, claude -p in a script</a:t>
            </a:r>
          </a:p>
          <a:p>
            <a:pPr marL="228600" indent="-228600">
              <a:spcBef>
                <a:spcPts val="1000"/>
              </a:spcBef>
              <a:buChar char="•"/>
            </a:pPr>
            <a:r>
              <a:rPr sz="1800" b="0" i="0">
                <a:solidFill>
                  <a:srgbClr val="F2F6FC"/>
                </a:solidFill>
                <a:latin typeface="Calibri"/>
              </a:rPr>
              <a:t>A notify hook pings me when it is done</a:t>
            </a:r>
          </a:p>
        </p:txBody>
      </p:sp>
      <p:sp>
        <p:nvSpPr>
          <p:cNvPr id="10" name="Rounded Rectangle 31"/>
          <p:cNvSpPr/>
          <p:nvPr/>
        </p:nvSpPr>
        <p:spPr>
          <a:xfrm>
            <a:off x="548640" y="4800600"/>
            <a:ext cx="5394960" cy="731520"/>
          </a:xfrm>
          <a:prstGeom prst="roundRect">
            <a:avLst>
              <a:gd name="adj" fmla="val 12500"/>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32"/>
          <p:cNvSpPr txBox="1"/>
          <p:nvPr/>
        </p:nvSpPr>
        <p:spPr>
          <a:xfrm>
            <a:off x="777240" y="4965192"/>
            <a:ext cx="4937760" cy="457200"/>
          </a:xfrm>
          <a:prstGeom prst="rect">
            <a:avLst/>
          </a:prstGeom>
          <a:noFill/>
        </p:spPr>
        <p:txBody>
          <a:bodyPr wrap="square" lIns="0" tIns="0" rIns="0" bIns="0" anchor="t">
            <a:spAutoFit/>
          </a:bodyPr>
          <a:lstStyle/>
          <a:p>
            <a:pPr marL="0" indent="0">
              <a:buNone/>
            </a:pPr>
            <a:r>
              <a:rPr sz="1600" b="0" i="0">
                <a:solidFill>
                  <a:srgbClr val="F2F6FC"/>
                </a:solidFill>
                <a:latin typeface="Courier New"/>
              </a:rPr>
              <a:t>&gt; next phase</a:t>
            </a:r>
          </a:p>
        </p:txBody>
      </p:sp>
      <p:sp>
        <p:nvSpPr>
          <p:cNvPr id="12" name="Rounded Rectangle 33"/>
          <p:cNvSpPr/>
          <p:nvPr/>
        </p:nvSpPr>
        <p:spPr>
          <a:xfrm>
            <a:off x="6245352" y="4800600"/>
            <a:ext cx="5394960" cy="1097280"/>
          </a:xfrm>
          <a:prstGeom prst="roundRect">
            <a:avLst>
              <a:gd name="adj" fmla="val 8333"/>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34"/>
          <p:cNvSpPr txBox="1"/>
          <p:nvPr/>
        </p:nvSpPr>
        <p:spPr>
          <a:xfrm>
            <a:off x="6473952" y="4965192"/>
            <a:ext cx="4937760" cy="822959"/>
          </a:xfrm>
          <a:prstGeom prst="rect">
            <a:avLst/>
          </a:prstGeom>
          <a:noFill/>
        </p:spPr>
        <p:txBody>
          <a:bodyPr wrap="square" lIns="0" tIns="0" rIns="0" bIns="0" anchor="t">
            <a:spAutoFit/>
          </a:bodyPr>
          <a:lstStyle/>
          <a:p>
            <a:pPr marL="0" indent="0">
              <a:buNone/>
            </a:pPr>
            <a:r>
              <a:rPr sz="1400" b="0" i="0">
                <a:solidFill>
                  <a:srgbClr val="F2F6FC"/>
                </a:solidFill>
                <a:latin typeface="Courier New"/>
              </a:rPr>
              <a:t>&gt; Do all the phases in the plan. Stop only if</a:t>
            </a:r>
          </a:p>
          <a:p>
            <a:pPr marL="0" indent="0">
              <a:spcBef>
                <a:spcPts val="0"/>
              </a:spcBef>
              <a:buNone/>
            </a:pPr>
            <a:r>
              <a:rPr sz="1400" b="0" i="0">
                <a:solidFill>
                  <a:srgbClr val="F2F6FC"/>
                </a:solidFill>
                <a:latin typeface="Courier New"/>
              </a:rPr>
              <a:t>  a gate fails twice or you need a decision.</a:t>
            </a:r>
          </a:p>
        </p:txBody>
      </p:sp>
      <p:sp>
        <p:nvSpPr>
          <p:cNvPr id="14" name="TextBox 35"/>
          <p:cNvSpPr txBox="1"/>
          <p:nvPr/>
        </p:nvSpPr>
        <p:spPr>
          <a:xfrm>
            <a:off x="548640" y="5989320"/>
            <a:ext cx="11091672" cy="365760"/>
          </a:xfrm>
          <a:prstGeom prst="rect">
            <a:avLst/>
          </a:prstGeom>
          <a:noFill/>
        </p:spPr>
        <p:txBody>
          <a:bodyPr wrap="square" lIns="0" tIns="0" rIns="0" bIns="0" anchor="t">
            <a:spAutoFit/>
          </a:bodyPr>
          <a:lstStyle/>
          <a:p>
            <a:pPr marL="0" indent="0">
              <a:buNone/>
            </a:pPr>
            <a:r>
              <a:rPr sz="1600" b="0" i="0">
                <a:solidFill>
                  <a:srgbClr val="5EEAD4"/>
                </a:solidFill>
                <a:latin typeface="Calibri"/>
              </a:rPr>
              <a:t>Start careful. Move to autopilot once the plan and the gates earn your trust.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F8A2B"/>
                </a:solidFill>
                <a:latin typeface="Calibri"/>
              </a:rPr>
              <a:t>My tricks and good practices</a:t>
            </a:r>
            <a:r>
              <a:rPr sz="3000" b="1" i="0">
                <a:solidFill>
                  <a:srgbClr val="F2F6FC"/>
                </a:solidFill>
                <a:latin typeface="Calibri"/>
              </a:rPr>
              <a:t> for the loop</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25</a:t>
            </a:fld>
            <a:endParaRPr lang="en-US"/>
          </a:p>
        </p:txBody>
      </p:sp>
      <p:sp>
        <p:nvSpPr>
          <p:cNvPr id="4" name="Rounded Rectangle 25"/>
          <p:cNvSpPr/>
          <p:nvPr/>
        </p:nvSpPr>
        <p:spPr>
          <a:xfrm>
            <a:off x="548640" y="1554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1</a:t>
            </a:r>
          </a:p>
        </p:txBody>
      </p:sp>
      <p:sp>
        <p:nvSpPr>
          <p:cNvPr id="6" name="TextBox 27"/>
          <p:cNvSpPr txBox="1"/>
          <p:nvPr/>
        </p:nvSpPr>
        <p:spPr>
          <a:xfrm>
            <a:off x="777240" y="2057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Numbered plans</a:t>
            </a:r>
          </a:p>
        </p:txBody>
      </p:sp>
      <p:sp>
        <p:nvSpPr>
          <p:cNvPr id="7" name="TextBox 28"/>
          <p:cNvSpPr txBox="1"/>
          <p:nvPr/>
        </p:nvSpPr>
        <p:spPr>
          <a:xfrm>
            <a:off x="777240" y="2743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001, 002, 003: never rewrite an old plan for new work</a:t>
            </a:r>
          </a:p>
        </p:txBody>
      </p:sp>
      <p:sp>
        <p:nvSpPr>
          <p:cNvPr id="8" name="Rounded Rectangle 29"/>
          <p:cNvSpPr/>
          <p:nvPr/>
        </p:nvSpPr>
        <p:spPr>
          <a:xfrm>
            <a:off x="3377153" y="1554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30"/>
          <p:cNvSpPr txBox="1"/>
          <p:nvPr/>
        </p:nvSpPr>
        <p:spPr>
          <a:xfrm>
            <a:off x="3605753" y="1737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2</a:t>
            </a:r>
          </a:p>
        </p:txBody>
      </p:sp>
      <p:sp>
        <p:nvSpPr>
          <p:cNvPr id="10" name="TextBox 31"/>
          <p:cNvSpPr txBox="1"/>
          <p:nvPr/>
        </p:nvSpPr>
        <p:spPr>
          <a:xfrm>
            <a:off x="3605753" y="2057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progress.md every phase</a:t>
            </a:r>
          </a:p>
        </p:txBody>
      </p:sp>
      <p:sp>
        <p:nvSpPr>
          <p:cNvPr id="11" name="TextBox 32"/>
          <p:cNvSpPr txBox="1"/>
          <p:nvPr/>
        </p:nvSpPr>
        <p:spPr>
          <a:xfrm>
            <a:off x="3605753" y="2743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Status, evidence, decisions, known issues: always current</a:t>
            </a:r>
          </a:p>
        </p:txBody>
      </p:sp>
      <p:sp>
        <p:nvSpPr>
          <p:cNvPr id="12" name="Rounded Rectangle 33"/>
          <p:cNvSpPr/>
          <p:nvPr/>
        </p:nvSpPr>
        <p:spPr>
          <a:xfrm>
            <a:off x="6205667" y="1554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34"/>
          <p:cNvSpPr txBox="1"/>
          <p:nvPr/>
        </p:nvSpPr>
        <p:spPr>
          <a:xfrm>
            <a:off x="6434267" y="1737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3</a:t>
            </a:r>
          </a:p>
        </p:txBody>
      </p:sp>
      <p:sp>
        <p:nvSpPr>
          <p:cNvPr id="14" name="TextBox 35"/>
          <p:cNvSpPr txBox="1"/>
          <p:nvPr/>
        </p:nvSpPr>
        <p:spPr>
          <a:xfrm>
            <a:off x="6434267" y="2057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Ask only when blocked</a:t>
            </a:r>
          </a:p>
        </p:txBody>
      </p:sp>
      <p:sp>
        <p:nvSpPr>
          <p:cNvPr id="15" name="TextBox 36"/>
          <p:cNvSpPr txBox="1"/>
          <p:nvPr/>
        </p:nvSpPr>
        <p:spPr>
          <a:xfrm>
            <a:off x="6434267" y="2743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Claude picks sensible defaults and says which; I decide the big calls</a:t>
            </a:r>
          </a:p>
        </p:txBody>
      </p:sp>
      <p:sp>
        <p:nvSpPr>
          <p:cNvPr id="16" name="Rounded Rectangle 37"/>
          <p:cNvSpPr/>
          <p:nvPr/>
        </p:nvSpPr>
        <p:spPr>
          <a:xfrm>
            <a:off x="9034180" y="1554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38"/>
          <p:cNvSpPr txBox="1"/>
          <p:nvPr/>
        </p:nvSpPr>
        <p:spPr>
          <a:xfrm>
            <a:off x="9262780" y="1737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4</a:t>
            </a:r>
          </a:p>
        </p:txBody>
      </p:sp>
      <p:sp>
        <p:nvSpPr>
          <p:cNvPr id="18" name="TextBox 39"/>
          <p:cNvSpPr txBox="1"/>
          <p:nvPr/>
        </p:nvSpPr>
        <p:spPr>
          <a:xfrm>
            <a:off x="9262780" y="2057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Small sample first</a:t>
            </a:r>
          </a:p>
        </p:txBody>
      </p:sp>
      <p:sp>
        <p:nvSpPr>
          <p:cNvPr id="19" name="TextBox 40"/>
          <p:cNvSpPr txBox="1"/>
          <p:nvPr/>
        </p:nvSpPr>
        <p:spPr>
          <a:xfrm>
            <a:off x="9262780" y="2743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Test on a handful of items before any big or paid run</a:t>
            </a:r>
          </a:p>
        </p:txBody>
      </p:sp>
      <p:sp>
        <p:nvSpPr>
          <p:cNvPr id="20" name="Rounded Rectangle 41"/>
          <p:cNvSpPr/>
          <p:nvPr/>
        </p:nvSpPr>
        <p:spPr>
          <a:xfrm>
            <a:off x="548640" y="3840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42"/>
          <p:cNvSpPr txBox="1"/>
          <p:nvPr/>
        </p:nvSpPr>
        <p:spPr>
          <a:xfrm>
            <a:off x="777240" y="4023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5</a:t>
            </a:r>
          </a:p>
        </p:txBody>
      </p:sp>
      <p:sp>
        <p:nvSpPr>
          <p:cNvPr id="22" name="TextBox 43"/>
          <p:cNvSpPr txBox="1"/>
          <p:nvPr/>
        </p:nvSpPr>
        <p:spPr>
          <a:xfrm>
            <a:off x="777240" y="4343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/clear between phases</a:t>
            </a:r>
          </a:p>
        </p:txBody>
      </p:sp>
      <p:sp>
        <p:nvSpPr>
          <p:cNvPr id="23" name="TextBox 44"/>
          <p:cNvSpPr txBox="1"/>
          <p:nvPr/>
        </p:nvSpPr>
        <p:spPr>
          <a:xfrm>
            <a:off x="777240" y="5029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progress.md holds the memory, so the chat can start fresh</a:t>
            </a:r>
          </a:p>
        </p:txBody>
      </p:sp>
      <p:sp>
        <p:nvSpPr>
          <p:cNvPr id="24" name="Rounded Rectangle 45"/>
          <p:cNvSpPr/>
          <p:nvPr/>
        </p:nvSpPr>
        <p:spPr>
          <a:xfrm>
            <a:off x="3377153" y="3840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46"/>
          <p:cNvSpPr txBox="1"/>
          <p:nvPr/>
        </p:nvSpPr>
        <p:spPr>
          <a:xfrm>
            <a:off x="3605753" y="4023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6</a:t>
            </a:r>
          </a:p>
        </p:txBody>
      </p:sp>
      <p:sp>
        <p:nvSpPr>
          <p:cNvPr id="26" name="TextBox 47"/>
          <p:cNvSpPr txBox="1"/>
          <p:nvPr/>
        </p:nvSpPr>
        <p:spPr>
          <a:xfrm>
            <a:off x="3605753" y="4343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Notify me when done</a:t>
            </a:r>
          </a:p>
        </p:txBody>
      </p:sp>
      <p:sp>
        <p:nvSpPr>
          <p:cNvPr id="27" name="TextBox 48"/>
          <p:cNvSpPr txBox="1"/>
          <p:nvPr/>
        </p:nvSpPr>
        <p:spPr>
          <a:xfrm>
            <a:off x="3605753" y="5029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A Stop hook sends a push: leave long runs and come back</a:t>
            </a:r>
          </a:p>
        </p:txBody>
      </p:sp>
      <p:sp>
        <p:nvSpPr>
          <p:cNvPr id="28" name="Rounded Rectangle 49"/>
          <p:cNvSpPr/>
          <p:nvPr/>
        </p:nvSpPr>
        <p:spPr>
          <a:xfrm>
            <a:off x="6205667" y="3840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50"/>
          <p:cNvSpPr txBox="1"/>
          <p:nvPr/>
        </p:nvSpPr>
        <p:spPr>
          <a:xfrm>
            <a:off x="6434267" y="4023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7</a:t>
            </a:r>
          </a:p>
        </p:txBody>
      </p:sp>
      <p:sp>
        <p:nvSpPr>
          <p:cNvPr id="30" name="TextBox 51"/>
          <p:cNvSpPr txBox="1"/>
          <p:nvPr/>
        </p:nvSpPr>
        <p:spPr>
          <a:xfrm>
            <a:off x="6434267" y="4343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Skills hold the recipe</a:t>
            </a:r>
          </a:p>
        </p:txBody>
      </p:sp>
      <p:sp>
        <p:nvSpPr>
          <p:cNvPr id="31" name="TextBox 52"/>
          <p:cNvSpPr txBox="1"/>
          <p:nvPr/>
        </p:nvSpPr>
        <p:spPr>
          <a:xfrm>
            <a:off x="6434267" y="5029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initialize-project builds the docs, plans/ and progress.md for me</a:t>
            </a:r>
          </a:p>
        </p:txBody>
      </p:sp>
      <p:sp>
        <p:nvSpPr>
          <p:cNvPr id="32" name="Rounded Rectangle 53"/>
          <p:cNvSpPr/>
          <p:nvPr/>
        </p:nvSpPr>
        <p:spPr>
          <a:xfrm>
            <a:off x="9034180" y="3840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54"/>
          <p:cNvSpPr txBox="1"/>
          <p:nvPr/>
        </p:nvSpPr>
        <p:spPr>
          <a:xfrm>
            <a:off x="9262780" y="4023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8</a:t>
            </a:r>
          </a:p>
        </p:txBody>
      </p:sp>
      <p:sp>
        <p:nvSpPr>
          <p:cNvPr id="34" name="TextBox 55"/>
          <p:cNvSpPr txBox="1"/>
          <p:nvPr/>
        </p:nvSpPr>
        <p:spPr>
          <a:xfrm>
            <a:off x="9262780" y="4343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No commit unless asked</a:t>
            </a:r>
          </a:p>
        </p:txBody>
      </p:sp>
      <p:sp>
        <p:nvSpPr>
          <p:cNvPr id="35" name="TextBox 56"/>
          <p:cNvSpPr txBox="1"/>
          <p:nvPr/>
        </p:nvSpPr>
        <p:spPr>
          <a:xfrm>
            <a:off x="9262780" y="5029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I review the diff or file first, then say commit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822960" y="2697480"/>
            <a:ext cx="1371600" cy="137160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97480"/>
            <a:ext cx="1371600" cy="1371600"/>
          </a:xfrm>
          <a:prstGeom prst="rect">
            <a:avLst/>
          </a:prstGeom>
          <a:noFill/>
        </p:spPr>
        <p:txBody>
          <a:bodyPr wrap="square" lIns="0" tIns="0" rIns="0" bIns="0" anchor="ctr">
            <a:spAutoFit/>
          </a:bodyPr>
          <a:lstStyle/>
          <a:p>
            <a:pPr algn="ctr"/>
            <a:r>
              <a:rPr sz="6000" b="1">
                <a:solidFill>
                  <a:srgbClr val="0B1F3A"/>
                </a:solidFill>
                <a:latin typeface="Calibri"/>
              </a:rPr>
              <a:t>4</a:t>
            </a:r>
          </a:p>
        </p:txBody>
      </p:sp>
      <p:sp>
        <p:nvSpPr>
          <p:cNvPr id="4" name="TextBox 3"/>
          <p:cNvSpPr txBox="1"/>
          <p:nvPr/>
        </p:nvSpPr>
        <p:spPr>
          <a:xfrm>
            <a:off x="2651760" y="2606040"/>
            <a:ext cx="5486400" cy="914400"/>
          </a:xfrm>
          <a:prstGeom prst="rect">
            <a:avLst/>
          </a:prstGeom>
          <a:noFill/>
        </p:spPr>
        <p:txBody>
          <a:bodyPr wrap="square" lIns="0" tIns="0" rIns="0" bIns="0" anchor="ctr">
            <a:spAutoFit/>
          </a:bodyPr>
          <a:lstStyle/>
          <a:p>
            <a:pPr algn="l"/>
            <a:r>
              <a:rPr sz="5400" b="1">
                <a:solidFill>
                  <a:srgbClr val="F2F6FC"/>
                </a:solidFill>
                <a:latin typeface="Calibri"/>
              </a:rPr>
              <a:t>Amplify</a:t>
            </a:r>
          </a:p>
        </p:txBody>
      </p:sp>
      <p:sp>
        <p:nvSpPr>
          <p:cNvPr id="5" name="TextBox 4"/>
          <p:cNvSpPr txBox="1"/>
          <p:nvPr/>
        </p:nvSpPr>
        <p:spPr>
          <a:xfrm>
            <a:off x="2651760" y="3611880"/>
            <a:ext cx="5486400" cy="822960"/>
          </a:xfrm>
          <a:prstGeom prst="rect">
            <a:avLst/>
          </a:prstGeom>
          <a:noFill/>
        </p:spPr>
        <p:txBody>
          <a:bodyPr wrap="square" lIns="0" tIns="0" rIns="0" bIns="0" anchor="t">
            <a:spAutoFit/>
          </a:bodyPr>
          <a:lstStyle/>
          <a:p>
            <a:pPr algn="l"/>
            <a:r>
              <a:rPr sz="2200" b="0">
                <a:solidFill>
                  <a:srgbClr val="A9BCD6"/>
                </a:solidFill>
                <a:latin typeface="Calibri"/>
              </a:rPr>
              <a:t>Context, flags, MCP, review and parallel work</a:t>
            </a:r>
          </a:p>
        </p:txBody>
      </p:sp>
      <p:sp>
        <p:nvSpPr>
          <p:cNvPr id="6" name="Rounded Rectangle 5"/>
          <p:cNvSpPr/>
          <p:nvPr/>
        </p:nvSpPr>
        <p:spPr>
          <a:xfrm>
            <a:off x="8412480" y="1737360"/>
            <a:ext cx="3246120" cy="3383280"/>
          </a:xfrm>
          <a:prstGeom prst="roundRect">
            <a:avLst>
              <a:gd name="adj" fmla="val 6000"/>
            </a:avLst>
          </a:prstGeom>
          <a:solidFill>
            <a:srgbClr val="1230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0" y="1965960"/>
            <a:ext cx="2743200" cy="365760"/>
          </a:xfrm>
          <a:prstGeom prst="rect">
            <a:avLst/>
          </a:prstGeom>
          <a:noFill/>
        </p:spPr>
        <p:txBody>
          <a:bodyPr wrap="square" lIns="0" tIns="0" rIns="0" bIns="0" anchor="t">
            <a:spAutoFit/>
          </a:bodyPr>
          <a:lstStyle/>
          <a:p>
            <a:pPr algn="l"/>
            <a:r>
              <a:rPr sz="1600" b="1">
                <a:solidFill>
                  <a:srgbClr val="38BDF8"/>
                </a:solidFill>
                <a:latin typeface="Calibri"/>
              </a:rPr>
              <a:t>In this section</a:t>
            </a:r>
          </a:p>
        </p:txBody>
      </p:sp>
      <p:sp>
        <p:nvSpPr>
          <p:cNvPr id="8" name="TextBox 7"/>
          <p:cNvSpPr txBox="1"/>
          <p:nvPr/>
        </p:nvSpPr>
        <p:spPr>
          <a:xfrm>
            <a:off x="8686800" y="2423160"/>
            <a:ext cx="2743200" cy="2560320"/>
          </a:xfrm>
          <a:prstGeom prst="rect">
            <a:avLst/>
          </a:prstGeom>
          <a:noFill/>
        </p:spPr>
        <p:txBody>
          <a:bodyPr wrap="square" lIns="0" tIns="0" rIns="0" bIns="0" anchor="t">
            <a:spAutoFit/>
          </a:bodyPr>
          <a:lstStyle/>
          <a:p>
            <a:pPr algn="l"/>
            <a:r>
              <a:rPr sz="1800" b="0">
                <a:solidFill>
                  <a:srgbClr val="F2F6FC"/>
                </a:solidFill>
                <a:latin typeface="Calibri"/>
              </a:rPr>
              <a:t>Context management</a:t>
            </a:r>
          </a:p>
          <a:p>
            <a:pPr>
              <a:spcBef>
                <a:spcPts val="800"/>
              </a:spcBef>
            </a:pPr>
            <a:r>
              <a:rPr sz="1800">
                <a:solidFill>
                  <a:srgbClr val="F2F6FC"/>
                </a:solidFill>
                <a:latin typeface="Calibri"/>
              </a:rPr>
              <a:t>Terminal flags</a:t>
            </a:r>
          </a:p>
          <a:p>
            <a:pPr>
              <a:spcBef>
                <a:spcPts val="800"/>
              </a:spcBef>
            </a:pPr>
            <a:r>
              <a:rPr sz="1800">
                <a:solidFill>
                  <a:srgbClr val="F2F6FC"/>
                </a:solidFill>
                <a:latin typeface="Calibri"/>
              </a:rPr>
              <a:t>MCP</a:t>
            </a:r>
          </a:p>
          <a:p>
            <a:pPr>
              <a:spcBef>
                <a:spcPts val="800"/>
              </a:spcBef>
            </a:pPr>
            <a:r>
              <a:rPr sz="1800">
                <a:solidFill>
                  <a:srgbClr val="F2F6FC"/>
                </a:solidFill>
                <a:latin typeface="Calibri"/>
              </a:rPr>
              <a:t>Review commands</a:t>
            </a:r>
          </a:p>
          <a:p>
            <a:pPr>
              <a:spcBef>
                <a:spcPts val="800"/>
              </a:spcBef>
            </a:pPr>
            <a:r>
              <a:rPr sz="1800">
                <a:solidFill>
                  <a:srgbClr val="F2F6FC"/>
                </a:solidFill>
                <a:latin typeface="Calibri"/>
              </a:rPr>
              <a:t>Remote and learning</a:t>
            </a:r>
          </a:p>
          <a:p>
            <a:pPr>
              <a:spcBef>
                <a:spcPts val="800"/>
              </a:spcBef>
            </a:pPr>
            <a:r>
              <a:rPr sz="1800">
                <a:solidFill>
                  <a:srgbClr val="F2F6FC"/>
                </a:solidFill>
                <a:latin typeface="Calibri"/>
              </a:rPr>
              <a:t>Habits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F8A2B"/>
                </a:solidFill>
                <a:latin typeface="Calibri" pitchFamily="34" charset="0"/>
                <a:ea typeface="Calibri" pitchFamily="34" charset="-122"/>
                <a:cs typeface="Calibri" pitchFamily="34" charset="-120"/>
              </a:rPr>
              <a:t>/</a:t>
            </a:r>
            <a:r>
              <a:rPr lang="en-US" sz="3000" b="1">
                <a:solidFill>
                  <a:srgbClr val="FF8A2B"/>
                </a:solidFill>
                <a:latin typeface="Calibri" pitchFamily="34" charset="0"/>
                <a:ea typeface="Calibri" pitchFamily="34" charset="-122"/>
                <a:cs typeface="Calibri" pitchFamily="34" charset="-120"/>
              </a:rPr>
              <a:t>clear </a:t>
            </a:r>
            <a:r>
              <a:rPr lang="en-US" sz="3000" b="1">
                <a:solidFill>
                  <a:srgbClr val="F2F6FC"/>
                </a:solidFill>
                <a:latin typeface="Calibri" pitchFamily="34" charset="0"/>
                <a:ea typeface="Calibri" pitchFamily="34" charset="-122"/>
                <a:cs typeface="Calibri" pitchFamily="34" charset="-120"/>
              </a:rPr>
              <a:t>often</a:t>
            </a:r>
            <a:r>
              <a:rPr lang="en-US" sz="3000" b="1" dirty="0">
                <a:solidFill>
                  <a:srgbClr val="F2F6FC"/>
                </a:solidFill>
                <a:latin typeface="Calibri" pitchFamily="34" charset="0"/>
                <a:ea typeface="Calibri" pitchFamily="34" charset="-122"/>
                <a:cs typeface="Calibri" pitchFamily="34" charset="-120"/>
              </a:rPr>
              <a:t>: keep the context lean</a:t>
            </a:r>
            <a:endParaRPr lang="en-US" sz="3000" dirty="0"/>
          </a:p>
        </p:txBody>
      </p:sp>
      <p:sp>
        <p:nvSpPr>
          <p:cNvPr id="3" name="Shape 1"/>
          <p:cNvSpPr/>
          <p:nvPr/>
        </p:nvSpPr>
        <p:spPr>
          <a:xfrm>
            <a:off x="548640"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/context</a:t>
            </a:r>
            <a:endParaRPr lang="en-US" sz="2400" dirty="0"/>
          </a:p>
        </p:txBody>
      </p:sp>
      <p:sp>
        <p:nvSpPr>
          <p:cNvPr id="5" name="Text 3"/>
          <p:cNvSpPr txBox="1"/>
          <p:nvPr/>
        </p:nvSpPr>
        <p:spPr>
          <a:xfrm>
            <a:off x="777240"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See what fills the context window</a:t>
            </a:r>
            <a:endParaRPr lang="en-US" sz="1600" dirty="0"/>
          </a:p>
        </p:txBody>
      </p:sp>
      <p:sp>
        <p:nvSpPr>
          <p:cNvPr id="6" name="Shape 4"/>
          <p:cNvSpPr/>
          <p:nvPr/>
        </p:nvSpPr>
        <p:spPr>
          <a:xfrm>
            <a:off x="3378708"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7" name="Text 5"/>
          <p:cNvSpPr txBox="1"/>
          <p:nvPr/>
        </p:nvSpPr>
        <p:spPr>
          <a:xfrm>
            <a:off x="3607308"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/clear</a:t>
            </a:r>
            <a:endParaRPr lang="en-US" sz="2400" dirty="0"/>
          </a:p>
        </p:txBody>
      </p:sp>
      <p:sp>
        <p:nvSpPr>
          <p:cNvPr id="8" name="Text 6"/>
          <p:cNvSpPr txBox="1"/>
          <p:nvPr/>
        </p:nvSpPr>
        <p:spPr>
          <a:xfrm>
            <a:off x="3607308"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Fresh start between unrelated tasks</a:t>
            </a:r>
            <a:endParaRPr lang="en-US" sz="1600" dirty="0"/>
          </a:p>
        </p:txBody>
      </p:sp>
      <p:sp>
        <p:nvSpPr>
          <p:cNvPr id="9" name="Shape 7"/>
          <p:cNvSpPr/>
          <p:nvPr/>
        </p:nvSpPr>
        <p:spPr>
          <a:xfrm>
            <a:off x="6208776"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0" name="Text 8"/>
          <p:cNvSpPr txBox="1"/>
          <p:nvPr/>
        </p:nvSpPr>
        <p:spPr>
          <a:xfrm>
            <a:off x="6437376"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/rewind</a:t>
            </a:r>
            <a:endParaRPr lang="en-US" sz="2400" dirty="0"/>
          </a:p>
        </p:txBody>
      </p:sp>
      <p:sp>
        <p:nvSpPr>
          <p:cNvPr id="11" name="Text 9"/>
          <p:cNvSpPr txBox="1"/>
          <p:nvPr/>
        </p:nvSpPr>
        <p:spPr>
          <a:xfrm>
            <a:off x="6437376"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Roll the conversation back to an earlier point</a:t>
            </a:r>
            <a:endParaRPr lang="en-US" sz="1600" dirty="0"/>
          </a:p>
        </p:txBody>
      </p:sp>
      <p:sp>
        <p:nvSpPr>
          <p:cNvPr id="12" name="Shape 10"/>
          <p:cNvSpPr/>
          <p:nvPr/>
        </p:nvSpPr>
        <p:spPr>
          <a:xfrm>
            <a:off x="9038844"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3" name="Text 11"/>
          <p:cNvSpPr txBox="1"/>
          <p:nvPr/>
        </p:nvSpPr>
        <p:spPr>
          <a:xfrm>
            <a:off x="9267444"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/memory</a:t>
            </a:r>
            <a:endParaRPr lang="en-US" sz="2400" dirty="0"/>
          </a:p>
        </p:txBody>
      </p:sp>
      <p:sp>
        <p:nvSpPr>
          <p:cNvPr id="14" name="Text 12"/>
          <p:cNvSpPr txBox="1"/>
          <p:nvPr/>
        </p:nvSpPr>
        <p:spPr>
          <a:xfrm>
            <a:off x="9267444"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View and edit what Claude remembers</a:t>
            </a:r>
            <a:endParaRPr lang="en-US" sz="1600" dirty="0"/>
          </a:p>
        </p:txBody>
      </p:sp>
      <p:sp>
        <p:nvSpPr>
          <p:cNvPr id="15" name="Shape 13"/>
          <p:cNvSpPr/>
          <p:nvPr/>
        </p:nvSpPr>
        <p:spPr>
          <a:xfrm>
            <a:off x="548640" y="406908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6" name="Text 14"/>
          <p:cNvSpPr txBox="1"/>
          <p:nvPr/>
        </p:nvSpPr>
        <p:spPr>
          <a:xfrm>
            <a:off x="777240" y="425196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/btw</a:t>
            </a:r>
            <a:endParaRPr lang="en-US" sz="2400" dirty="0"/>
          </a:p>
        </p:txBody>
      </p:sp>
      <p:sp>
        <p:nvSpPr>
          <p:cNvPr id="17" name="Text 15"/>
          <p:cNvSpPr txBox="1"/>
          <p:nvPr/>
        </p:nvSpPr>
        <p:spPr>
          <a:xfrm>
            <a:off x="777240" y="475488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Side question that doesn't clutter the chat</a:t>
            </a:r>
            <a:endParaRPr lang="en-US" sz="1600" dirty="0"/>
          </a:p>
        </p:txBody>
      </p:sp>
      <p:sp>
        <p:nvSpPr>
          <p:cNvPr id="18" name="Shape 16"/>
          <p:cNvSpPr/>
          <p:nvPr/>
        </p:nvSpPr>
        <p:spPr>
          <a:xfrm>
            <a:off x="3378708" y="406908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9" name="Text 17"/>
          <p:cNvSpPr txBox="1"/>
          <p:nvPr/>
        </p:nvSpPr>
        <p:spPr>
          <a:xfrm>
            <a:off x="3607308" y="425196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/rename</a:t>
            </a:r>
            <a:endParaRPr lang="en-US" sz="2400" dirty="0"/>
          </a:p>
        </p:txBody>
      </p:sp>
      <p:sp>
        <p:nvSpPr>
          <p:cNvPr id="20" name="Text 18"/>
          <p:cNvSpPr txBox="1"/>
          <p:nvPr/>
        </p:nvSpPr>
        <p:spPr>
          <a:xfrm>
            <a:off x="3607308" y="475488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Name a session so you can resume it later</a:t>
            </a:r>
            <a:endParaRPr lang="en-US" sz="1600" dirty="0"/>
          </a:p>
        </p:txBody>
      </p:sp>
      <p:sp>
        <p:nvSpPr>
          <p:cNvPr id="21" name="Shape 19"/>
          <p:cNvSpPr/>
          <p:nvPr/>
        </p:nvSpPr>
        <p:spPr>
          <a:xfrm>
            <a:off x="6208776" y="406908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2" name="Text 20"/>
          <p:cNvSpPr txBox="1"/>
          <p:nvPr/>
        </p:nvSpPr>
        <p:spPr>
          <a:xfrm>
            <a:off x="6437376" y="425196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/goal</a:t>
            </a:r>
            <a:endParaRPr lang="en-US" sz="2400" dirty="0"/>
          </a:p>
        </p:txBody>
      </p:sp>
      <p:sp>
        <p:nvSpPr>
          <p:cNvPr id="23" name="Text 21"/>
          <p:cNvSpPr txBox="1"/>
          <p:nvPr/>
        </p:nvSpPr>
        <p:spPr>
          <a:xfrm>
            <a:off x="6437376" y="475488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Set a goal Claude keeps working toward</a:t>
            </a:r>
            <a:endParaRPr lang="en-US" sz="1600" dirty="0"/>
          </a:p>
        </p:txBody>
      </p:sp>
      <p:sp>
        <p:nvSpPr>
          <p:cNvPr id="24" name="Text 22"/>
          <p:cNvSpPr txBox="1"/>
          <p:nvPr/>
        </p:nvSpPr>
        <p:spPr>
          <a:xfrm>
            <a:off x="9038844" y="4069080"/>
            <a:ext cx="2601468" cy="2148840"/>
          </a:xfrm>
          <a:prstGeom prst="rect">
            <a:avLst/>
          </a:prstGeom>
          <a:noFill/>
          <a:ln/>
        </p:spPr>
        <p:txBody>
          <a:bodyPr wrap="square" lIns="1270" tIns="1270" rIns="1270" bIns="127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Works in the extension chat and in the CLI</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Terminal flags: resume, fork, script, and run in parallel</a:t>
            </a:r>
            <a:endParaRPr lang="en-US" sz="3000" dirty="0"/>
          </a:p>
        </p:txBody>
      </p:sp>
      <p:sp>
        <p:nvSpPr>
          <p:cNvPr id="3" name="Shape 1"/>
          <p:cNvSpPr/>
          <p:nvPr/>
        </p:nvSpPr>
        <p:spPr>
          <a:xfrm>
            <a:off x="548640"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92024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-c</a:t>
            </a:r>
            <a:endParaRPr lang="en-US" sz="1600" dirty="0"/>
          </a:p>
        </p:txBody>
      </p:sp>
      <p:sp>
        <p:nvSpPr>
          <p:cNvPr id="5" name="Text 3"/>
          <p:cNvSpPr txBox="1"/>
          <p:nvPr/>
        </p:nvSpPr>
        <p:spPr>
          <a:xfrm>
            <a:off x="777240" y="278892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Continue the most recent conversation</a:t>
            </a:r>
            <a:endParaRPr lang="en-US" sz="1700" dirty="0"/>
          </a:p>
        </p:txBody>
      </p:sp>
      <p:sp>
        <p:nvSpPr>
          <p:cNvPr id="6" name="Shape 4"/>
          <p:cNvSpPr/>
          <p:nvPr/>
        </p:nvSpPr>
        <p:spPr>
          <a:xfrm>
            <a:off x="4337304"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7" name="Text 5"/>
          <p:cNvSpPr txBox="1"/>
          <p:nvPr/>
        </p:nvSpPr>
        <p:spPr>
          <a:xfrm>
            <a:off x="4565904" y="192024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--resume</a:t>
            </a:r>
            <a:endParaRPr lang="en-US" sz="1600" dirty="0"/>
          </a:p>
        </p:txBody>
      </p:sp>
      <p:sp>
        <p:nvSpPr>
          <p:cNvPr id="8" name="Text 6"/>
          <p:cNvSpPr txBox="1"/>
          <p:nvPr/>
        </p:nvSpPr>
        <p:spPr>
          <a:xfrm>
            <a:off x="4565904" y="278892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Pick an earlier session to resume</a:t>
            </a:r>
            <a:endParaRPr lang="en-US" sz="1700" dirty="0"/>
          </a:p>
        </p:txBody>
      </p:sp>
      <p:sp>
        <p:nvSpPr>
          <p:cNvPr id="9" name="Shape 7"/>
          <p:cNvSpPr/>
          <p:nvPr/>
        </p:nvSpPr>
        <p:spPr>
          <a:xfrm>
            <a:off x="8125968"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0" name="Text 8"/>
          <p:cNvSpPr txBox="1"/>
          <p:nvPr/>
        </p:nvSpPr>
        <p:spPr>
          <a:xfrm>
            <a:off x="8354568" y="192024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--fork-session</a:t>
            </a:r>
            <a:endParaRPr lang="en-US" sz="1600" dirty="0"/>
          </a:p>
        </p:txBody>
      </p:sp>
      <p:sp>
        <p:nvSpPr>
          <p:cNvPr id="11" name="Text 9"/>
          <p:cNvSpPr txBox="1"/>
          <p:nvPr/>
        </p:nvSpPr>
        <p:spPr>
          <a:xfrm>
            <a:off x="8354568" y="278892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Branch off a session, keep the original</a:t>
            </a:r>
            <a:endParaRPr lang="en-US" sz="1700" dirty="0"/>
          </a:p>
        </p:txBody>
      </p:sp>
      <p:sp>
        <p:nvSpPr>
          <p:cNvPr id="12" name="Shape 10"/>
          <p:cNvSpPr/>
          <p:nvPr/>
        </p:nvSpPr>
        <p:spPr>
          <a:xfrm>
            <a:off x="548640"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3" name="Text 11"/>
          <p:cNvSpPr txBox="1"/>
          <p:nvPr/>
        </p:nvSpPr>
        <p:spPr>
          <a:xfrm>
            <a:off x="777240" y="434340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-p "..."</a:t>
            </a:r>
            <a:endParaRPr lang="en-US" sz="1600" dirty="0"/>
          </a:p>
        </p:txBody>
      </p:sp>
      <p:sp>
        <p:nvSpPr>
          <p:cNvPr id="14" name="Text 12"/>
          <p:cNvSpPr txBox="1"/>
          <p:nvPr/>
        </p:nvSpPr>
        <p:spPr>
          <a:xfrm>
            <a:off x="777240" y="521208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One prompt, plain output, for scripts</a:t>
            </a:r>
            <a:endParaRPr lang="en-US" sz="1700" dirty="0"/>
          </a:p>
        </p:txBody>
      </p:sp>
      <p:sp>
        <p:nvSpPr>
          <p:cNvPr id="15" name="Shape 13"/>
          <p:cNvSpPr/>
          <p:nvPr/>
        </p:nvSpPr>
        <p:spPr>
          <a:xfrm>
            <a:off x="4337304"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6" name="Text 14"/>
          <p:cNvSpPr txBox="1"/>
          <p:nvPr/>
        </p:nvSpPr>
        <p:spPr>
          <a:xfrm>
            <a:off x="4565904" y="434340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--agent coordinator</a:t>
            </a:r>
            <a:endParaRPr lang="en-US" sz="1600" dirty="0"/>
          </a:p>
        </p:txBody>
      </p:sp>
      <p:sp>
        <p:nvSpPr>
          <p:cNvPr id="17" name="Text 15"/>
          <p:cNvSpPr txBox="1"/>
          <p:nvPr/>
        </p:nvSpPr>
        <p:spPr>
          <a:xfrm>
            <a:off x="4565904" y="521208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Run the whole session as that agent</a:t>
            </a:r>
            <a:endParaRPr lang="en-US" sz="1700" dirty="0"/>
          </a:p>
        </p:txBody>
      </p:sp>
      <p:sp>
        <p:nvSpPr>
          <p:cNvPr id="18" name="Shape 16"/>
          <p:cNvSpPr/>
          <p:nvPr/>
        </p:nvSpPr>
        <p:spPr>
          <a:xfrm>
            <a:off x="8125968"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9" name="Text 17"/>
          <p:cNvSpPr txBox="1"/>
          <p:nvPr/>
        </p:nvSpPr>
        <p:spPr>
          <a:xfrm>
            <a:off x="8354568" y="434340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--worktree add-billing</a:t>
            </a:r>
            <a:endParaRPr lang="en-US" sz="1600" dirty="0"/>
          </a:p>
        </p:txBody>
      </p:sp>
      <p:sp>
        <p:nvSpPr>
          <p:cNvPr id="20" name="Text 18"/>
          <p:cNvSpPr txBox="1"/>
          <p:nvPr/>
        </p:nvSpPr>
        <p:spPr>
          <a:xfrm>
            <a:off x="8354568" y="521208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Isolated git worktree for parallel work</a:t>
            </a:r>
            <a:endParaRPr lang="en-US" sz="1700" dirty="0"/>
          </a:p>
        </p:txBody>
      </p:sp>
      <p:sp>
        <p:nvSpPr>
          <p:cNvPr id="21"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F8A2B"/>
                </a:solidFill>
                <a:latin typeface="Calibri" pitchFamily="34" charset="0"/>
                <a:ea typeface="Calibri" pitchFamily="34" charset="-122"/>
                <a:cs typeface="Calibri" pitchFamily="34" charset="-120"/>
              </a:rPr>
              <a:t>MCP</a:t>
            </a:r>
            <a:r>
              <a:rPr sz="3000" b="1" i="0">
                <a:solidFill>
                  <a:srgbClr val="F2F6FC"/>
                </a:solidFill>
                <a:latin typeface="Calibri"/>
              </a:rPr>
              <a:t>: plug outside tools into Claude, code or not</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29</a:t>
            </a:fld>
            <a:endParaRPr lang="en-US"/>
          </a:p>
        </p:txBody>
      </p:sp>
      <p:sp>
        <p:nvSpPr>
          <p:cNvPr id="4" name="Rounded Rectangle 25"/>
          <p:cNvSpPr/>
          <p:nvPr/>
        </p:nvSpPr>
        <p:spPr>
          <a:xfrm>
            <a:off x="548640" y="1554480"/>
            <a:ext cx="3611880" cy="2514600"/>
          </a:xfrm>
          <a:prstGeom prst="roundRect">
            <a:avLst>
              <a:gd name="adj" fmla="val 545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3154680" cy="411480"/>
          </a:xfrm>
          <a:prstGeom prst="rect">
            <a:avLst/>
          </a:prstGeom>
          <a:noFill/>
        </p:spPr>
        <p:txBody>
          <a:bodyPr wrap="square" lIns="0" tIns="0" rIns="0" bIns="0" anchor="t">
            <a:spAutoFit/>
          </a:bodyPr>
          <a:lstStyle/>
          <a:p>
            <a:pPr marL="0" indent="0">
              <a:buNone/>
            </a:pPr>
            <a:r>
              <a:rPr sz="2000" b="1" i="0">
                <a:solidFill>
                  <a:srgbClr val="38BDF8"/>
                </a:solidFill>
                <a:latin typeface="Calibri"/>
              </a:rPr>
              <a:t>For code</a:t>
            </a:r>
          </a:p>
        </p:txBody>
      </p:sp>
      <p:sp>
        <p:nvSpPr>
          <p:cNvPr id="6" name="TextBox 27"/>
          <p:cNvSpPr txBox="1"/>
          <p:nvPr/>
        </p:nvSpPr>
        <p:spPr>
          <a:xfrm>
            <a:off x="777240" y="2212848"/>
            <a:ext cx="3154680" cy="1645919"/>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GitHub: issues and PRs</a:t>
            </a:r>
          </a:p>
          <a:p>
            <a:pPr marL="228600" indent="-228600">
              <a:spcBef>
                <a:spcPts val="800"/>
              </a:spcBef>
              <a:buChar char="•"/>
            </a:pPr>
            <a:r>
              <a:rPr sz="1800" b="0" i="0">
                <a:solidFill>
                  <a:srgbClr val="F2F6FC"/>
                </a:solidFill>
                <a:latin typeface="Calibri"/>
              </a:rPr>
              <a:t>Docs and databases</a:t>
            </a:r>
          </a:p>
          <a:p>
            <a:pPr marL="228600" indent="-228600">
              <a:spcBef>
                <a:spcPts val="800"/>
              </a:spcBef>
              <a:buChar char="•"/>
            </a:pPr>
            <a:r>
              <a:rPr sz="1800" b="0" i="0">
                <a:solidFill>
                  <a:srgbClr val="F2F6FC"/>
                </a:solidFill>
                <a:latin typeface="Calibri"/>
              </a:rPr>
              <a:t>Browser testing</a:t>
            </a:r>
          </a:p>
        </p:txBody>
      </p:sp>
      <p:sp>
        <p:nvSpPr>
          <p:cNvPr id="7" name="Rounded Rectangle 28"/>
          <p:cNvSpPr/>
          <p:nvPr/>
        </p:nvSpPr>
        <p:spPr>
          <a:xfrm>
            <a:off x="4288536" y="1554480"/>
            <a:ext cx="3611880" cy="2514600"/>
          </a:xfrm>
          <a:prstGeom prst="roundRect">
            <a:avLst>
              <a:gd name="adj" fmla="val 545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4517136" y="1737360"/>
            <a:ext cx="3154680" cy="411480"/>
          </a:xfrm>
          <a:prstGeom prst="rect">
            <a:avLst/>
          </a:prstGeom>
          <a:noFill/>
        </p:spPr>
        <p:txBody>
          <a:bodyPr wrap="square" lIns="0" tIns="0" rIns="0" bIns="0" anchor="t">
            <a:spAutoFit/>
          </a:bodyPr>
          <a:lstStyle/>
          <a:p>
            <a:pPr marL="0" indent="0">
              <a:buNone/>
            </a:pPr>
            <a:r>
              <a:rPr sz="2000" b="1" i="0">
                <a:solidFill>
                  <a:srgbClr val="38BDF8"/>
                </a:solidFill>
                <a:latin typeface="Calibri"/>
              </a:rPr>
              <a:t>Beyond code</a:t>
            </a:r>
          </a:p>
        </p:txBody>
      </p:sp>
      <p:sp>
        <p:nvSpPr>
          <p:cNvPr id="9" name="TextBox 30"/>
          <p:cNvSpPr txBox="1"/>
          <p:nvPr/>
        </p:nvSpPr>
        <p:spPr>
          <a:xfrm>
            <a:off x="4517136" y="2212848"/>
            <a:ext cx="3154680" cy="1645919"/>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Google Drive: read and write files</a:t>
            </a:r>
          </a:p>
          <a:p>
            <a:pPr marL="228600" indent="-228600">
              <a:spcBef>
                <a:spcPts val="800"/>
              </a:spcBef>
              <a:buChar char="•"/>
            </a:pPr>
            <a:r>
              <a:rPr sz="1800" b="0" i="0">
                <a:solidFill>
                  <a:srgbClr val="F2F6FC"/>
                </a:solidFill>
                <a:latin typeface="Calibri"/>
              </a:rPr>
              <a:t>Gmail and Calendar</a:t>
            </a:r>
          </a:p>
          <a:p>
            <a:pPr marL="228600" indent="-228600">
              <a:spcBef>
                <a:spcPts val="800"/>
              </a:spcBef>
              <a:buChar char="•"/>
            </a:pPr>
            <a:r>
              <a:rPr sz="1800" b="0" i="0">
                <a:solidFill>
                  <a:srgbClr val="F2F6FC"/>
                </a:solidFill>
                <a:latin typeface="Calibri"/>
              </a:rPr>
              <a:t>Slack, Notion, spreadsheets</a:t>
            </a:r>
          </a:p>
        </p:txBody>
      </p:sp>
      <p:sp>
        <p:nvSpPr>
          <p:cNvPr id="10" name="Rounded Rectangle 31"/>
          <p:cNvSpPr/>
          <p:nvPr/>
        </p:nvSpPr>
        <p:spPr>
          <a:xfrm>
            <a:off x="8028431" y="1554480"/>
            <a:ext cx="3611880" cy="2514600"/>
          </a:xfrm>
          <a:prstGeom prst="roundRect">
            <a:avLst>
              <a:gd name="adj" fmla="val 545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32"/>
          <p:cNvSpPr txBox="1"/>
          <p:nvPr/>
        </p:nvSpPr>
        <p:spPr>
          <a:xfrm>
            <a:off x="8257031" y="1737360"/>
            <a:ext cx="315468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What it is</a:t>
            </a:r>
          </a:p>
        </p:txBody>
      </p:sp>
      <p:sp>
        <p:nvSpPr>
          <p:cNvPr id="12" name="TextBox 33"/>
          <p:cNvSpPr txBox="1"/>
          <p:nvPr/>
        </p:nvSpPr>
        <p:spPr>
          <a:xfrm>
            <a:off x="8257031" y="2240280"/>
            <a:ext cx="3154680" cy="1737360"/>
          </a:xfrm>
          <a:prstGeom prst="rect">
            <a:avLst/>
          </a:prstGeom>
          <a:noFill/>
        </p:spPr>
        <p:txBody>
          <a:bodyPr wrap="square" lIns="0" tIns="0" rIns="0" bIns="0" anchor="t">
            <a:spAutoFit/>
          </a:bodyPr>
          <a:lstStyle/>
          <a:p>
            <a:pPr marL="228600" indent="-228600">
              <a:buChar char="•"/>
            </a:pPr>
            <a:r>
              <a:rPr sz="1600" b="0" i="0">
                <a:solidFill>
                  <a:srgbClr val="F2F6FC"/>
                </a:solidFill>
                <a:latin typeface="Calibri"/>
              </a:rPr>
              <a:t>A standard way to connect Claude to outside tools and data</a:t>
            </a:r>
          </a:p>
          <a:p>
            <a:pPr marL="228600" indent="-228600">
              <a:spcBef>
                <a:spcPts val="800"/>
              </a:spcBef>
              <a:buChar char="•"/>
            </a:pPr>
            <a:r>
              <a:rPr sz="1600" b="0" i="0">
                <a:solidFill>
                  <a:srgbClr val="F2F6FC"/>
                </a:solidFill>
                <a:latin typeface="Calibri"/>
              </a:rPr>
              <a:t>Add it once, use it in any chat</a:t>
            </a:r>
          </a:p>
          <a:p>
            <a:pPr marL="228600" indent="-228600">
              <a:spcBef>
                <a:spcPts val="800"/>
              </a:spcBef>
              <a:buChar char="•"/>
            </a:pPr>
            <a:r>
              <a:rPr sz="1600" b="0" i="0">
                <a:solidFill>
                  <a:srgbClr val="F2F6FC"/>
                </a:solidFill>
                <a:latin typeface="Calibri"/>
              </a:rPr>
              <a:t>Only add servers you trust</a:t>
            </a:r>
          </a:p>
        </p:txBody>
      </p:sp>
      <p:sp>
        <p:nvSpPr>
          <p:cNvPr id="13" name="Rounded Rectangle 34"/>
          <p:cNvSpPr/>
          <p:nvPr/>
        </p:nvSpPr>
        <p:spPr>
          <a:xfrm>
            <a:off x="548640" y="4297680"/>
            <a:ext cx="11091672" cy="914400"/>
          </a:xfrm>
          <a:prstGeom prst="roundRect">
            <a:avLst>
              <a:gd name="adj" fmla="val 1500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35"/>
          <p:cNvSpPr txBox="1"/>
          <p:nvPr/>
        </p:nvSpPr>
        <p:spPr>
          <a:xfrm>
            <a:off x="822960" y="4297680"/>
            <a:ext cx="10607040" cy="914400"/>
          </a:xfrm>
          <a:prstGeom prst="rect">
            <a:avLst/>
          </a:prstGeom>
          <a:noFill/>
        </p:spPr>
        <p:txBody>
          <a:bodyPr wrap="square" lIns="0" tIns="0" rIns="0" bIns="0" anchor="ctr">
            <a:spAutoFit/>
          </a:bodyPr>
          <a:lstStyle/>
          <a:p>
            <a:pPr marL="0" indent="0">
              <a:buNone/>
            </a:pPr>
            <a:r>
              <a:rPr sz="2000" b="1" i="0">
                <a:solidFill>
                  <a:srgbClr val="38BDF8"/>
                </a:solidFill>
                <a:latin typeface="Calibri"/>
              </a:rPr>
              <a:t>Just ask Claude to install it: </a:t>
            </a:r>
            <a:r>
              <a:rPr sz="2000" b="0" i="0">
                <a:solidFill>
                  <a:srgbClr val="F2F6FC"/>
                </a:solidFill>
                <a:latin typeface="Calibri"/>
              </a:rPr>
              <a:t>"Install the Gmail MCP for me, then summarize my unread emails."</a:t>
            </a:r>
          </a:p>
        </p:txBody>
      </p:sp>
      <p:sp>
        <p:nvSpPr>
          <p:cNvPr id="15" name="Rounded Rectangle 36"/>
          <p:cNvSpPr/>
          <p:nvPr/>
        </p:nvSpPr>
        <p:spPr>
          <a:xfrm>
            <a:off x="548640" y="5394960"/>
            <a:ext cx="11091672" cy="868680"/>
          </a:xfrm>
          <a:prstGeom prst="roundRect">
            <a:avLst>
              <a:gd name="adj" fmla="val 10526"/>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37"/>
          <p:cNvSpPr txBox="1"/>
          <p:nvPr/>
        </p:nvSpPr>
        <p:spPr>
          <a:xfrm>
            <a:off x="777240" y="5559552"/>
            <a:ext cx="10634472" cy="594359"/>
          </a:xfrm>
          <a:prstGeom prst="rect">
            <a:avLst/>
          </a:prstGeom>
          <a:noFill/>
        </p:spPr>
        <p:txBody>
          <a:bodyPr wrap="square" lIns="0" tIns="0" rIns="0" bIns="0" anchor="t">
            <a:spAutoFit/>
          </a:bodyPr>
          <a:lstStyle/>
          <a:p>
            <a:pPr marL="0" indent="0">
              <a:buNone/>
            </a:pPr>
            <a:r>
              <a:rPr sz="1400" b="0" i="0">
                <a:solidFill>
                  <a:srgbClr val="F2F6FC"/>
                </a:solidFill>
                <a:latin typeface="Courier New"/>
              </a:rPr>
              <a:t>claude mcp list                                        # configured servers (in chat: /mcp)</a:t>
            </a:r>
          </a:p>
          <a:p>
            <a:pPr marL="0" indent="0">
              <a:spcBef>
                <a:spcPts val="0"/>
              </a:spcBef>
              <a:buNone/>
            </a:pPr>
            <a:r>
              <a:rPr sz="1400" b="0" i="0">
                <a:solidFill>
                  <a:srgbClr val="F2F6FC"/>
                </a:solidFill>
                <a:latin typeface="Courier New"/>
              </a:rPr>
              <a:t>claude mcp add --transport http &lt;name&gt; &lt;url&gt;           # add one; --scope user = all projects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Check and ship with the </a:t>
            </a:r>
            <a:r>
              <a:rPr lang="en-US" sz="3000" b="1" dirty="0">
                <a:solidFill>
                  <a:schemeClr val="accent2"/>
                </a:solidFill>
                <a:latin typeface="Calibri" pitchFamily="34" charset="0"/>
                <a:ea typeface="Calibri" pitchFamily="34" charset="-122"/>
                <a:cs typeface="Calibri" pitchFamily="34" charset="-120"/>
              </a:rPr>
              <a:t>built-in commands</a:t>
            </a:r>
            <a:endParaRPr lang="en-US" sz="3000" dirty="0">
              <a:solidFill>
                <a:schemeClr val="accent2"/>
              </a:solidFill>
            </a:endParaRPr>
          </a:p>
        </p:txBody>
      </p:sp>
      <p:sp>
        <p:nvSpPr>
          <p:cNvPr id="3" name="Shape 1"/>
          <p:cNvSpPr/>
          <p:nvPr/>
        </p:nvSpPr>
        <p:spPr>
          <a:xfrm>
            <a:off x="548640"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87452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/run</a:t>
            </a:r>
            <a:endParaRPr lang="en-US" sz="2200" dirty="0"/>
          </a:p>
        </p:txBody>
      </p:sp>
      <p:sp>
        <p:nvSpPr>
          <p:cNvPr id="5" name="Text 3"/>
          <p:cNvSpPr txBox="1"/>
          <p:nvPr/>
        </p:nvSpPr>
        <p:spPr>
          <a:xfrm>
            <a:off x="777240" y="237744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Launch the app and see the change working</a:t>
            </a:r>
            <a:endParaRPr lang="en-US" sz="1700" dirty="0"/>
          </a:p>
        </p:txBody>
      </p:sp>
      <p:sp>
        <p:nvSpPr>
          <p:cNvPr id="6" name="Shape 4"/>
          <p:cNvSpPr/>
          <p:nvPr/>
        </p:nvSpPr>
        <p:spPr>
          <a:xfrm>
            <a:off x="4337304"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7" name="Text 5"/>
          <p:cNvSpPr txBox="1"/>
          <p:nvPr/>
        </p:nvSpPr>
        <p:spPr>
          <a:xfrm>
            <a:off x="4565904" y="187452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/verify</a:t>
            </a:r>
            <a:endParaRPr lang="en-US" sz="2200" dirty="0"/>
          </a:p>
        </p:txBody>
      </p:sp>
      <p:sp>
        <p:nvSpPr>
          <p:cNvPr id="8" name="Text 6"/>
          <p:cNvSpPr txBox="1"/>
          <p:nvPr/>
        </p:nvSpPr>
        <p:spPr>
          <a:xfrm>
            <a:off x="4565904" y="237744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Check that the work does what was asked: code, docs or data</a:t>
            </a:r>
            <a:endParaRPr lang="en-US" sz="1700" dirty="0"/>
          </a:p>
        </p:txBody>
      </p:sp>
      <p:sp>
        <p:nvSpPr>
          <p:cNvPr id="9" name="Shape 7"/>
          <p:cNvSpPr/>
          <p:nvPr/>
        </p:nvSpPr>
        <p:spPr>
          <a:xfrm>
            <a:off x="8125968"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0" name="Text 8"/>
          <p:cNvSpPr txBox="1"/>
          <p:nvPr/>
        </p:nvSpPr>
        <p:spPr>
          <a:xfrm>
            <a:off x="8354568" y="187452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/code-review</a:t>
            </a:r>
            <a:endParaRPr lang="en-US" sz="2200" dirty="0"/>
          </a:p>
        </p:txBody>
      </p:sp>
      <p:sp>
        <p:nvSpPr>
          <p:cNvPr id="11" name="Text 9"/>
          <p:cNvSpPr txBox="1"/>
          <p:nvPr/>
        </p:nvSpPr>
        <p:spPr>
          <a:xfrm>
            <a:off x="8354568" y="237744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Review the diff for bugs; "ultra" runs a deep cloud review</a:t>
            </a:r>
            <a:endParaRPr lang="en-US" sz="1700" dirty="0"/>
          </a:p>
        </p:txBody>
      </p:sp>
      <p:sp>
        <p:nvSpPr>
          <p:cNvPr id="12" name="Shape 10"/>
          <p:cNvSpPr/>
          <p:nvPr/>
        </p:nvSpPr>
        <p:spPr>
          <a:xfrm>
            <a:off x="548640"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3" name="Text 11"/>
          <p:cNvSpPr txBox="1"/>
          <p:nvPr/>
        </p:nvSpPr>
        <p:spPr>
          <a:xfrm>
            <a:off x="777240" y="429768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/security-review</a:t>
            </a:r>
            <a:endParaRPr lang="en-US" sz="2200" dirty="0"/>
          </a:p>
        </p:txBody>
      </p:sp>
      <p:sp>
        <p:nvSpPr>
          <p:cNvPr id="14" name="Text 12"/>
          <p:cNvSpPr txBox="1"/>
          <p:nvPr/>
        </p:nvSpPr>
        <p:spPr>
          <a:xfrm>
            <a:off x="777240" y="480060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Security check of the pending changes</a:t>
            </a:r>
            <a:endParaRPr lang="en-US" sz="1700" dirty="0"/>
          </a:p>
        </p:txBody>
      </p:sp>
      <p:sp>
        <p:nvSpPr>
          <p:cNvPr id="15" name="Shape 13"/>
          <p:cNvSpPr/>
          <p:nvPr/>
        </p:nvSpPr>
        <p:spPr>
          <a:xfrm>
            <a:off x="4337304"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6" name="Text 14"/>
          <p:cNvSpPr txBox="1"/>
          <p:nvPr/>
        </p:nvSpPr>
        <p:spPr>
          <a:xfrm>
            <a:off x="4565904" y="429768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/simplify</a:t>
            </a:r>
            <a:endParaRPr lang="en-US" sz="2200" dirty="0"/>
          </a:p>
        </p:txBody>
      </p:sp>
      <p:sp>
        <p:nvSpPr>
          <p:cNvPr id="17" name="Text 15"/>
          <p:cNvSpPr txBox="1"/>
          <p:nvPr/>
        </p:nvSpPr>
        <p:spPr>
          <a:xfrm>
            <a:off x="4565904" y="480060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Clean up changed code for reuse and clarity</a:t>
            </a:r>
            <a:endParaRPr lang="en-US" sz="1700" dirty="0"/>
          </a:p>
        </p:txBody>
      </p:sp>
      <p:sp>
        <p:nvSpPr>
          <p:cNvPr id="18" name="Shape 16"/>
          <p:cNvSpPr/>
          <p:nvPr/>
        </p:nvSpPr>
        <p:spPr>
          <a:xfrm>
            <a:off x="8125968"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9" name="Text 17"/>
          <p:cNvSpPr txBox="1"/>
          <p:nvPr/>
        </p:nvSpPr>
        <p:spPr>
          <a:xfrm>
            <a:off x="8354568" y="429768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/install-github-app</a:t>
            </a:r>
            <a:endParaRPr lang="en-US" sz="2200" dirty="0"/>
          </a:p>
        </p:txBody>
      </p:sp>
      <p:sp>
        <p:nvSpPr>
          <p:cNvPr id="20" name="Text 18"/>
          <p:cNvSpPr txBox="1"/>
          <p:nvPr/>
        </p:nvSpPr>
        <p:spPr>
          <a:xfrm>
            <a:off x="8354568" y="480060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Connect Claude to your GitHub repo and PRs</a:t>
            </a:r>
            <a:endParaRPr lang="en-US" sz="1700" dirty="0"/>
          </a:p>
        </p:txBody>
      </p:sp>
      <p:sp>
        <p:nvSpPr>
          <p:cNvPr id="21"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Take it with you, and keep learning inside the tool</a:t>
            </a:r>
            <a:endParaRPr lang="en-US" sz="3000" dirty="0"/>
          </a:p>
        </p:txBody>
      </p:sp>
      <p:sp>
        <p:nvSpPr>
          <p:cNvPr id="3" name="Shape 1"/>
          <p:cNvSpPr/>
          <p:nvPr/>
        </p:nvSpPr>
        <p:spPr>
          <a:xfrm>
            <a:off x="548640" y="1737360"/>
            <a:ext cx="5362956" cy="3931920"/>
          </a:xfrm>
          <a:prstGeom prst="roundRect">
            <a:avLst>
              <a:gd name="adj" fmla="val 2791"/>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920240"/>
            <a:ext cx="4905756"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Anywhere</a:t>
            </a:r>
            <a:endParaRPr lang="en-US" sz="1600" dirty="0"/>
          </a:p>
        </p:txBody>
      </p:sp>
      <p:sp>
        <p:nvSpPr>
          <p:cNvPr id="5" name="Text 3"/>
          <p:cNvSpPr txBox="1"/>
          <p:nvPr/>
        </p:nvSpPr>
        <p:spPr>
          <a:xfrm>
            <a:off x="777240" y="2304288"/>
            <a:ext cx="4905756" cy="411480"/>
          </a:xfrm>
          <a:prstGeom prst="rect">
            <a:avLst/>
          </a:prstGeom>
          <a:noFill/>
          <a:ln/>
        </p:spPr>
        <p:txBody>
          <a:bodyPr wrap="square" lIns="0" tIns="0" rIns="0" bIns="0" rtlCol="0" anchor="t"/>
          <a:lstStyle/>
          <a:p>
            <a:pPr marL="0" indent="0">
              <a:buNone/>
            </a:pPr>
            <a:r>
              <a:rPr lang="en-US" sz="3000" b="1" dirty="0">
                <a:solidFill>
                  <a:schemeClr val="accent2"/>
                </a:solidFill>
                <a:latin typeface="Calibri" pitchFamily="34" charset="0"/>
                <a:ea typeface="Calibri" pitchFamily="34" charset="-122"/>
                <a:cs typeface="Calibri" pitchFamily="34" charset="-120"/>
              </a:rPr>
              <a:t>/remote-control</a:t>
            </a:r>
            <a:endParaRPr lang="en-US" sz="3000" dirty="0">
              <a:solidFill>
                <a:schemeClr val="accent2"/>
              </a:solidFill>
            </a:endParaRPr>
          </a:p>
        </p:txBody>
      </p:sp>
      <p:sp>
        <p:nvSpPr>
          <p:cNvPr id="6" name="Text 4"/>
          <p:cNvSpPr txBox="1"/>
          <p:nvPr/>
        </p:nvSpPr>
        <p:spPr>
          <a:xfrm>
            <a:off x="777240" y="2807208"/>
            <a:ext cx="4905756" cy="2724912"/>
          </a:xfrm>
          <a:prstGeom prst="rect">
            <a:avLst/>
          </a:prstGeom>
          <a:noFill/>
          <a:ln/>
        </p:spPr>
        <p:txBody>
          <a:bodyPr wrap="square" lIns="0" tIns="0" rIns="0" bIns="0" rtlCol="0" anchor="t"/>
          <a:lstStyle/>
          <a:p>
            <a:pPr marL="0" indent="0">
              <a:buNone/>
            </a:pPr>
            <a:r>
              <a:rPr lang="en-US" sz="2000" dirty="0">
                <a:solidFill>
                  <a:srgbClr val="A9BCD6"/>
                </a:solidFill>
                <a:latin typeface="Calibri" pitchFamily="34" charset="0"/>
                <a:ea typeface="Calibri" pitchFamily="34" charset="-122"/>
                <a:cs typeface="Calibri" pitchFamily="34" charset="-120"/>
              </a:rPr>
              <a:t>Continue a running session from another device. Start a long task, </a:t>
            </a:r>
            <a:r>
              <a:rPr lang="en-US" sz="2000" dirty="0">
                <a:solidFill>
                  <a:schemeClr val="accent2"/>
                </a:solidFill>
                <a:latin typeface="Calibri" pitchFamily="34" charset="0"/>
                <a:ea typeface="Calibri" pitchFamily="34" charset="-122"/>
                <a:cs typeface="Calibri" pitchFamily="34" charset="-120"/>
              </a:rPr>
              <a:t>then check on it from your phone.</a:t>
            </a:r>
            <a:endParaRPr lang="en-US" sz="2000" dirty="0">
              <a:solidFill>
                <a:schemeClr val="accent2"/>
              </a:solidFill>
            </a:endParaRPr>
          </a:p>
        </p:txBody>
      </p:sp>
      <p:sp>
        <p:nvSpPr>
          <p:cNvPr id="7" name="Shape 5"/>
          <p:cNvSpPr/>
          <p:nvPr/>
        </p:nvSpPr>
        <p:spPr>
          <a:xfrm>
            <a:off x="6277356" y="1737360"/>
            <a:ext cx="5362956" cy="3931920"/>
          </a:xfrm>
          <a:prstGeom prst="roundRect">
            <a:avLst>
              <a:gd name="adj" fmla="val 2791"/>
            </a:avLst>
          </a:prstGeom>
          <a:solidFill>
            <a:srgbClr val="12305A"/>
          </a:solidFill>
          <a:ln w="12700">
            <a:solidFill>
              <a:srgbClr val="12305A"/>
            </a:solidFill>
            <a:prstDash val="solid"/>
          </a:ln>
        </p:spPr>
        <p:txBody>
          <a:bodyPr/>
          <a:lstStyle/>
          <a:p>
            <a:endParaRPr lang="en-US"/>
          </a:p>
        </p:txBody>
      </p:sp>
      <p:sp>
        <p:nvSpPr>
          <p:cNvPr id="8" name="Text 6"/>
          <p:cNvSpPr txBox="1"/>
          <p:nvPr/>
        </p:nvSpPr>
        <p:spPr>
          <a:xfrm>
            <a:off x="6505956" y="1920240"/>
            <a:ext cx="4905756"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Learn</a:t>
            </a:r>
            <a:endParaRPr lang="en-US" sz="1600" dirty="0"/>
          </a:p>
        </p:txBody>
      </p:sp>
      <p:sp>
        <p:nvSpPr>
          <p:cNvPr id="9" name="Text 7"/>
          <p:cNvSpPr txBox="1"/>
          <p:nvPr/>
        </p:nvSpPr>
        <p:spPr>
          <a:xfrm>
            <a:off x="6505956" y="2304288"/>
            <a:ext cx="4905756" cy="411480"/>
          </a:xfrm>
          <a:prstGeom prst="rect">
            <a:avLst/>
          </a:prstGeom>
          <a:noFill/>
          <a:ln/>
        </p:spPr>
        <p:txBody>
          <a:bodyPr wrap="square" lIns="0" tIns="0" rIns="0" bIns="0" rtlCol="0" anchor="t"/>
          <a:lstStyle/>
          <a:p>
            <a:pPr marL="0" indent="0">
              <a:buNone/>
            </a:pPr>
            <a:r>
              <a:rPr lang="en-US" sz="3000" b="1" dirty="0">
                <a:solidFill>
                  <a:srgbClr val="F2F6FC"/>
                </a:solidFill>
                <a:latin typeface="Calibri" pitchFamily="34" charset="0"/>
                <a:ea typeface="Calibri" pitchFamily="34" charset="-122"/>
                <a:cs typeface="Calibri" pitchFamily="34" charset="-120"/>
              </a:rPr>
              <a:t>/powerup</a:t>
            </a:r>
            <a:endParaRPr lang="en-US" sz="3000" dirty="0"/>
          </a:p>
        </p:txBody>
      </p:sp>
      <p:sp>
        <p:nvSpPr>
          <p:cNvPr id="10" name="Text 8"/>
          <p:cNvSpPr txBox="1"/>
          <p:nvPr/>
        </p:nvSpPr>
        <p:spPr>
          <a:xfrm>
            <a:off x="6505956" y="2807208"/>
            <a:ext cx="4905756" cy="2724912"/>
          </a:xfrm>
          <a:prstGeom prst="rect">
            <a:avLst/>
          </a:prstGeom>
          <a:noFill/>
          <a:ln/>
        </p:spPr>
        <p:txBody>
          <a:bodyPr wrap="square" lIns="0" tIns="0" rIns="0" bIns="0" rtlCol="0" anchor="t"/>
          <a:lstStyle/>
          <a:p>
            <a:pPr marL="0" indent="0">
              <a:buNone/>
            </a:pPr>
            <a:r>
              <a:rPr lang="en-US" sz="2000" dirty="0">
                <a:solidFill>
                  <a:srgbClr val="A9BCD6"/>
                </a:solidFill>
                <a:latin typeface="Calibri" pitchFamily="34" charset="0"/>
                <a:ea typeface="Calibri" pitchFamily="34" charset="-122"/>
                <a:cs typeface="Calibri" pitchFamily="34" charset="-120"/>
              </a:rPr>
              <a:t>Interactive in-product lessons for features you haven't tried yet. A good way to find new tricks.</a:t>
            </a:r>
            <a:endParaRPr lang="en-US" sz="2000" dirty="0"/>
          </a:p>
        </p:txBody>
      </p:sp>
      <p:sp>
        <p:nvSpPr>
          <p:cNvPr id="11"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Eight habits to take home</a:t>
            </a:r>
            <a:endParaRPr lang="en-US" sz="3000" dirty="0"/>
          </a:p>
        </p:txBody>
      </p:sp>
      <p:sp>
        <p:nvSpPr>
          <p:cNvPr id="3" name="Shape 1"/>
          <p:cNvSpPr/>
          <p:nvPr/>
        </p:nvSpPr>
        <p:spPr>
          <a:xfrm>
            <a:off x="548640"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777240"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Open a folder</a:t>
            </a:r>
            <a:endParaRPr lang="en-US" sz="1900" dirty="0"/>
          </a:p>
        </p:txBody>
      </p:sp>
      <p:sp>
        <p:nvSpPr>
          <p:cNvPr id="6" name="Text 4"/>
          <p:cNvSpPr txBox="1"/>
          <p:nvPr/>
        </p:nvSpPr>
        <p:spPr>
          <a:xfrm>
            <a:off x="777240"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File &gt; Open Folder..., then start Claude</a:t>
            </a:r>
            <a:endParaRPr lang="en-US" sz="1600" dirty="0"/>
          </a:p>
        </p:txBody>
      </p:sp>
      <p:sp>
        <p:nvSpPr>
          <p:cNvPr id="7" name="Shape 5"/>
          <p:cNvSpPr/>
          <p:nvPr/>
        </p:nvSpPr>
        <p:spPr>
          <a:xfrm>
            <a:off x="3378708"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8" name="Text 6"/>
          <p:cNvSpPr txBox="1"/>
          <p:nvPr/>
        </p:nvSpPr>
        <p:spPr>
          <a:xfrm>
            <a:off x="3607308"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3607308"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CLAUDE.md</a:t>
            </a:r>
            <a:endParaRPr lang="en-US" sz="1900" dirty="0"/>
          </a:p>
        </p:txBody>
      </p:sp>
      <p:sp>
        <p:nvSpPr>
          <p:cNvPr id="10" name="Text 8"/>
          <p:cNvSpPr txBox="1"/>
          <p:nvPr/>
        </p:nvSpPr>
        <p:spPr>
          <a:xfrm>
            <a:off x="3607308"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Ask Claude to write it</a:t>
            </a:r>
            <a:endParaRPr lang="en-US" sz="1600" dirty="0"/>
          </a:p>
        </p:txBody>
      </p:sp>
      <p:sp>
        <p:nvSpPr>
          <p:cNvPr id="11" name="Shape 9"/>
          <p:cNvSpPr/>
          <p:nvPr/>
        </p:nvSpPr>
        <p:spPr>
          <a:xfrm>
            <a:off x="6208776"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12" name="Text 10"/>
          <p:cNvSpPr txBox="1"/>
          <p:nvPr/>
        </p:nvSpPr>
        <p:spPr>
          <a:xfrm>
            <a:off x="6437376"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6437376"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Ralph loop</a:t>
            </a:r>
            <a:endParaRPr lang="en-US" sz="1900" dirty="0"/>
          </a:p>
        </p:txBody>
      </p:sp>
      <p:sp>
        <p:nvSpPr>
          <p:cNvPr id="14" name="Text 12"/>
          <p:cNvSpPr txBox="1"/>
          <p:nvPr/>
        </p:nvSpPr>
        <p:spPr>
          <a:xfrm>
            <a:off x="6437376"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Docs, plan, progress.md, iterate</a:t>
            </a:r>
            <a:endParaRPr lang="en-US" sz="1600" dirty="0"/>
          </a:p>
        </p:txBody>
      </p:sp>
      <p:sp>
        <p:nvSpPr>
          <p:cNvPr id="15" name="Shape 13"/>
          <p:cNvSpPr/>
          <p:nvPr/>
        </p:nvSpPr>
        <p:spPr>
          <a:xfrm>
            <a:off x="9038844"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16" name="Text 14"/>
          <p:cNvSpPr txBox="1"/>
          <p:nvPr/>
        </p:nvSpPr>
        <p:spPr>
          <a:xfrm>
            <a:off x="9267444"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9267444"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Exit gates</a:t>
            </a:r>
            <a:endParaRPr lang="en-US" sz="1900" dirty="0"/>
          </a:p>
        </p:txBody>
      </p:sp>
      <p:sp>
        <p:nvSpPr>
          <p:cNvPr id="18" name="Text 16"/>
          <p:cNvSpPr txBox="1"/>
          <p:nvPr/>
        </p:nvSpPr>
        <p:spPr>
          <a:xfrm>
            <a:off x="9267444"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Verify, self-correct, then "next phase"</a:t>
            </a:r>
            <a:endParaRPr lang="en-US" sz="1600" dirty="0"/>
          </a:p>
        </p:txBody>
      </p:sp>
      <p:sp>
        <p:nvSpPr>
          <p:cNvPr id="19" name="Shape 17"/>
          <p:cNvSpPr/>
          <p:nvPr/>
        </p:nvSpPr>
        <p:spPr>
          <a:xfrm>
            <a:off x="548640"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20" name="Text 18"/>
          <p:cNvSpPr txBox="1"/>
          <p:nvPr/>
        </p:nvSpPr>
        <p:spPr>
          <a:xfrm>
            <a:off x="777240"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777240"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Keep context lean</a:t>
            </a:r>
            <a:endParaRPr lang="en-US" sz="1900" dirty="0"/>
          </a:p>
        </p:txBody>
      </p:sp>
      <p:sp>
        <p:nvSpPr>
          <p:cNvPr id="22" name="Text 20"/>
          <p:cNvSpPr txBox="1"/>
          <p:nvPr/>
        </p:nvSpPr>
        <p:spPr>
          <a:xfrm>
            <a:off x="777240"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/clear, /context, /rewind</a:t>
            </a:r>
            <a:endParaRPr lang="en-US" sz="1600" dirty="0"/>
          </a:p>
        </p:txBody>
      </p:sp>
      <p:sp>
        <p:nvSpPr>
          <p:cNvPr id="23" name="Shape 21"/>
          <p:cNvSpPr/>
          <p:nvPr/>
        </p:nvSpPr>
        <p:spPr>
          <a:xfrm>
            <a:off x="3378708"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24" name="Text 22"/>
          <p:cNvSpPr txBox="1"/>
          <p:nvPr/>
        </p:nvSpPr>
        <p:spPr>
          <a:xfrm>
            <a:off x="3607308"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6</a:t>
            </a:r>
            <a:endParaRPr lang="en-US" sz="1600" dirty="0"/>
          </a:p>
        </p:txBody>
      </p:sp>
      <p:sp>
        <p:nvSpPr>
          <p:cNvPr id="25" name="Text 23"/>
          <p:cNvSpPr txBox="1"/>
          <p:nvPr/>
        </p:nvSpPr>
        <p:spPr>
          <a:xfrm>
            <a:off x="3607308"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Config via Claude</a:t>
            </a:r>
            <a:endParaRPr lang="en-US" sz="1900" dirty="0"/>
          </a:p>
        </p:txBody>
      </p:sp>
      <p:sp>
        <p:nvSpPr>
          <p:cNvPr id="26" name="Text 24"/>
          <p:cNvSpPr txBox="1"/>
          <p:nvPr/>
        </p:nvSpPr>
        <p:spPr>
          <a:xfrm>
            <a:off x="3607308"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Skills, agents, hooks</a:t>
            </a:r>
            <a:endParaRPr lang="en-US" sz="1600" dirty="0"/>
          </a:p>
        </p:txBody>
      </p:sp>
      <p:sp>
        <p:nvSpPr>
          <p:cNvPr id="27" name="Shape 25"/>
          <p:cNvSpPr/>
          <p:nvPr/>
        </p:nvSpPr>
        <p:spPr>
          <a:xfrm>
            <a:off x="6208776"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28" name="Text 26"/>
          <p:cNvSpPr txBox="1"/>
          <p:nvPr/>
        </p:nvSpPr>
        <p:spPr>
          <a:xfrm>
            <a:off x="6437376"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7</a:t>
            </a:r>
            <a:endParaRPr lang="en-US" sz="1600" dirty="0"/>
          </a:p>
        </p:txBody>
      </p:sp>
      <p:sp>
        <p:nvSpPr>
          <p:cNvPr id="29" name="Text 27"/>
          <p:cNvSpPr txBox="1"/>
          <p:nvPr/>
        </p:nvSpPr>
        <p:spPr>
          <a:xfrm>
            <a:off x="6437376"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Review</a:t>
            </a:r>
            <a:endParaRPr lang="en-US" sz="1900" dirty="0"/>
          </a:p>
        </p:txBody>
      </p:sp>
      <p:sp>
        <p:nvSpPr>
          <p:cNvPr id="30" name="Text 28"/>
          <p:cNvSpPr txBox="1"/>
          <p:nvPr/>
        </p:nvSpPr>
        <p:spPr>
          <a:xfrm>
            <a:off x="6437376"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/code-review, /security-review</a:t>
            </a:r>
            <a:endParaRPr lang="en-US" sz="1600" dirty="0"/>
          </a:p>
        </p:txBody>
      </p:sp>
      <p:sp>
        <p:nvSpPr>
          <p:cNvPr id="31" name="Shape 29"/>
          <p:cNvSpPr/>
          <p:nvPr/>
        </p:nvSpPr>
        <p:spPr>
          <a:xfrm>
            <a:off x="9038844"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32" name="Text 30"/>
          <p:cNvSpPr txBox="1"/>
          <p:nvPr/>
        </p:nvSpPr>
        <p:spPr>
          <a:xfrm>
            <a:off x="9267444"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8</a:t>
            </a:r>
            <a:endParaRPr lang="en-US" sz="1600" dirty="0"/>
          </a:p>
        </p:txBody>
      </p:sp>
      <p:sp>
        <p:nvSpPr>
          <p:cNvPr id="33" name="Text 31"/>
          <p:cNvSpPr txBox="1"/>
          <p:nvPr/>
        </p:nvSpPr>
        <p:spPr>
          <a:xfrm>
            <a:off x="9267444"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Extend + parallelize</a:t>
            </a:r>
            <a:endParaRPr lang="en-US" sz="1900" dirty="0"/>
          </a:p>
        </p:txBody>
      </p:sp>
      <p:sp>
        <p:nvSpPr>
          <p:cNvPr id="34" name="Text 32"/>
          <p:cNvSpPr txBox="1"/>
          <p:nvPr/>
        </p:nvSpPr>
        <p:spPr>
          <a:xfrm>
            <a:off x="9267444"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MCP, --worktree, agents</a:t>
            </a:r>
            <a:endParaRPr lang="en-US" sz="1600" dirty="0"/>
          </a:p>
        </p:txBody>
      </p:sp>
      <p:sp>
        <p:nvSpPr>
          <p:cNvPr id="3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673</TotalTime>
  <Words>5526</Words>
  <Application>Microsoft Office PowerPoint</Application>
  <PresentationFormat>Widescreen</PresentationFormat>
  <Paragraphs>584</Paragraphs>
  <Slides>32</Slides>
  <Notes>31</Notes>
  <HiddenSlides>0</HiddenSlides>
  <MMClips>0</MMClips>
  <ScaleCrop>false</ScaleCrop>
  <HeadingPairs>
    <vt:vector size="6" baseType="variant">
      <vt:variant>
        <vt:lpstr>Fontes usadas</vt:lpstr>
      </vt:variant>
      <vt:variant>
        <vt:i4>3</vt:i4>
      </vt:variant>
      <vt:variant>
        <vt:lpstr>Tema</vt:lpstr>
      </vt:variant>
      <vt:variant>
        <vt:i4>1</vt:i4>
      </vt:variant>
      <vt:variant>
        <vt:lpstr>Títulos de slides</vt:lpstr>
      </vt:variant>
      <vt:variant>
        <vt:i4>32</vt:i4>
      </vt:variant>
    </vt:vector>
  </HeadingPairs>
  <TitlesOfParts>
    <vt:vector size="36" baseType="lpstr">
      <vt:lpstr>Arial</vt:lpstr>
      <vt:lpstr>Calibri</vt:lpstr>
      <vt:lpstr>Courier New</vt:lpstr>
      <vt:lpstr>Office Theme</vt:lpstr>
      <vt:lpstr>Apresentação do PowerPoint</vt:lpstr>
      <vt:lpstr>Four blocks: start, configure, orchestrate, then amplify</vt:lpstr>
      <vt:lpstr>Apresentação do PowerPoint</vt:lpstr>
      <vt:lpstr>Claude works through tools: read, search, edit, run</vt:lpstr>
      <vt:lpstr>Two front doors, same Claude: extension and CLI</vt:lpstr>
      <vt:lpstr>Start in VS Code: open a folder, open the Claude panel</vt:lpstr>
      <vt:lpstr>Start the CLI: one word in any terminal</vt:lpstr>
      <vt:lpstr>Apresentação do PowerPoint</vt:lpstr>
      <vt:lpstr>The .claude/ folder is where you shape Claude's behavior</vt:lpstr>
      <vt:lpstr>CLAUDE.md: Claude's briefing note for your project</vt:lpstr>
      <vt:lpstr>Skills, rules, hooks, agents: pick the right block</vt:lpstr>
      <vt:lpstr>Example of my skills: Claude wrote them, and I keep asking it to edit them</vt:lpstr>
      <vt:lpstr>Agents: a markdown file in .claude/agents/</vt:lpstr>
      <vt:lpstr>Hooks and settings: get a push notification when Claude finishes</vt:lpstr>
      <vt:lpstr>Apresentação do PowerPoint</vt:lpstr>
      <vt:lpstr>The Ralph loop: keep looping until the gates pass</vt:lpstr>
      <vt:lpstr>CLAUDE.md is the conductor: it makes the loop automatic</vt:lpstr>
      <vt:lpstr>Start every job the same way: material in, doubts out</vt:lpstr>
      <vt:lpstr>Then say “initialize”: docs and project, done</vt:lpstr>
      <vt:lpstr>Step 4: a detailed plan, numbered and named</vt:lpstr>
      <vt:lpstr>progress.md: the file that drives the whole loop</vt:lpstr>
      <vt:lpstr>Each pass: build, verify, self-correct, repeat</vt:lpstr>
      <vt:lpstr>Exit gates: a short pass-or-fail check for every phase</vt:lpstr>
      <vt:lpstr>One phase at a time, or all phases at once</vt:lpstr>
      <vt:lpstr>My tricks and good practices for the loop</vt:lpstr>
      <vt:lpstr>Apresentação do PowerPoint</vt:lpstr>
      <vt:lpstr>/clear often: keep the context lean</vt:lpstr>
      <vt:lpstr>Terminal flags: resume, fork, script, and run in parallel</vt:lpstr>
      <vt:lpstr>MCP: plug outside tools into Claude, code or not</vt:lpstr>
      <vt:lpstr>Check and ship with the built-in commands</vt:lpstr>
      <vt:lpstr>Take it with you, and keep learning inside the tool</vt:lpstr>
      <vt:lpstr>Eight habits to take home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in VS Code: tricks I use every day</dc:title>
  <dc:subject>PptxGenJS Presentation</dc:subject>
  <dc:creator>PptxGenJS</dc:creator>
  <cp:lastModifiedBy>Levy, Rafael</cp:lastModifiedBy>
  <cp:revision>8</cp:revision>
  <dcterms:created xsi:type="dcterms:W3CDTF">2026-10-02T15:55:45Z</dcterms:created>
  <dcterms:modified xsi:type="dcterms:W3CDTF">2026-10-28T14:57:37Z</dcterms:modified>
</cp:coreProperties>
</file>